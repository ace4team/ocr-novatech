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24"/>
  </p:notesMasterIdLst>
  <p:handoutMasterIdLst>
    <p:handoutMasterId r:id="rId25"/>
  </p:handoutMasterIdLst>
  <p:sldIdLst>
    <p:sldId id="256" r:id="rId2"/>
    <p:sldId id="262" r:id="rId3"/>
    <p:sldId id="263" r:id="rId4"/>
    <p:sldId id="276" r:id="rId5"/>
    <p:sldId id="264" r:id="rId6"/>
    <p:sldId id="278" r:id="rId7"/>
    <p:sldId id="277" r:id="rId8"/>
    <p:sldId id="265" r:id="rId9"/>
    <p:sldId id="266" r:id="rId10"/>
    <p:sldId id="267" r:id="rId11"/>
    <p:sldId id="275" r:id="rId12"/>
    <p:sldId id="279" r:id="rId13"/>
    <p:sldId id="269" r:id="rId14"/>
    <p:sldId id="270" r:id="rId15"/>
    <p:sldId id="271" r:id="rId16"/>
    <p:sldId id="272" r:id="rId17"/>
    <p:sldId id="273" r:id="rId18"/>
    <p:sldId id="274" r:id="rId19"/>
    <p:sldId id="268" r:id="rId20"/>
    <p:sldId id="258" r:id="rId21"/>
    <p:sldId id="259" r:id="rId22"/>
    <p:sldId id="260" r:id="rId23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3385" autoAdjust="0"/>
  </p:normalViewPr>
  <p:slideViewPr>
    <p:cSldViewPr snapToGrid="0">
      <p:cViewPr varScale="1">
        <p:scale>
          <a:sx n="83" d="100"/>
          <a:sy n="83" d="100"/>
        </p:scale>
        <p:origin x="16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Cloud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fr-FR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fr-FR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Locales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fr-FR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fr-FR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Hybrides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fr-FR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fr-FR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Cloud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Locales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Hybrides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03/06/2026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A36-8469-C609-999F-77DE8916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045A04B-830C-2D7C-426E-1F3B39AC2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4936F91-F919-E263-9BD7-F1CEDE0E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seules valeurs corrélées sont plutôt logiques:</a:t>
            </a: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annee_dans_l_entreprise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cap="none" dirty="0" err="1">
                <a:solidFill>
                  <a:srgbClr val="FF0000"/>
                </a:solidFill>
              </a:rPr>
              <a:t>annee_derniere_promotion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>
                <a:solidFill>
                  <a:srgbClr val="FF0000"/>
                </a:solidFill>
              </a:rPr>
              <a:t>Etc…</a:t>
            </a: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CE8220-440C-EB29-CCDF-A5DBCFE1F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146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représentants commerciaux sont les plus touchés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3 </a:t>
            </a:r>
            <a:r>
              <a:rPr lang="fr-FR" dirty="0" err="1"/>
              <a:t>premieres</a:t>
            </a:r>
            <a:r>
              <a:rPr lang="fr-FR" dirty="0"/>
              <a:t> catégories </a:t>
            </a:r>
            <a:r>
              <a:rPr lang="fr-FR" dirty="0" err="1"/>
              <a:t>regourpe</a:t>
            </a:r>
            <a:r>
              <a:rPr lang="fr-FR" dirty="0"/>
              <a:t>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DC83-9D73-AB47-40DE-C0FDB5D28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17736E43-4991-40CC-8448-E1CEF8AE28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ADF23F44-37DC-7CAC-BF82-6964D2418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FAF157-9E3A-50B3-4B0E-7BA2F8D91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76717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 err="1"/>
              <a:t>Correlation</a:t>
            </a:r>
            <a:r>
              <a:rPr lang="fr-FR" dirty="0"/>
              <a:t> forte entre le salaire et les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636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03/06/2026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1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 err="1">
                <a:solidFill>
                  <a:schemeClr val="bg1"/>
                </a:solidFill>
              </a:rPr>
              <a:t>TechNova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375" y="3023347"/>
            <a:ext cx="1757734" cy="1765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362" y="4694600"/>
            <a:ext cx="1353623" cy="13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4955" y="3076482"/>
            <a:ext cx="2306277" cy="1208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3C07D0-0DE7-7EEF-51B0-721C25DAE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520F13-1BC0-00E5-A8FA-348EA6DC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ayant_enfants</a:t>
            </a:r>
            <a:r>
              <a:rPr lang="fr-FR" dirty="0"/>
              <a:t>, </a:t>
            </a:r>
            <a:r>
              <a:rPr lang="fr-FR" dirty="0" err="1"/>
              <a:t>nombre_heures_travailless</a:t>
            </a:r>
            <a:r>
              <a:rPr lang="fr-FR" dirty="0"/>
              <a:t>, </a:t>
            </a:r>
            <a:r>
              <a:rPr lang="fr-FR" dirty="0" err="1"/>
              <a:t>nombre_employee_sous_responsabilite</a:t>
            </a:r>
            <a:r>
              <a:rPr lang="fr-FR" dirty="0"/>
              <a:t> ne sont pas exploitables car toujours la même valeur</a:t>
            </a:r>
          </a:p>
          <a:p>
            <a:r>
              <a:rPr lang="fr-FR" dirty="0" err="1"/>
              <a:t>code_sondage</a:t>
            </a:r>
            <a:r>
              <a:rPr lang="fr-FR" dirty="0"/>
              <a:t>, </a:t>
            </a:r>
            <a:r>
              <a:rPr lang="fr-FR" dirty="0" err="1"/>
              <a:t>id_employee</a:t>
            </a:r>
            <a:r>
              <a:rPr lang="fr-FR" dirty="0"/>
              <a:t> et </a:t>
            </a:r>
            <a:r>
              <a:rPr lang="fr-FR" dirty="0" err="1"/>
              <a:t>eval_number</a:t>
            </a:r>
            <a:r>
              <a:rPr lang="fr-FR" dirty="0"/>
              <a:t> </a:t>
            </a:r>
            <a:r>
              <a:rPr lang="fr-FR" dirty="0" err="1"/>
              <a:t>répéte</a:t>
            </a:r>
            <a:r>
              <a:rPr lang="fr-FR" dirty="0"/>
              <a:t> le même schéma de codification, il est utilisé pour réaliser la jointure des données. NOTE: le nombre d’individus est identique</a:t>
            </a:r>
          </a:p>
          <a:p>
            <a:r>
              <a:rPr lang="fr-FR" dirty="0"/>
              <a:t>Le sondage indique : </a:t>
            </a:r>
            <a:r>
              <a:rPr lang="fr-FR" i="1" dirty="0">
                <a:solidFill>
                  <a:srgbClr val="00B0F0"/>
                </a:solidFill>
              </a:rPr>
              <a:t>Voici à disposition l’extrait du sondage le plus récent. Nous y avons ajouté </a:t>
            </a:r>
            <a:r>
              <a:rPr lang="fr-FR" b="1" i="1" dirty="0">
                <a:solidFill>
                  <a:srgbClr val="00B0F0"/>
                </a:solidFill>
              </a:rPr>
              <a:t>un témoin pour indiquer si l’employé a quitté l’entreprise ou non</a:t>
            </a:r>
            <a:r>
              <a:rPr lang="fr-FR" dirty="0"/>
              <a:t>. Le </a:t>
            </a:r>
            <a:r>
              <a:rPr lang="fr-FR" dirty="0" err="1"/>
              <a:t>status</a:t>
            </a:r>
            <a:r>
              <a:rPr lang="fr-FR" dirty="0"/>
              <a:t> de démission et les infos du sondage a été recueillie dans l’année en cours, peut être à la sortie ou juste après l'annonce de démission, utiliser ces informations ne présente pas un data </a:t>
            </a:r>
            <a:r>
              <a:rPr lang="fr-FR" dirty="0" err="1"/>
              <a:t>leakage</a:t>
            </a:r>
            <a:r>
              <a:rPr lang="fr-FR" dirty="0"/>
              <a:t> car l’information ne déduit pas directement de la démission. </a:t>
            </a:r>
          </a:p>
          <a:p>
            <a:r>
              <a:rPr lang="fr-FR" i="1" dirty="0">
                <a:solidFill>
                  <a:srgbClr val="00B0F0"/>
                </a:solidFill>
              </a:rPr>
              <a:t>L’évaluation annuelle : </a:t>
            </a:r>
            <a:r>
              <a:rPr lang="fr-FR" dirty="0"/>
              <a:t>Permet d’obtenir des informations sur l’année qui précède la démission</a:t>
            </a:r>
            <a:endParaRPr lang="fr-FR" i="1" dirty="0">
              <a:solidFill>
                <a:srgbClr val="00B0F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21905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C744A-20E0-D04E-F4EA-1F8F23FB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Nettoyage des données</a:t>
            </a:r>
          </a:p>
        </p:txBody>
      </p:sp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944E-D976-AFD6-A029-2AB932029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FBCABC-2343-6D2B-8B60-2CE36432E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F2BC9D-C56A-8848-61AE-D43BAE42B800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F8671AB-ACF1-DA62-0A87-0265F27AE949}"/>
              </a:ext>
            </a:extLst>
          </p:cNvPr>
          <p:cNvSpPr txBox="1"/>
          <p:nvPr/>
        </p:nvSpPr>
        <p:spPr>
          <a:xfrm>
            <a:off x="3919959" y="3517378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Jonction des </a:t>
            </a:r>
            <a:r>
              <a:rPr lang="fr-FR" sz="3600" kern="1200" noProof="0" dirty="0" err="1"/>
              <a:t>DataFrames</a:t>
            </a:r>
            <a:endParaRPr lang="fr-FR" sz="3600" kern="1200" noProof="0" dirty="0"/>
          </a:p>
        </p:txBody>
      </p:sp>
    </p:spTree>
    <p:extLst>
      <p:ext uri="{BB962C8B-B14F-4D97-AF65-F5344CB8AC3E}">
        <p14:creationId xmlns:p14="http://schemas.microsoft.com/office/powerpoint/2010/main" val="248304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33C6-50D7-F508-BAA5-A6CE1FED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124DFC-A1C8-0B18-014B-CDD3CE04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018961-FF10-96D0-999D-F9A14B9336DB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9E2C47-194B-8338-3EEB-E39523CCF0E7}"/>
              </a:ext>
            </a:extLst>
          </p:cNvPr>
          <p:cNvSpPr txBox="1"/>
          <p:nvPr/>
        </p:nvSpPr>
        <p:spPr>
          <a:xfrm>
            <a:off x="3364374" y="3296792"/>
            <a:ext cx="5038846" cy="2250504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Converstion</a:t>
            </a:r>
            <a:r>
              <a:rPr lang="fr-FR" sz="3600" kern="1200" noProof="0" dirty="0"/>
              <a:t> des classes en colonnes numériques</a:t>
            </a:r>
          </a:p>
        </p:txBody>
      </p:sp>
    </p:spTree>
    <p:extLst>
      <p:ext uri="{BB962C8B-B14F-4D97-AF65-F5344CB8AC3E}">
        <p14:creationId xmlns:p14="http://schemas.microsoft.com/office/powerpoint/2010/main" val="2375464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AEC5-AA74-4883-18BB-EDC83DCB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0A8FB-D594-CF7F-64CB-850DE414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88A2AEA-4BAF-1810-40D4-EED7630C7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17" y="21376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54FA971-AF43-87C4-C8A3-12A3D9DC32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34BE5EB-5877-6073-C9BC-88F5F6435512}"/>
              </a:ext>
            </a:extLst>
          </p:cNvPr>
          <p:cNvSpPr txBox="1"/>
          <p:nvPr/>
        </p:nvSpPr>
        <p:spPr>
          <a:xfrm>
            <a:off x="6096000" y="2510381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Vérification des </a:t>
            </a:r>
            <a:r>
              <a:rPr lang="fr-FR" sz="3600" kern="1200" noProof="0" dirty="0" err="1"/>
              <a:t>outliers</a:t>
            </a:r>
            <a:endParaRPr lang="fr-FR" sz="3600" kern="1200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13E0CBD-3F65-F931-6AD4-DE6D88E6F0BE}"/>
              </a:ext>
            </a:extLst>
          </p:cNvPr>
          <p:cNvSpPr txBox="1"/>
          <p:nvPr/>
        </p:nvSpPr>
        <p:spPr>
          <a:xfrm>
            <a:off x="6095999" y="4318895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Sondages</a:t>
            </a:r>
          </a:p>
        </p:txBody>
      </p:sp>
    </p:spTree>
    <p:extLst>
      <p:ext uri="{BB962C8B-B14F-4D97-AF65-F5344CB8AC3E}">
        <p14:creationId xmlns:p14="http://schemas.microsoft.com/office/powerpoint/2010/main" val="300440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66E3-C82F-DF66-8759-7733BF568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CA291-9CD1-A847-9743-258B65A6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FB824A-C73C-67EA-8E29-DCF74DA8EF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687BD56-18D9-EE09-2D7B-FF4969DC6BB6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F9AAE34-936D-333F-445E-135C0D9BF84D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sirh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964BAB3-7C64-7797-96F1-1E1C6729B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84" y="2120220"/>
            <a:ext cx="11267451" cy="42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794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A3C0-92CB-8C29-7135-24F70C2B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A4323E-4134-FB1C-BE87-E5678A80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5B9582-4D22-9528-D283-4327CC401327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DCCCBF1-DDEE-4EF0-F209-1D9A007FFD5A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EFA856A-AF51-55C0-9A2C-28548C5A30E7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bg1"/>
                </a:solidFill>
              </a:rPr>
              <a:t>evaluation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C48D5BB-E63D-DD3A-E76E-277ADD6A9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054181"/>
            <a:ext cx="11099482" cy="4101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930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84AD649-9B82-FC7E-CECE-2FA50AD8B7E4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erreurs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581192" y="2937510"/>
            <a:ext cx="47895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effectLst/>
                <a:latin typeface="Consolas" panose="020B0609020204030204" pitchFamily="49" charset="0"/>
              </a:rPr>
              <a:t>Pas de présence 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Pas de doublons dans les Id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04CE598-C601-97DC-E5BA-EC500C98AF17}"/>
              </a:ext>
            </a:extLst>
          </p:cNvPr>
          <p:cNvSpPr txBox="1"/>
          <p:nvPr/>
        </p:nvSpPr>
        <p:spPr>
          <a:xfrm>
            <a:off x="4825615" y="2845177"/>
            <a:ext cx="697093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Conversions</a:t>
            </a:r>
          </a:p>
          <a:p>
            <a:r>
              <a:rPr lang="fr-FR" dirty="0">
                <a:latin typeface="Consolas" panose="020B0609020204030204" pitchFamily="49" charset="0"/>
              </a:rPr>
              <a:t>0	</a:t>
            </a:r>
            <a:r>
              <a:rPr lang="fr-FR" dirty="0" err="1">
                <a:latin typeface="Consolas" panose="020B0609020204030204" pitchFamily="49" charset="0"/>
              </a:rPr>
              <a:t>a_quitte_l_entreprise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7	</a:t>
            </a:r>
            <a:r>
              <a:rPr lang="fr-FR" dirty="0" err="1">
                <a:latin typeface="Consolas" panose="020B0609020204030204" pitchFamily="49" charset="0"/>
              </a:rPr>
              <a:t>domaine_etude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8	</a:t>
            </a:r>
            <a:r>
              <a:rPr lang="fr-FR" dirty="0" err="1">
                <a:latin typeface="Consolas" panose="020B0609020204030204" pitchFamily="49" charset="0"/>
              </a:rPr>
              <a:t>ayant_enfants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9	</a:t>
            </a:r>
            <a:r>
              <a:rPr lang="fr-FR" dirty="0" err="1">
                <a:latin typeface="Consolas" panose="020B0609020204030204" pitchFamily="49" charset="0"/>
              </a:rPr>
              <a:t>frequence_deplacement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13	genre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M/F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15	</a:t>
            </a:r>
            <a:r>
              <a:rPr lang="fr-FR" dirty="0" err="1">
                <a:latin typeface="Consolas" panose="020B0609020204030204" pitchFamily="49" charset="0"/>
              </a:rPr>
              <a:t>statut_marital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16	</a:t>
            </a:r>
            <a:r>
              <a:rPr lang="fr-FR" dirty="0" err="1">
                <a:latin typeface="Consolas" panose="020B0609020204030204" pitchFamily="49" charset="0"/>
              </a:rPr>
              <a:t>departement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17	poste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30	</a:t>
            </a:r>
            <a:r>
              <a:rPr lang="fr-FR" dirty="0" err="1">
                <a:latin typeface="Consolas" panose="020B0609020204030204" pitchFamily="49" charset="0"/>
              </a:rPr>
              <a:t>heure_supplementaires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31	</a:t>
            </a:r>
            <a:r>
              <a:rPr lang="fr-FR" dirty="0" err="1">
                <a:latin typeface="Consolas" panose="020B0609020204030204" pitchFamily="49" charset="0"/>
              </a:rPr>
              <a:t>augementation_salaire_precedente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% =&gt; </a:t>
            </a:r>
            <a:r>
              <a:rPr lang="fr-FR" dirty="0" err="1">
                <a:latin typeface="Consolas" panose="020B0609020204030204" pitchFamily="49" charset="0"/>
              </a:rPr>
              <a:t>int</a:t>
            </a:r>
            <a:endParaRPr lang="fr-FR" dirty="0">
              <a:latin typeface="Consolas" panose="020B0609020204030204" pitchFamily="49" charset="0"/>
            </a:endParaRPr>
          </a:p>
          <a:p>
            <a:endParaRPr lang="fr-F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60404-1E2B-4C69-FC0E-B021BEBB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8356271-FEAD-6D57-80F6-B394F2C8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2C3C95-43B8-B09F-7447-E5E3BC5E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6114803-17D7-1EEF-D626-E22245345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54" y="1010236"/>
            <a:ext cx="10918785" cy="483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09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DA5587-CA00-B3C3-224B-DC97F229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2BADD407-E3F7-95B3-7189-12A7A2BBB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AEE4BF-71C4-F8E6-54B6-C299C0433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5866324-A825-2108-9449-6CA19E66A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768" y="1109335"/>
            <a:ext cx="3676977" cy="367697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CB7E3A3-14AC-0486-F336-84199B5BC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2288" y="1110897"/>
            <a:ext cx="3676977" cy="3728584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96B23C7-4B42-CAE0-E194-EE5BBBFA2578}"/>
              </a:ext>
            </a:extLst>
          </p:cNvPr>
          <p:cNvSpPr txBox="1"/>
          <p:nvPr/>
        </p:nvSpPr>
        <p:spPr>
          <a:xfrm>
            <a:off x="447817" y="652137"/>
            <a:ext cx="3683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cap="none" dirty="0"/>
              <a:t>Distance Travail / Domicile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DF31E44-153E-5C4C-2D4C-B61084AF7EC9}"/>
              </a:ext>
            </a:extLst>
          </p:cNvPr>
          <p:cNvSpPr txBox="1"/>
          <p:nvPr/>
        </p:nvSpPr>
        <p:spPr>
          <a:xfrm>
            <a:off x="4251671" y="592191"/>
            <a:ext cx="3683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/>
              <a:t>Département</a:t>
            </a:r>
            <a:endParaRPr lang="fr-FR" sz="2400" cap="none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F054155-820B-C1E5-A3FF-F8FBC3B903CD}"/>
              </a:ext>
            </a:extLst>
          </p:cNvPr>
          <p:cNvSpPr txBox="1"/>
          <p:nvPr/>
        </p:nvSpPr>
        <p:spPr>
          <a:xfrm>
            <a:off x="8055525" y="571144"/>
            <a:ext cx="3683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/>
              <a:t>Domaine Etudes</a:t>
            </a:r>
            <a:endParaRPr lang="fr-FR" sz="2400" cap="none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F860405-579C-9F17-C348-1081173E8102}"/>
              </a:ext>
            </a:extLst>
          </p:cNvPr>
          <p:cNvSpPr txBox="1"/>
          <p:nvPr/>
        </p:nvSpPr>
        <p:spPr>
          <a:xfrm>
            <a:off x="447816" y="5517831"/>
            <a:ext cx="11290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cap="none" dirty="0">
                <a:solidFill>
                  <a:schemeClr val="bg1"/>
                </a:solidFill>
              </a:rPr>
              <a:t>Pas de corrélation forte pour les autres catégories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9665794-8C52-1D01-A723-BAD2AAEAB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16" y="1109335"/>
            <a:ext cx="3676977" cy="279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1855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A2D8E70-23F6-C0D0-3E38-289A6CB7F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07" y="622443"/>
            <a:ext cx="6570542" cy="540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>
            <a:off x="2561035" y="1716026"/>
            <a:ext cx="60936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Contexte concurrentiel</a:t>
            </a:r>
          </a:p>
        </p:txBody>
      </p:sp>
      <p:pic>
        <p:nvPicPr>
          <p:cNvPr id="11" name="Espace réservé du contenu 4" descr="Graphiques">
            <a:extLst>
              <a:ext uri="{FF2B5EF4-FFF2-40B4-BE49-F238E27FC236}">
                <a16:creationId xmlns:a16="http://schemas.microsoft.com/office/drawing/2014/main" id="{47D9BE16-119C-43B2-9AE6-18C4A150C0E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581025" y="2231480"/>
            <a:ext cx="5422900" cy="3625353"/>
          </a:xfrm>
        </p:spPr>
      </p:pic>
      <p:pic>
        <p:nvPicPr>
          <p:cNvPr id="18" name="Espace réservé du contenu 17" descr="Espace réservé au graphique">
            <a:extLst>
              <a:ext uri="{FF2B5EF4-FFF2-40B4-BE49-F238E27FC236}">
                <a16:creationId xmlns:a16="http://schemas.microsoft.com/office/drawing/2014/main" id="{BFEA8EC1-23A4-4843-A9C3-AE771D73392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/>
          <a:stretch/>
        </p:blipFill>
        <p:spPr>
          <a:xfrm>
            <a:off x="6201812" y="2571845"/>
            <a:ext cx="5395426" cy="294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 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pic>
        <p:nvPicPr>
          <p:cNvPr id="8" name="Espace réservé du contenu 4" descr="Valeurs numériques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fr-FR" dirty="0"/>
              <a:t>Communications numériques</a:t>
            </a:r>
          </a:p>
        </p:txBody>
      </p:sp>
      <p:graphicFrame>
        <p:nvGraphicFramePr>
          <p:cNvPr id="6" name="Espace réservé du contenu 5" descr="Graphique 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969185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chemeClr val="bg2"/>
                </a:solidFill>
              </a:rPr>
              <a:t>someone@example.com</a:t>
            </a:r>
          </a:p>
          <a:p>
            <a:pPr rtl="0"/>
            <a:endParaRPr lang="fr-FR">
              <a:solidFill>
                <a:schemeClr val="bg2"/>
              </a:solidFill>
            </a:endParaRPr>
          </a:p>
          <a:p>
            <a:pPr rtl="0"/>
            <a:endParaRPr lang="fr-FR">
              <a:solidFill>
                <a:schemeClr val="bg2"/>
              </a:solidFill>
            </a:endParaRP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1804</TotalTime>
  <Words>513</Words>
  <Application>Microsoft Office PowerPoint</Application>
  <PresentationFormat>Grand écran</PresentationFormat>
  <Paragraphs>83</Paragraphs>
  <Slides>22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Consolas</vt:lpstr>
      <vt:lpstr>Gill Sans MT</vt:lpstr>
      <vt:lpstr>Wingdings 2</vt:lpstr>
      <vt:lpstr>Personnalisé</vt:lpstr>
      <vt:lpstr>TechNova </vt:lpstr>
      <vt:lpstr>Formation Développeur IA</vt:lpstr>
      <vt:lpstr>Analyse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Exploration des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Ce qu’il faut changer pour réduire les démissions</vt:lpstr>
      <vt:lpstr>Contexte concurrentiel</vt:lpstr>
      <vt:lpstr>Communications numériques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51</cp:revision>
  <dcterms:created xsi:type="dcterms:W3CDTF">2026-06-01T07:45:08Z</dcterms:created>
  <dcterms:modified xsi:type="dcterms:W3CDTF">2026-06-04T09:10:20Z</dcterms:modified>
</cp:coreProperties>
</file>