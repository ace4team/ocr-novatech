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43"/>
  </p:notesMasterIdLst>
  <p:handoutMasterIdLst>
    <p:handoutMasterId r:id="rId44"/>
  </p:handoutMasterIdLst>
  <p:sldIdLst>
    <p:sldId id="256" r:id="rId2"/>
    <p:sldId id="262" r:id="rId3"/>
    <p:sldId id="276" r:id="rId4"/>
    <p:sldId id="323" r:id="rId5"/>
    <p:sldId id="297" r:id="rId6"/>
    <p:sldId id="302" r:id="rId7"/>
    <p:sldId id="296" r:id="rId8"/>
    <p:sldId id="295" r:id="rId9"/>
    <p:sldId id="267" r:id="rId10"/>
    <p:sldId id="287" r:id="rId11"/>
    <p:sldId id="275" r:id="rId12"/>
    <p:sldId id="306" r:id="rId13"/>
    <p:sldId id="326" r:id="rId14"/>
    <p:sldId id="269" r:id="rId15"/>
    <p:sldId id="270" r:id="rId16"/>
    <p:sldId id="271" r:id="rId17"/>
    <p:sldId id="273" r:id="rId18"/>
    <p:sldId id="274" r:id="rId19"/>
    <p:sldId id="280" r:id="rId20"/>
    <p:sldId id="288" r:id="rId21"/>
    <p:sldId id="283" r:id="rId22"/>
    <p:sldId id="294" r:id="rId23"/>
    <p:sldId id="284" r:id="rId24"/>
    <p:sldId id="303" r:id="rId25"/>
    <p:sldId id="285" r:id="rId26"/>
    <p:sldId id="307" r:id="rId27"/>
    <p:sldId id="320" r:id="rId28"/>
    <p:sldId id="322" r:id="rId29"/>
    <p:sldId id="286" r:id="rId30"/>
    <p:sldId id="292" r:id="rId31"/>
    <p:sldId id="290" r:id="rId32"/>
    <p:sldId id="314" r:id="rId33"/>
    <p:sldId id="291" r:id="rId34"/>
    <p:sldId id="325" r:id="rId35"/>
    <p:sldId id="317" r:id="rId36"/>
    <p:sldId id="328" r:id="rId37"/>
    <p:sldId id="327" r:id="rId38"/>
    <p:sldId id="318" r:id="rId39"/>
    <p:sldId id="330" r:id="rId40"/>
    <p:sldId id="316" r:id="rId41"/>
    <p:sldId id="260" r:id="rId42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76033" autoAdjust="0"/>
  </p:normalViewPr>
  <p:slideViewPr>
    <p:cSldViewPr snapToGrid="0">
      <p:cViewPr>
        <p:scale>
          <a:sx n="75" d="100"/>
          <a:sy n="75" d="100"/>
        </p:scale>
        <p:origin x="190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11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3367168-A7C3-4A51-ACFE-4D76B720982F}" type="datetime1">
              <a:rPr lang="fr-FR" smtClean="0"/>
              <a:t>07/09/2026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B4F1169-1988-463B-A52C-EF5C9A50040C}" type="datetime1">
              <a:rPr lang="fr-FR" noProof="0" smtClean="0"/>
              <a:t>07/09/2026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fr-FR" dirty="0"/>
              <a:t>Bonjour</a:t>
            </a:r>
          </a:p>
          <a:p>
            <a:pPr rtl="0"/>
            <a:r>
              <a:rPr lang="fr-FR" dirty="0"/>
              <a:t>Thomas AUGUEY</a:t>
            </a:r>
          </a:p>
          <a:p>
            <a:pPr rtl="0"/>
            <a:r>
              <a:rPr lang="fr-FR" dirty="0"/>
              <a:t>Projet Tech Nova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Technova</a:t>
            </a:r>
            <a:endParaRPr lang="fr-FR" dirty="0"/>
          </a:p>
          <a:p>
            <a:r>
              <a:rPr lang="fr-FR" dirty="0"/>
              <a:t>Projet </a:t>
            </a:r>
            <a:r>
              <a:rPr lang="fr-FR" dirty="0" err="1"/>
              <a:t>Openclassrooms</a:t>
            </a:r>
            <a:r>
              <a:rPr lang="fr-FR" dirty="0"/>
              <a:t> =&gt; </a:t>
            </a:r>
            <a:r>
              <a:rPr lang="fr-FR" dirty="0" err="1"/>
              <a:t>Developpeur</a:t>
            </a:r>
            <a:r>
              <a:rPr lang="fr-FR" dirty="0"/>
              <a:t> IA</a:t>
            </a:r>
          </a:p>
          <a:p>
            <a:r>
              <a:rPr lang="fr-FR" dirty="0"/>
              <a:t>Stack : </a:t>
            </a:r>
            <a:r>
              <a:rPr lang="fr-FR" dirty="0" err="1"/>
              <a:t>Jupyter</a:t>
            </a:r>
            <a:r>
              <a:rPr lang="fr-FR" dirty="0"/>
              <a:t> + Python, UV Package, Excel</a:t>
            </a:r>
          </a:p>
          <a:p>
            <a:endParaRPr lang="fr-FR" dirty="0"/>
          </a:p>
          <a:p>
            <a:r>
              <a:rPr lang="fr-FR" dirty="0"/>
              <a:t>Machine Learning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08032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4446-1C87-2872-E732-CE4160E77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B548552-BFC7-76F8-D19D-CC6AE4DDF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3F2BE16-2D63-EF81-3118-453AD76E7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mandaté en tant que Consultant Data </a:t>
            </a:r>
            <a:r>
              <a:rPr lang="fr-FR" dirty="0" err="1"/>
              <a:t>Scientist</a:t>
            </a:r>
            <a:r>
              <a:rPr lang="fr-FR" dirty="0"/>
              <a:t> par le département RH du client</a:t>
            </a:r>
          </a:p>
          <a:p>
            <a:endParaRPr lang="fr-FR" dirty="0"/>
          </a:p>
          <a:p>
            <a:r>
              <a:rPr lang="fr-FR" i="1" dirty="0"/>
              <a:t>ESN = Entreprise de Services du Numérique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6BA461-269D-EF42-9B78-2E55C36BB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64967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27018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B9793-939C-9ED6-1873-A265EF828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32ACA2F-97E3-4662-606D-BD06BE23C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70703E3-EFD9-09E8-636A-87D376D0E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Jointure 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 </a:t>
            </a:r>
            <a:r>
              <a:rPr lang="en-US" dirty="0" err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eval_number</a:t>
            </a:r>
            <a:br>
              <a:rPr lang="en-US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 </a:t>
            </a:r>
            <a:r>
              <a:rPr lang="en-US" dirty="0" err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id_employee</a:t>
            </a:r>
            <a:br>
              <a:rPr lang="en-US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 </a:t>
            </a:r>
            <a:r>
              <a:rPr lang="en-US" dirty="0" err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code_sondage</a:t>
            </a:r>
            <a:endParaRPr lang="fr-FR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1468EBC-400A-43AB-9A35-311BA4E58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873950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analyser les données nous devons les préparer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97205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41041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Globalement le </a:t>
            </a:r>
            <a:r>
              <a:rPr lang="fr-FR" dirty="0" err="1"/>
              <a:t>dataset</a:t>
            </a:r>
            <a:r>
              <a:rPr lang="fr-FR" dirty="0"/>
              <a:t> est propre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83067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Identifiants</a:t>
            </a:r>
          </a:p>
          <a:p>
            <a:r>
              <a:rPr lang="fr-FR" dirty="0"/>
              <a:t>Valeurs fixes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10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63216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631E4-8150-EED0-5F21-89DED617C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09F272B-95E6-91B8-BBFA-E91F16E00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8BED5DB-37D6-DF16-DF58-6F117C909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Si on regarde la </a:t>
            </a:r>
            <a:r>
              <a:rPr lang="fr-FR" b="1" dirty="0"/>
              <a:t>DISTIBUTION DES SALAIRES</a:t>
            </a:r>
          </a:p>
          <a:p>
            <a:endParaRPr lang="fr-FR" dirty="0"/>
          </a:p>
          <a:p>
            <a:r>
              <a:rPr lang="fr-FR" dirty="0"/>
              <a:t>le min/max du salaire est de 1009 à 19,999 €/mois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Le maximum de 19 999 n'est pas isolé</a:t>
            </a:r>
          </a:p>
          <a:p>
            <a:endParaRPr lang="fr-FR" dirty="0"/>
          </a:p>
          <a:p>
            <a:r>
              <a:rPr lang="fr-FR" dirty="0"/>
              <a:t>mais risque de faire apprendre au modèle salaire bas = démission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E02D0F-634D-1135-4F02-927961105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12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96525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E45B0-949C-8C9E-C819-D73C5D59E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7840C56-6352-58D9-8524-ED43C821D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897CFFD-A9A2-9949-B20F-AE62E6A88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Si on observe 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variables redondantes (corrélation &gt; 0.8)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  <a:p>
            <a:r>
              <a:rPr lang="fr-FR" dirty="0"/>
              <a:t>2 variables sortes du lot: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revenu_mensuel</a:t>
            </a:r>
            <a:r>
              <a:rPr lang="fr-FR" dirty="0"/>
              <a:t> / </a:t>
            </a:r>
            <a:r>
              <a:rPr lang="fr-FR" dirty="0" err="1"/>
              <a:t>niveau_hierarchique_poste</a:t>
            </a: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Poste / </a:t>
            </a:r>
            <a:r>
              <a:rPr lang="fr-FR" dirty="0" err="1"/>
              <a:t>departement</a:t>
            </a: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Les variables corrélées peuvent rendre le modèle instable, peu performant et plus difficile à apprendre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A230B4-E6E3-8DB0-AE5F-33E909B5E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13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946406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47DDF-1565-460D-7632-8DB4205BF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4937EF3A-67B8-3982-9B6C-5AFF4168C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6179351-D1B0-8933-365D-1A8449B45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B64E2C-F309-26A1-29C7-D147CB832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0887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7CD09-F6CE-C390-CC5F-14C307D3F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73CA679E-56D5-DA9C-3F9E-B7C4D91B8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BC1A91F-6392-4AB9-EC1C-3EF67A193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fr-FR" dirty="0"/>
              <a:t>Les représentants commerciaux sont les plus touchés avec 40% dans le poste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9B1C26-D223-45AC-1CF5-942769045A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59045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C820E-D793-0CBB-DB6F-10293059F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5149BE40-1CF7-AB01-2BEB-CC6184017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147367D-4A1D-3C8D-4DC7-D360D984C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fr-FR" dirty="0"/>
              <a:t>Les 3 premières catégories regroupe beaucoup plus de salariés que « Représentant Commerciaux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Ce qui explique </a:t>
            </a:r>
            <a:r>
              <a:rPr lang="fr-FR" sz="1200" cap="none" dirty="0">
                <a:solidFill>
                  <a:srgbClr val="FF0000"/>
                </a:solidFill>
              </a:rPr>
              <a:t>Les postes les plus concernés (en nombres #) par rapport au (%)</a:t>
            </a:r>
          </a:p>
          <a:p>
            <a:pPr rtl="0"/>
            <a:endParaRPr lang="fr-FR" dirty="0"/>
          </a:p>
          <a:p>
            <a:pPr rtl="0"/>
            <a:r>
              <a:rPr lang="fr-FR" dirty="0"/>
              <a:t>Carde commercial, Assistant Direction et Consultant =&gt; plus nombreux =&gt; plus de démissions (en nombre)</a:t>
            </a:r>
          </a:p>
          <a:p>
            <a:pPr rtl="0"/>
            <a:r>
              <a:rPr lang="fr-FR" dirty="0"/>
              <a:t>MAIS</a:t>
            </a:r>
          </a:p>
          <a:p>
            <a:pPr rtl="0"/>
            <a:r>
              <a:rPr lang="fr-FR" dirty="0"/>
              <a:t>Représentant Commerciaux =&gt; plus de démissions (en %)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008FE6-9145-1EF4-4E9B-12F1514B5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83551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194FE-373D-42DF-4F35-9D7D3ED61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EF3D63DA-8EBB-9954-6921-0D25ACB2B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08B0656-60A7-5E0A-BDA4-7027E836D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fr-FR" dirty="0"/>
              <a:t>Corrélation forte entre le salaire et démissions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9F29C8-0F7B-0D1C-1EE8-A0C284FB2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88684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CEC01-C35C-BC0A-706F-5A32A626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A7013224-66E6-DE8C-E611-5EFBEABD8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C3AEEEE-95B4-C7F9-5D14-068E3F5AB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fr-FR" dirty="0"/>
              <a:t>Si on regarde le taux de démissions par rapport à l moyenne des salaires on voit clairement une courbe qui se croise !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F5DC3A-3C49-8F98-E524-FC9F03094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14299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2C332-DDE8-BA4A-0533-7FF445DAD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2B01A4C7-330E-FE92-4E17-B6C510736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3165E82-4064-7D71-76B7-60D9F593C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fr-FR" dirty="0"/>
              <a:t>Alors si on résume l’analyse exploratoire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07A573-158F-C57D-9B8F-8EE542959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84699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0681A-1336-4AD5-6AB2-7F9AD3EB8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0801B0E8-CBA5-EF00-A394-2C78CC3EB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636E031-7D2B-1AD3-AEC0-FA54AE481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fr-FR" dirty="0"/>
              <a:t>Si on regarde le taux de démissions par rapport à l moyenne des salaires on voit clairement une courbe qui se croise !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7CD18C-2986-E493-9DDE-78F8426C6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8804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3BE42-7496-DBF9-1BD7-375DFB214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12D5055-B3E3-AC5C-BA6B-F7E5C4F41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E3554EF-908A-C0A2-EA8B-E7B9759B9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utiliserons 3 modèles pour comparer nos </a:t>
            </a:r>
            <a:r>
              <a:rPr lang="fr-FR" dirty="0" err="1"/>
              <a:t>resultats</a:t>
            </a:r>
            <a:endParaRPr lang="fr-FR" dirty="0"/>
          </a:p>
          <a:p>
            <a:endParaRPr lang="fr-FR" dirty="0"/>
          </a:p>
          <a:p>
            <a:r>
              <a:rPr lang="fr-FR" dirty="0"/>
              <a:t>Le </a:t>
            </a:r>
            <a:r>
              <a:rPr lang="fr-FR" dirty="0" err="1"/>
              <a:t>dummy</a:t>
            </a:r>
            <a:r>
              <a:rPr lang="fr-FR" dirty="0"/>
              <a:t> qui est une simple moyenne comme base de comparaison</a:t>
            </a:r>
          </a:p>
          <a:p>
            <a:r>
              <a:rPr lang="fr-FR" dirty="0"/>
              <a:t>Le </a:t>
            </a:r>
            <a:r>
              <a:rPr lang="fr-FR" dirty="0" err="1"/>
              <a:t>LogisicRegression</a:t>
            </a:r>
            <a:r>
              <a:rPr lang="fr-FR" dirty="0"/>
              <a:t> qui se base sur une comparaison linéaire</a:t>
            </a:r>
          </a:p>
          <a:p>
            <a:r>
              <a:rPr lang="fr-FR" dirty="0"/>
              <a:t>Le </a:t>
            </a:r>
            <a:r>
              <a:rPr lang="fr-FR" dirty="0" err="1"/>
              <a:t>XGBoost</a:t>
            </a:r>
            <a:r>
              <a:rPr lang="fr-FR" dirty="0"/>
              <a:t> qui utilise des sous-modèles à base de forêts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8C4275-4F49-EF25-F89A-C4F510F6C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22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861054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J’utilise un jeu de données global pour tous les modèles et entrainements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23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102687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62F96-68F8-EA71-BCFB-5B3F1E9AE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D51F77F-DEBD-5C8F-BC23-DDFE9E4C5B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9B96818-68E6-3449-95F7-F792ED2A5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Toutes les prédictions du modèle sont mesurées avec des scores</a:t>
            </a:r>
          </a:p>
          <a:p>
            <a:endParaRPr lang="fr-FR" dirty="0"/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/>
              <a:t>distribution des probabilités </a:t>
            </a:r>
            <a:r>
              <a:rPr lang="fr-FR" dirty="0"/>
              <a:t>=&gt; pertinence des choix</a:t>
            </a:r>
          </a:p>
          <a:p>
            <a:r>
              <a:rPr lang="fr-FR" b="1" dirty="0"/>
              <a:t>Matrice de confusion </a:t>
            </a:r>
            <a:r>
              <a:rPr lang="fr-FR" dirty="0"/>
              <a:t>=&gt; les vrais et fausses prédictions</a:t>
            </a:r>
          </a:p>
          <a:p>
            <a:r>
              <a:rPr lang="fr-FR" b="1" dirty="0"/>
              <a:t>Courbe ROC </a:t>
            </a:r>
            <a:r>
              <a:rPr lang="fr-FR" dirty="0"/>
              <a:t>=&gt; la courbe qui montre le compromis entre détection et faux positifs, </a:t>
            </a:r>
            <a:r>
              <a:rPr lang="fr-FR" b="1" dirty="0"/>
              <a:t>AUC </a:t>
            </a:r>
            <a:r>
              <a:rPr lang="fr-FR" dirty="0"/>
              <a:t>= aire de la courbe ROC (un nombre qui résume cette courbe)</a:t>
            </a:r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</a:t>
            </a:r>
            <a:r>
              <a:rPr lang="fr-FR" dirty="0"/>
              <a:t> =&gt; proportion de correctes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=&gt;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fiabilité des prédictions positives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=&gt;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capacité à retrouver les vrais positifs (ne pas louper des faux positif)</a:t>
            </a:r>
          </a:p>
          <a:p>
            <a:endParaRPr lang="fr-FR" dirty="0"/>
          </a:p>
          <a:p>
            <a:r>
              <a:rPr lang="fr-FR" dirty="0"/>
              <a:t>Pour un modèle d'attrition RH, on peut lire la ROC ainsi :</a:t>
            </a:r>
          </a:p>
          <a:p>
            <a:r>
              <a:rPr lang="fr-FR" dirty="0"/>
              <a:t>Si on choisit un seuil bas : </a:t>
            </a:r>
          </a:p>
          <a:p>
            <a:pPr lvl="1"/>
            <a:r>
              <a:rPr lang="fr-FR" dirty="0"/>
              <a:t>on détecte beaucoup de départs (</a:t>
            </a:r>
            <a:r>
              <a:rPr lang="fr-FR" dirty="0" err="1"/>
              <a:t>Recall</a:t>
            </a:r>
            <a:r>
              <a:rPr lang="fr-FR" dirty="0"/>
              <a:t> élevé) </a:t>
            </a:r>
          </a:p>
          <a:p>
            <a:pPr lvl="1"/>
            <a:r>
              <a:rPr lang="fr-FR" dirty="0"/>
              <a:t>mais on alerte beaucoup de personnes qui ne partiront pas (FPR élevé) </a:t>
            </a:r>
          </a:p>
          <a:p>
            <a:r>
              <a:rPr lang="fr-FR" dirty="0"/>
              <a:t>Si on choisit un seuil haut : </a:t>
            </a:r>
          </a:p>
          <a:p>
            <a:pPr lvl="1"/>
            <a:r>
              <a:rPr lang="fr-FR" dirty="0"/>
              <a:t>on alerte peu de personnes à tort </a:t>
            </a:r>
          </a:p>
          <a:p>
            <a:pPr lvl="1"/>
            <a:r>
              <a:rPr lang="fr-FR" dirty="0"/>
              <a:t>mais on rate davantage de départs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A8F910-7E0B-B0F0-D8B3-C9A2A11158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24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632712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Je réalise des entrainements successifs et conserve l’intégralité des scores pour chaque passe</a:t>
            </a:r>
          </a:p>
          <a:p>
            <a:r>
              <a:rPr lang="fr-FR" dirty="0"/>
              <a:t>Le dernier entrainement combine les passes à la recherche du meilleur F1-score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25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813189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FD80B-689B-E988-0FDA-CB6CDDB17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0C3ED86-FF5F-BEDF-EC9C-22FCAD11A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ACF4989-E90C-6332-7003-BE3CE0D24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None/>
            </a:pPr>
            <a:endParaRPr lang="fr-FR" sz="1200" kern="1200" noProof="0" dirty="0">
              <a:latin typeface="Aptos" panose="020B0004020202020204" pitchFamily="34" charset="0"/>
            </a:endParaRPr>
          </a:p>
          <a:p>
            <a:pPr marL="0" lvl="0" indent="0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None/>
            </a:pPr>
            <a:r>
              <a:rPr lang="fr-FR" sz="1200" kern="1200" noProof="0" dirty="0" err="1">
                <a:latin typeface="Aptos" panose="020B0004020202020204" pitchFamily="34" charset="0"/>
              </a:rPr>
              <a:t>Features</a:t>
            </a:r>
            <a:r>
              <a:rPr lang="fr-FR" sz="1200" kern="1200" noProof="0" dirty="0">
                <a:latin typeface="Aptos" panose="020B0004020202020204" pitchFamily="34" charset="0"/>
              </a:rPr>
              <a:t> </a:t>
            </a:r>
            <a:r>
              <a:rPr lang="fr-FR" sz="1200" kern="1200" noProof="0" dirty="0" err="1">
                <a:latin typeface="Aptos" panose="020B0004020202020204" pitchFamily="34" charset="0"/>
              </a:rPr>
              <a:t>enginering</a:t>
            </a:r>
            <a:r>
              <a:rPr lang="fr-FR" sz="1200" kern="1200" noProof="0" dirty="0">
                <a:latin typeface="Aptos" panose="020B0004020202020204" pitchFamily="34" charset="0"/>
              </a:rPr>
              <a:t> = Recherche de nouveaux paramètres, suppression de paramètres existants</a:t>
            </a:r>
          </a:p>
          <a:p>
            <a:pPr marL="0" lvl="0" indent="0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None/>
            </a:pPr>
            <a:r>
              <a:rPr lang="fr-FR" sz="1200" kern="1200" noProof="0" dirty="0" err="1">
                <a:latin typeface="Aptos" panose="020B0004020202020204" pitchFamily="34" charset="0"/>
              </a:rPr>
              <a:t>Hyper-Paramètres</a:t>
            </a:r>
            <a:r>
              <a:rPr lang="fr-FR" sz="1200" kern="1200" noProof="0" dirty="0">
                <a:latin typeface="Aptos" panose="020B0004020202020204" pitchFamily="34" charset="0"/>
              </a:rPr>
              <a:t> = Paramétrage des modèles par la recherche croisée de paramètres optimaux</a:t>
            </a:r>
          </a:p>
          <a:p>
            <a:pPr marL="0" marR="0" lvl="0" indent="0" algn="l" defTabSz="1600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200" kern="1200" noProof="0" dirty="0">
                <a:latin typeface="Aptos" panose="020B0004020202020204" pitchFamily="34" charset="0"/>
              </a:rPr>
              <a:t>Recherche du seuil optimal (F1-Score) = test avec différents seuils pour la meilleur note F1</a:t>
            </a:r>
          </a:p>
          <a:p>
            <a:pPr marL="0" lvl="0" indent="0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None/>
            </a:pPr>
            <a:endParaRPr lang="fr-FR" sz="1200" kern="1200" noProof="0" dirty="0">
              <a:latin typeface="Aptos" panose="020B0004020202020204" pitchFamily="34" charset="0"/>
            </a:endParaRPr>
          </a:p>
          <a:p>
            <a:pPr marL="0" lvl="0" indent="0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None/>
            </a:pPr>
            <a:r>
              <a:rPr lang="fr-FR" sz="1200" kern="1200" noProof="0" dirty="0">
                <a:latin typeface="Aptos" panose="020B0004020202020204" pitchFamily="34" charset="0"/>
              </a:rPr>
              <a:t>Entrainement final est la combinaison des passes dans le </a:t>
            </a:r>
            <a:r>
              <a:rPr lang="fr-FR" sz="1200" kern="1200" noProof="0" dirty="0" err="1">
                <a:latin typeface="Aptos" panose="020B0004020202020204" pitchFamily="34" charset="0"/>
              </a:rPr>
              <a:t>meme</a:t>
            </a:r>
            <a:r>
              <a:rPr lang="fr-FR" sz="1200" kern="1200" noProof="0" dirty="0">
                <a:latin typeface="Aptos" panose="020B0004020202020204" pitchFamily="34" charset="0"/>
              </a:rPr>
              <a:t> ordre et si le F1 score est meilleur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52158A-4F6E-3C78-40DD-1BCBF78EE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26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314949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10CD6-5544-E561-9A6F-F7E9DE6FD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54AA499-B9F8-A65A-3EE4-8D6DCBE33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023E6CE-201B-1062-1523-AE8F0D53E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La courbe Précision-Rappel est </a:t>
            </a:r>
            <a:r>
              <a:rPr lang="fr-FR" b="1" dirty="0"/>
              <a:t>paramétrique</a:t>
            </a:r>
            <a:r>
              <a:rPr lang="fr-FR" dirty="0"/>
              <a:t> : chaque point de la courbe correspond à un seuil différent.</a:t>
            </a:r>
          </a:p>
          <a:p>
            <a:endParaRPr lang="fr-FR" dirty="0"/>
          </a:p>
          <a:p>
            <a:r>
              <a:rPr lang="fr-FR" dirty="0"/>
              <a:t>plus on baisse le seuil, plus on détecte de départs… mais au prix d'une explosion des fausses alertes.</a:t>
            </a:r>
          </a:p>
          <a:p>
            <a:r>
              <a:rPr lang="fr-FR" b="1" dirty="0"/>
              <a:t>Seuil retenu : 0.551</a:t>
            </a:r>
          </a:p>
          <a:p>
            <a:r>
              <a:rPr lang="fr-FR" dirty="0"/>
              <a:t>Contrainte métier : </a:t>
            </a:r>
            <a:r>
              <a:rPr lang="fr-FR" b="1" dirty="0"/>
              <a:t>rappel ≥ 68 %</a:t>
            </a:r>
            <a:r>
              <a:rPr lang="fr-FR" dirty="0"/>
              <a:t> (ne pas rater de départ)</a:t>
            </a:r>
          </a:p>
          <a:p>
            <a:endParaRPr lang="fr-FR" dirty="0"/>
          </a:p>
          <a:p>
            <a:r>
              <a:rPr lang="fr-FR" b="1" dirty="0"/>
              <a:t>Interprétation</a:t>
            </a:r>
          </a:p>
          <a:p>
            <a:r>
              <a:rPr lang="fr-FR" b="1" dirty="0"/>
              <a:t> 70 % des départs réels sont détectés</a:t>
            </a:r>
            <a:endParaRPr lang="fr-FR" dirty="0"/>
          </a:p>
          <a:p>
            <a:r>
              <a:rPr lang="fr-FR" dirty="0"/>
              <a:t> </a:t>
            </a:r>
            <a:r>
              <a:rPr lang="fr-FR" b="1" dirty="0"/>
              <a:t>47 % des alertes sont correctes</a:t>
            </a:r>
            <a:r>
              <a:rPr lang="fr-FR" dirty="0"/>
              <a:t> (1 alerte sur 2 est un faux positif)</a:t>
            </a:r>
          </a:p>
          <a:p>
            <a:r>
              <a:rPr lang="fr-FR" dirty="0"/>
              <a:t> </a:t>
            </a:r>
            <a:r>
              <a:rPr lang="fr-FR" b="1" dirty="0"/>
              <a:t>F1 = 0.56</a:t>
            </a:r>
            <a:r>
              <a:rPr lang="fr-FR" dirty="0"/>
              <a:t> → bon compromis global pour un problème déséquilibré</a:t>
            </a:r>
          </a:p>
          <a:p>
            <a:endParaRPr lang="fr-FR" b="1" dirty="0"/>
          </a:p>
          <a:p>
            <a:r>
              <a:rPr lang="fr-FR" dirty="0"/>
              <a:t>Le seuil a été choisi pour </a:t>
            </a:r>
            <a:r>
              <a:rPr lang="fr-FR" b="1" dirty="0"/>
              <a:t>maximiser la détection des départs</a:t>
            </a:r>
            <a:r>
              <a:rPr lang="fr-FR" dirty="0"/>
              <a:t> tout en gardant une précision acceptable — cohérent avec un objectif de </a:t>
            </a:r>
            <a:r>
              <a:rPr lang="fr-FR" b="1" dirty="0"/>
              <a:t>sécurité / surveillance</a:t>
            </a:r>
            <a:r>
              <a:rPr lang="fr-FR" dirty="0"/>
              <a:t>, où rater un départ coûte plus cher qu'une fausse alerte.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3B32DC-7602-FC11-15FC-7163DB139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28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770488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XGBoost</a:t>
            </a:r>
            <a:r>
              <a:rPr lang="fr-FR" dirty="0"/>
              <a:t> surpasse les autres modèles sur presque tous les points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29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800807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err="1"/>
              <a:t>XGBoost</a:t>
            </a:r>
            <a:r>
              <a:rPr lang="fr-FR" b="1" dirty="0"/>
              <a:t> atteint 87 % d'</a:t>
            </a:r>
            <a:r>
              <a:rPr lang="fr-FR" b="1" dirty="0" err="1"/>
              <a:t>accuracy</a:t>
            </a:r>
            <a:r>
              <a:rPr lang="fr-FR" b="1" dirty="0"/>
              <a:t>, mais cette métrique est trompeuse sur un </a:t>
            </a:r>
            <a:r>
              <a:rPr lang="fr-FR" b="1" dirty="0" err="1"/>
              <a:t>dataset</a:t>
            </a:r>
            <a:r>
              <a:rPr lang="fr-FR" b="1" dirty="0"/>
              <a:t> déséquilibré (84 % / 16 %).</a:t>
            </a:r>
          </a:p>
          <a:p>
            <a:endParaRPr lang="fr-FR" dirty="0"/>
          </a:p>
          <a:p>
            <a:r>
              <a:rPr lang="fr-FR" dirty="0"/>
              <a:t>Sur la </a:t>
            </a:r>
            <a:r>
              <a:rPr lang="fr-FR" b="1" dirty="0"/>
              <a:t>classe d'intérêt (départ)</a:t>
            </a:r>
            <a:r>
              <a:rPr lang="fr-FR" dirty="0"/>
              <a:t> : </a:t>
            </a:r>
            <a:r>
              <a:rPr lang="fr-FR" b="1" dirty="0"/>
              <a:t>68 % de rappel</a:t>
            </a:r>
            <a:r>
              <a:rPr lang="fr-FR" dirty="0"/>
              <a:t> et </a:t>
            </a:r>
            <a:r>
              <a:rPr lang="fr-FR" b="1" dirty="0"/>
              <a:t>57 % de précision</a:t>
            </a:r>
            <a:r>
              <a:rPr lang="fr-FR" dirty="0"/>
              <a:t>, soit un </a:t>
            </a:r>
            <a:r>
              <a:rPr lang="fr-FR" b="1" dirty="0"/>
              <a:t>F1 de 0.62</a:t>
            </a:r>
            <a:r>
              <a:rPr lang="fr-FR" dirty="0"/>
              <a:t> et un </a:t>
            </a:r>
            <a:r>
              <a:rPr lang="fr-FR" b="1" dirty="0"/>
              <a:t>macro F1 de 0.77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Le modèle </a:t>
            </a:r>
            <a:r>
              <a:rPr lang="fr-FR" b="1" dirty="0"/>
              <a:t>détecte la majorité des départs</a:t>
            </a:r>
            <a:r>
              <a:rPr lang="fr-FR" dirty="0"/>
              <a:t> au prix d'un volume notable de fausses alertes — compromis assumé via le seuil (0.551) choisi pour un objectif de </a:t>
            </a:r>
            <a:r>
              <a:rPr lang="fr-FR" b="1" dirty="0"/>
              <a:t>sensibilité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30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026643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15C25-228B-8785-1328-76CF45DD2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F23AE19-236C-F250-6248-0A646DE85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43F74D9-E560-68F8-5F16-7D7DA451E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Pour un usage RH de prévention des départs, </a:t>
            </a:r>
            <a:r>
              <a:rPr lang="fr-FR" dirty="0" err="1"/>
              <a:t>XGBoost</a:t>
            </a:r>
            <a:r>
              <a:rPr lang="fr-FR" dirty="0"/>
              <a:t> semble généralement plus intéressant car un faux négatif (ne pas accompagner un salarié réellement en risque de départ) peut être plus coûteux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BD9169-65B7-90B3-713F-AC77BAFF4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32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210149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</a:t>
            </a:r>
            <a:r>
              <a:rPr lang="fr-FR" b="1" dirty="0" err="1"/>
              <a:t>feature</a:t>
            </a:r>
            <a:r>
              <a:rPr lang="fr-FR" b="1" dirty="0"/>
              <a:t> importance</a:t>
            </a:r>
            <a:r>
              <a:rPr lang="fr-FR" dirty="0"/>
              <a:t> mesure la </a:t>
            </a:r>
            <a:r>
              <a:rPr lang="fr-FR" b="1" dirty="0"/>
              <a:t>contribution de chaque variable</a:t>
            </a:r>
            <a:r>
              <a:rPr lang="fr-FR" dirty="0"/>
              <a:t> aux prédictions du modèle.</a:t>
            </a:r>
          </a:p>
          <a:p>
            <a:r>
              <a:rPr lang="fr-FR" dirty="0"/>
              <a:t>Elle répond à : </a:t>
            </a:r>
            <a:r>
              <a:rPr lang="fr-FR" b="1" dirty="0"/>
              <a:t>« quelles </a:t>
            </a:r>
            <a:r>
              <a:rPr lang="fr-FR" b="1" dirty="0" err="1"/>
              <a:t>features</a:t>
            </a:r>
            <a:r>
              <a:rPr lang="fr-FR" b="1" dirty="0"/>
              <a:t> comptent le plus ? »</a:t>
            </a:r>
          </a:p>
          <a:p>
            <a:endParaRPr lang="fr-FR" b="1" dirty="0"/>
          </a:p>
          <a:p>
            <a:r>
              <a:rPr lang="fr-FR" dirty="0"/>
              <a:t>Selon notre modèle, l’importance globale des variables qui influe le plus sur les prédictions sont: </a:t>
            </a:r>
            <a:r>
              <a:rPr lang="fr-FR" b="1" dirty="0"/>
              <a:t>heures sup, PEE, expériences</a:t>
            </a:r>
          </a:p>
          <a:p>
            <a:endParaRPr lang="fr-FR" b="1" dirty="0"/>
          </a:p>
          <a:p>
            <a:r>
              <a:rPr lang="fr-FR" dirty="0"/>
              <a:t>les variables les plus </a:t>
            </a:r>
            <a:r>
              <a:rPr lang="fr-FR" b="1" dirty="0"/>
              <a:t>utilisées</a:t>
            </a:r>
            <a:r>
              <a:rPr lang="fr-FR" dirty="0"/>
              <a:t> par le modèle sont </a:t>
            </a:r>
            <a:r>
              <a:rPr lang="fr-FR" b="1" dirty="0"/>
              <a:t>heures sup</a:t>
            </a:r>
            <a:r>
              <a:rPr lang="fr-FR" dirty="0"/>
              <a:t>, </a:t>
            </a:r>
            <a:r>
              <a:rPr lang="fr-FR" b="1" dirty="0"/>
              <a:t>PEE</a:t>
            </a:r>
            <a:r>
              <a:rPr lang="fr-FR" dirty="0"/>
              <a:t> et </a:t>
            </a:r>
            <a:r>
              <a:rPr lang="fr-FR" b="1" dirty="0"/>
              <a:t>expériences précédentes</a:t>
            </a:r>
            <a:r>
              <a:rPr lang="fr-FR" dirty="0"/>
              <a:t>. »</a:t>
            </a:r>
          </a:p>
          <a:p>
            <a:endParaRPr lang="fr-FR" dirty="0"/>
          </a:p>
          <a:p>
            <a:r>
              <a:rPr lang="fr-FR" dirty="0"/>
              <a:t>Bleu = valeur basse</a:t>
            </a:r>
          </a:p>
          <a:p>
            <a:r>
              <a:rPr lang="fr-FR" dirty="0"/>
              <a:t>Rouge = valeur haute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33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680935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A3D45-62DD-2771-3BB5-9D046BD34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03DB05F-4B64-BCCE-5CB4-E96BC36BC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973CBB3-37BC-5F33-D124-1DA642920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>
                <a:effectLst/>
              </a:rPr>
              <a:t>La </a:t>
            </a:r>
            <a:r>
              <a:rPr lang="fr-FR" b="1" dirty="0">
                <a:effectLst/>
              </a:rPr>
              <a:t>permutation importance</a:t>
            </a:r>
            <a:r>
              <a:rPr lang="fr-FR" dirty="0">
                <a:effectLst/>
              </a:rPr>
              <a:t> mesure la </a:t>
            </a:r>
            <a:r>
              <a:rPr lang="fr-FR" b="1" dirty="0">
                <a:effectLst/>
              </a:rPr>
              <a:t>baisse de performance</a:t>
            </a:r>
            <a:r>
              <a:rPr lang="fr-FR" dirty="0">
                <a:effectLst/>
              </a:rPr>
              <a:t> du modèle lorsqu'on </a:t>
            </a:r>
            <a:r>
              <a:rPr lang="fr-FR" b="1" dirty="0">
                <a:effectLst/>
              </a:rPr>
              <a:t>mélange aléatoirement</a:t>
            </a:r>
            <a:r>
              <a:rPr lang="fr-FR" dirty="0">
                <a:effectLst/>
              </a:rPr>
              <a:t> les valeurs d'une </a:t>
            </a:r>
            <a:r>
              <a:rPr lang="fr-FR" dirty="0" err="1">
                <a:effectLst/>
              </a:rPr>
              <a:t>feature</a:t>
            </a:r>
            <a:r>
              <a:rPr lang="fr-FR" dirty="0">
                <a:effectLst/>
              </a:rPr>
              <a:t> : si le score s'effondre, la </a:t>
            </a:r>
            <a:r>
              <a:rPr lang="fr-FR" dirty="0" err="1">
                <a:effectLst/>
              </a:rPr>
              <a:t>feature</a:t>
            </a:r>
            <a:r>
              <a:rPr lang="fr-FR" dirty="0">
                <a:effectLst/>
              </a:rPr>
              <a:t> est </a:t>
            </a:r>
            <a:r>
              <a:rPr lang="fr-FR" b="1" dirty="0">
                <a:effectLst/>
              </a:rPr>
              <a:t>essentielle</a:t>
            </a:r>
            <a:r>
              <a:rPr lang="fr-FR" dirty="0">
                <a:effectLst/>
              </a:rPr>
              <a:t> ; </a:t>
            </a:r>
          </a:p>
          <a:p>
            <a:endParaRPr lang="fr-FR" dirty="0">
              <a:effectLst/>
            </a:endParaRPr>
          </a:p>
          <a:p>
            <a:r>
              <a:rPr lang="fr-FR" dirty="0">
                <a:effectLst/>
              </a:rPr>
              <a:t>s'il ne bouge pas, elle est </a:t>
            </a:r>
            <a:r>
              <a:rPr lang="fr-FR" b="1" dirty="0">
                <a:effectLst/>
              </a:rPr>
              <a:t>inutile</a:t>
            </a:r>
            <a:r>
              <a:rPr lang="fr-FR" dirty="0">
                <a:effectLst/>
              </a:rPr>
              <a:t>.</a:t>
            </a:r>
          </a:p>
          <a:p>
            <a:endParaRPr lang="fr-FR" dirty="0"/>
          </a:p>
          <a:p>
            <a:r>
              <a:rPr lang="fr-FR" dirty="0"/>
              <a:t>le modèle est </a:t>
            </a:r>
            <a:r>
              <a:rPr lang="fr-FR" b="1" dirty="0"/>
              <a:t>le plus dépendant</a:t>
            </a:r>
            <a:r>
              <a:rPr lang="fr-FR" dirty="0"/>
              <a:t> des </a:t>
            </a:r>
            <a:r>
              <a:rPr lang="fr-FR" b="1" dirty="0"/>
              <a:t>heures supplémentaires</a:t>
            </a:r>
          </a:p>
          <a:p>
            <a:r>
              <a:rPr lang="fr-FR" dirty="0"/>
              <a:t>(mélanger cette variable fait chuter le F1 le plus fortement). »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BA57A5-E87E-B46B-D084-15C40E59E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34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815191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67EAC-48AB-45D2-1772-B2D8D96F5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024354F-EB29-5AD9-752E-A3AA3BB06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1D963A7-BDC3-4C18-E60B-B092A0243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Visualise les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ayant le plus de poids dans le facteur de démission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8FB8C0-5012-ACE1-F356-A7A637CE6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35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381585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DDA38-138E-34EB-37A3-628D1050E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5AB7AE7-873F-C5BC-B419-742C844D0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FCF48E8-768D-4103-7985-2649EFB4F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Visualise les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ayant entrainé une démission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(Sur un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echantillon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réel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representatif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la moyenne des départs)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6DBE43-51A0-07B5-E82B-BC7968B6F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36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63245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A59FB-FD10-1081-3906-358138570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8571FC5-A85E-C517-2507-11DD36433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3EA0FDF-D7BE-C2FE-4A69-2BFB47840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 </a:t>
            </a:r>
            <a:r>
              <a:rPr lang="fr-FR" dirty="0" err="1"/>
              <a:t>contre-factuel</a:t>
            </a:r>
            <a:r>
              <a:rPr lang="fr-FR" dirty="0"/>
              <a:t> répond à la question </a:t>
            </a:r>
            <a:r>
              <a:rPr lang="fr-FR" b="1" dirty="0"/>
              <a:t>« que faudrait-il changer chez cet employé pour qu'il reste ? »</a:t>
            </a:r>
            <a:r>
              <a:rPr lang="fr-FR" dirty="0"/>
              <a:t> </a:t>
            </a:r>
          </a:p>
          <a:p>
            <a:r>
              <a:rPr lang="fr-FR" dirty="0"/>
              <a:t> il transforme une prédiction (« il va partir ») en </a:t>
            </a:r>
            <a:r>
              <a:rPr lang="fr-FR" b="1" dirty="0"/>
              <a:t>recommandation actionnable</a:t>
            </a:r>
            <a:r>
              <a:rPr lang="fr-FR" dirty="0"/>
              <a:t> pour les RH.</a:t>
            </a:r>
          </a:p>
          <a:p>
            <a:endParaRPr lang="fr-FR" dirty="0"/>
          </a:p>
          <a:p>
            <a:r>
              <a:rPr lang="fr-FR" dirty="0"/>
              <a:t>Là où SHAP explique </a:t>
            </a:r>
            <a:r>
              <a:rPr lang="fr-FR" b="1" dirty="0"/>
              <a:t>pourquoi</a:t>
            </a:r>
            <a:r>
              <a:rPr lang="fr-FR" dirty="0"/>
              <a:t> le modèle prédit un départ, </a:t>
            </a:r>
            <a:r>
              <a:rPr lang="fr-FR" dirty="0" err="1"/>
              <a:t>DiCE</a:t>
            </a:r>
            <a:r>
              <a:rPr lang="fr-FR" dirty="0"/>
              <a:t> indique </a:t>
            </a:r>
            <a:r>
              <a:rPr lang="fr-FR" b="1" dirty="0"/>
              <a:t>quoi modifier concrètement</a:t>
            </a:r>
            <a:r>
              <a:rPr lang="fr-FR" dirty="0"/>
              <a:t> pour inverser la décision, en proposant les changements </a:t>
            </a:r>
            <a:r>
              <a:rPr lang="fr-FR" b="1" dirty="0"/>
              <a:t>les plus proches et les plus économiques</a:t>
            </a:r>
            <a:r>
              <a:rPr lang="fr-FR" dirty="0"/>
              <a:t> possibles.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DBA37F-7EA8-D297-EC14-12D5AE0DED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37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042208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atin typeface="Aptos" panose="020B0004020202020204" pitchFamily="34" charset="0"/>
              </a:rPr>
              <a:t>Ces résultats décrivent le comportement du modèle et doivent être interprétés comme des </a:t>
            </a:r>
            <a:r>
              <a:rPr lang="fr-FR" b="1" dirty="0">
                <a:latin typeface="Aptos" panose="020B0004020202020204" pitchFamily="34" charset="0"/>
              </a:rPr>
              <a:t>facteurs associés aux prédictions</a:t>
            </a:r>
            <a:r>
              <a:rPr lang="fr-FR" dirty="0">
                <a:latin typeface="Aptos" panose="020B0004020202020204" pitchFamily="34" charset="0"/>
              </a:rPr>
              <a:t>, et non comme des relations de causalité.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38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64965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96BE4-D62C-95FE-431D-9992E96A6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487A7E2-0B92-FB3D-8DE3-16823243D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92A35F3-19A4-9951-AFBB-A25D381A5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839FF4-B97C-6E5C-8260-E41EEBF01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fr-FR" noProof="0" smtClean="0"/>
              <a:t>39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685100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F3B20A7-A3FE-46B9-84EA-B4257BA7E60C}" type="datetime1">
              <a:rPr lang="fr-FR" noProof="0" smtClean="0"/>
              <a:t>07/09/2026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B34D2F-0B02-482E-ABD2-95D8C2FF2A58}" type="datetime1">
              <a:rPr lang="fr-FR" noProof="0" smtClean="0"/>
              <a:t>07/09/2026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26ECFBB-4871-428F-B4AE-1EF357E63674}" type="datetime1">
              <a:rPr lang="fr-FR" noProof="0" smtClean="0"/>
              <a:t>07/09/2026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517F14-0D9C-452E-A596-36902551AE9C}" type="datetime1">
              <a:rPr lang="fr-FR" noProof="0" smtClean="0"/>
              <a:t>07/09/2026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9BF800-A62B-4735-B9A7-5450007C0A78}" type="datetime1">
              <a:rPr lang="fr-FR" noProof="0" smtClean="0"/>
              <a:t>07/09/2026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7267E0-A979-4430-94B4-54611641D8EE}" type="datetime1">
              <a:rPr lang="fr-FR" noProof="0" smtClean="0"/>
              <a:t>07/09/2026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58A73B6-B077-488D-82CF-3056D5BAC73E}" type="datetime1">
              <a:rPr lang="fr-FR" noProof="0" smtClean="0"/>
              <a:t>07/09/2026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8F108A3-3495-404B-9869-1BA62DF0E465}" type="datetime1">
              <a:rPr lang="fr-FR" noProof="0" smtClean="0"/>
              <a:t>07/09/2026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B550F6-4238-41AE-B6F4-4D375745C983}" type="datetime1">
              <a:rPr lang="fr-FR" noProof="0" smtClean="0"/>
              <a:t>07/09/2026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5E3FBB-57D2-4FB3-B51E-0FDE8CEE6791}" type="datetime1">
              <a:rPr lang="fr-FR" noProof="0" smtClean="0"/>
              <a:t>07/09/2026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E9F9435-70D7-42BA-8564-5EC34B97B69E}" type="datetime1">
              <a:rPr lang="fr-FR" noProof="0" smtClean="0"/>
              <a:t>07/09/2026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BBB97F02-5EDD-4BF6-BE41-AB41D1FEABF8}" type="datetime1">
              <a:rPr lang="fr-FR" noProof="0" smtClean="0"/>
              <a:t>07/09/2026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Rectangle 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 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7" name="Image 6" descr="Connexions numériqu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r>
              <a:rPr lang="fr-FR" sz="6000" dirty="0">
                <a:solidFill>
                  <a:schemeClr val="bg1"/>
                </a:solidFill>
              </a:rPr>
              <a:t>Tech-Nova</a:t>
            </a:r>
            <a:r>
              <a:rPr lang="fr-FR" sz="6000" dirty="0"/>
              <a:t> </a:t>
            </a:r>
            <a:endParaRPr lang="fr-FR" sz="6000" dirty="0">
              <a:solidFill>
                <a:schemeClr val="bg1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r>
              <a:rPr lang="fr-FR" dirty="0"/>
              <a:t>Analyse des facteurs associés au risque de démission</a:t>
            </a:r>
          </a:p>
          <a:p>
            <a:endParaRPr lang="fr-FR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887ABB-4D37-F4E5-C72E-05B3951BC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Formation Développeur IA</a:t>
            </a:r>
          </a:p>
        </p:txBody>
      </p:sp>
      <p:pic>
        <p:nvPicPr>
          <p:cNvPr id="4" name="Picture 6" descr="OpenClassrooms | Spreadshop">
            <a:extLst>
              <a:ext uri="{FF2B5EF4-FFF2-40B4-BE49-F238E27FC236}">
                <a16:creationId xmlns:a16="http://schemas.microsoft.com/office/drawing/2014/main" id="{7A154197-7927-FA64-68F3-8463F8F0B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300" y="766902"/>
            <a:ext cx="4933507" cy="884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128E9F1-4689-7FFE-0872-F8A365529265}"/>
              </a:ext>
            </a:extLst>
          </p:cNvPr>
          <p:cNvSpPr txBox="1"/>
          <p:nvPr/>
        </p:nvSpPr>
        <p:spPr>
          <a:xfrm>
            <a:off x="3046149" y="2432804"/>
            <a:ext cx="60979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3200" dirty="0">
                <a:latin typeface="Aptos" panose="020B0004020202020204" pitchFamily="34" charset="0"/>
              </a:rPr>
              <a:t>ANALYSE DES DÉMISSIONS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E9D5FF4-D90F-9318-F108-1D8C4BB07ECA}"/>
              </a:ext>
            </a:extLst>
          </p:cNvPr>
          <p:cNvSpPr txBox="1"/>
          <p:nvPr/>
        </p:nvSpPr>
        <p:spPr>
          <a:xfrm>
            <a:off x="3046149" y="3722997"/>
            <a:ext cx="60979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400" dirty="0">
                <a:latin typeface="Aptos" panose="020B0004020202020204" pitchFamily="34" charset="0"/>
              </a:rPr>
              <a:t>Identification des facteurs de turnover chez </a:t>
            </a:r>
            <a:r>
              <a:rPr lang="fr-FR" sz="2400" b="1" dirty="0" err="1">
                <a:latin typeface="Aptos" panose="020B0004020202020204" pitchFamily="34" charset="0"/>
              </a:rPr>
              <a:t>TechNova</a:t>
            </a:r>
            <a:r>
              <a:rPr lang="fr-FR" sz="2400" b="1" dirty="0">
                <a:latin typeface="Aptos" panose="020B0004020202020204" pitchFamily="34" charset="0"/>
              </a:rPr>
              <a:t> </a:t>
            </a:r>
            <a:r>
              <a:rPr lang="fr-FR" sz="2400" b="1" dirty="0" err="1">
                <a:latin typeface="Aptos" panose="020B0004020202020204" pitchFamily="34" charset="0"/>
              </a:rPr>
              <a:t>Partners</a:t>
            </a:r>
            <a:endParaRPr lang="fr-FR" sz="2400" b="1" dirty="0">
              <a:latin typeface="Aptos" panose="020B0004020202020204" pitchFamily="34" charset="0"/>
            </a:endParaRP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E540BF55-66A1-AEB9-0C84-37F0833436B0}"/>
              </a:ext>
            </a:extLst>
          </p:cNvPr>
          <p:cNvSpPr txBox="1">
            <a:spLocks/>
          </p:cNvSpPr>
          <p:nvPr/>
        </p:nvSpPr>
        <p:spPr>
          <a:xfrm>
            <a:off x="4978343" y="5909310"/>
            <a:ext cx="2235314" cy="75343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6000" dirty="0">
                <a:solidFill>
                  <a:schemeClr val="tx1"/>
                </a:solidFill>
              </a:rPr>
              <a:t>09/2026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B687400-2F7D-F64F-C823-4D9D92A2B344}"/>
              </a:ext>
            </a:extLst>
          </p:cNvPr>
          <p:cNvSpPr txBox="1"/>
          <p:nvPr/>
        </p:nvSpPr>
        <p:spPr>
          <a:xfrm>
            <a:off x="3046149" y="5259412"/>
            <a:ext cx="60979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3200" dirty="0">
                <a:latin typeface="Aptos" panose="020B0004020202020204" pitchFamily="34" charset="0"/>
              </a:rPr>
              <a:t>Thomas AUGUEY</a:t>
            </a:r>
          </a:p>
        </p:txBody>
      </p:sp>
    </p:spTree>
    <p:extLst>
      <p:ext uri="{BB962C8B-B14F-4D97-AF65-F5344CB8AC3E}">
        <p14:creationId xmlns:p14="http://schemas.microsoft.com/office/powerpoint/2010/main" val="309492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BF1CB-ED84-7901-5EF7-06E01CBE2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F8DE860-E90E-B273-7585-7EA964040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Stack Technique</a:t>
            </a:r>
            <a:br>
              <a:rPr lang="fr-FR" dirty="0"/>
            </a:br>
            <a:endParaRPr lang="fr-FR" dirty="0"/>
          </a:p>
        </p:txBody>
      </p:sp>
      <p:pic>
        <p:nvPicPr>
          <p:cNvPr id="5" name="Picture 4" descr="Jupyter - Visual Studio Marketplace">
            <a:extLst>
              <a:ext uri="{FF2B5EF4-FFF2-40B4-BE49-F238E27FC236}">
                <a16:creationId xmlns:a16="http://schemas.microsoft.com/office/drawing/2014/main" id="{5BBF6CEF-1ECD-D45B-FECD-1582DE5A9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26" y="2191487"/>
            <a:ext cx="1757734" cy="17655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4" descr="Microsoft Excel — Wikipédia">
            <a:extLst>
              <a:ext uri="{FF2B5EF4-FFF2-40B4-BE49-F238E27FC236}">
                <a16:creationId xmlns:a16="http://schemas.microsoft.com/office/drawing/2014/main" id="{6F69B809-21C0-9ED3-E817-150D37D80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2990" y="4555704"/>
            <a:ext cx="1353623" cy="13964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 descr="2. Traitement de données avec PANDAS — Outils numériques avancés en  Mécanique">
            <a:extLst>
              <a:ext uri="{FF2B5EF4-FFF2-40B4-BE49-F238E27FC236}">
                <a16:creationId xmlns:a16="http://schemas.microsoft.com/office/drawing/2014/main" id="{0646F847-D574-9338-7260-840A3FEF8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49" y="4864253"/>
            <a:ext cx="2306277" cy="12086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6" name="Picture 2" descr="UV - Python Package Manager: how to use it, comparisons, and common issues  | Pedro Medinilla Bohorquez - Pedromebo">
            <a:extLst>
              <a:ext uri="{FF2B5EF4-FFF2-40B4-BE49-F238E27FC236}">
                <a16:creationId xmlns:a16="http://schemas.microsoft.com/office/drawing/2014/main" id="{3F04E6DC-A3F1-4760-8863-86893C5A63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3" t="25873" r="21843" b="28412"/>
          <a:stretch>
            <a:fillRect/>
          </a:stretch>
        </p:blipFill>
        <p:spPr bwMode="auto">
          <a:xfrm>
            <a:off x="8534400" y="2421455"/>
            <a:ext cx="3218329" cy="12593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0" name="Picture 2" descr="Image vectorielle Stock Machine learning icon. Artificial intelligence,  smart machine logo template. Vector illustration. | Adobe Stock">
            <a:extLst>
              <a:ext uri="{FF2B5EF4-FFF2-40B4-BE49-F238E27FC236}">
                <a16:creationId xmlns:a16="http://schemas.microsoft.com/office/drawing/2014/main" id="{EC838F59-608E-2E37-2BB3-753A43C19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0" y="2523202"/>
            <a:ext cx="3429000" cy="3429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0294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E8EDE-AFCC-830C-5428-4D88B7BB8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364848-F656-BFD0-87A1-537C1BAE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CONTEXTE ET OBJECTIFS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340F65-34A9-322A-0A9F-A1741539E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0413"/>
            <a:ext cx="11180278" cy="1784397"/>
          </a:xfrm>
        </p:spPr>
        <p:txBody>
          <a:bodyPr>
            <a:normAutofit/>
          </a:bodyPr>
          <a:lstStyle/>
          <a:p>
            <a:r>
              <a:rPr lang="fr-FR" sz="2000" dirty="0" err="1"/>
              <a:t>TechNova</a:t>
            </a:r>
            <a:r>
              <a:rPr lang="fr-FR" sz="2000" dirty="0"/>
              <a:t> </a:t>
            </a:r>
            <a:r>
              <a:rPr lang="fr-FR" sz="2000" dirty="0" err="1"/>
              <a:t>Partners</a:t>
            </a:r>
            <a:r>
              <a:rPr lang="fr-FR" sz="2000" dirty="0"/>
              <a:t> conseil en transformation digitale et la vente d’applications en SaaS.</a:t>
            </a:r>
          </a:p>
          <a:p>
            <a:r>
              <a:rPr lang="fr-FR" sz="2000" dirty="0"/>
              <a:t>Turnover anormalement élevé</a:t>
            </a:r>
          </a:p>
          <a:p>
            <a:r>
              <a:rPr lang="fr-FR" sz="2000" dirty="0"/>
              <a:t>1 470 collaborateurs analysés</a:t>
            </a:r>
          </a:p>
          <a:p>
            <a:r>
              <a:rPr lang="fr-FR" sz="2000" dirty="0"/>
              <a:t>Taux de démission : 16% sur la période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624D966-F055-23A2-4E00-565EE717B512}"/>
              </a:ext>
            </a:extLst>
          </p:cNvPr>
          <p:cNvSpPr txBox="1"/>
          <p:nvPr/>
        </p:nvSpPr>
        <p:spPr>
          <a:xfrm>
            <a:off x="581192" y="1825638"/>
            <a:ext cx="110296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>
                <a:latin typeface="Aptos" panose="020B0004020202020204" pitchFamily="34" charset="0"/>
              </a:rPr>
              <a:t>Contexte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8F9A9F4A-2D5A-A06B-58E0-C86C1E1D3FC0}"/>
              </a:ext>
            </a:extLst>
          </p:cNvPr>
          <p:cNvSpPr txBox="1">
            <a:spLocks/>
          </p:cNvSpPr>
          <p:nvPr/>
        </p:nvSpPr>
        <p:spPr>
          <a:xfrm>
            <a:off x="581192" y="4977056"/>
            <a:ext cx="5514808" cy="1579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Identifier les facteurs associés au risque de départ</a:t>
            </a:r>
          </a:p>
          <a:p>
            <a:r>
              <a:rPr lang="fr-FR" dirty="0"/>
              <a:t>Construire un modèle prédictif</a:t>
            </a:r>
          </a:p>
          <a:p>
            <a:r>
              <a:rPr lang="fr-FR" sz="2000" dirty="0"/>
              <a:t>P</a:t>
            </a:r>
            <a:r>
              <a:rPr lang="fr-FR" dirty="0"/>
              <a:t>roposer des leviers d'action RH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29B562C-B8CB-D502-3BF1-B96A32ABB905}"/>
              </a:ext>
            </a:extLst>
          </p:cNvPr>
          <p:cNvSpPr txBox="1"/>
          <p:nvPr/>
        </p:nvSpPr>
        <p:spPr>
          <a:xfrm>
            <a:off x="581192" y="4392281"/>
            <a:ext cx="55148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>
                <a:latin typeface="Aptos" panose="020B0004020202020204" pitchFamily="34" charset="0"/>
              </a:rPr>
              <a:t>Objectifs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94A0EE4E-98B5-48A4-F563-4C7D81DBEFA1}"/>
              </a:ext>
            </a:extLst>
          </p:cNvPr>
          <p:cNvSpPr txBox="1">
            <a:spLocks/>
          </p:cNvSpPr>
          <p:nvPr/>
        </p:nvSpPr>
        <p:spPr>
          <a:xfrm>
            <a:off x="6096000" y="4977056"/>
            <a:ext cx="5514808" cy="1579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Analyse exploratoire (EDA)</a:t>
            </a:r>
          </a:p>
          <a:p>
            <a:r>
              <a:rPr lang="fr-FR" dirty="0"/>
              <a:t>Modélisation (</a:t>
            </a:r>
            <a:r>
              <a:rPr lang="fr-FR" dirty="0" err="1"/>
              <a:t>XGBoost</a:t>
            </a:r>
            <a:r>
              <a:rPr lang="fr-FR" dirty="0"/>
              <a:t>, </a:t>
            </a:r>
            <a:r>
              <a:rPr lang="fr-FR" dirty="0" err="1"/>
              <a:t>RandomForest</a:t>
            </a:r>
            <a:r>
              <a:rPr lang="fr-FR" dirty="0"/>
              <a:t>, </a:t>
            </a:r>
            <a:r>
              <a:rPr lang="fr-FR" dirty="0" err="1"/>
              <a:t>Logistic</a:t>
            </a:r>
            <a:r>
              <a:rPr lang="fr-FR" dirty="0"/>
              <a:t>)</a:t>
            </a:r>
          </a:p>
          <a:p>
            <a:r>
              <a:rPr lang="fr-FR" dirty="0"/>
              <a:t>Interprétation (SHAP, Permutation Importance, </a:t>
            </a:r>
            <a:r>
              <a:rPr lang="fr-FR" dirty="0" err="1"/>
              <a:t>DiCE</a:t>
            </a:r>
            <a:r>
              <a:rPr lang="fr-FR" dirty="0"/>
              <a:t>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931CDEA-C1B8-4D77-6E3B-363BB32E6CA8}"/>
              </a:ext>
            </a:extLst>
          </p:cNvPr>
          <p:cNvSpPr txBox="1"/>
          <p:nvPr/>
        </p:nvSpPr>
        <p:spPr>
          <a:xfrm>
            <a:off x="6096000" y="4392281"/>
            <a:ext cx="55148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>
                <a:latin typeface="Aptos" panose="020B0004020202020204" pitchFamily="34" charset="0"/>
              </a:rPr>
              <a:t>Méthodologie</a:t>
            </a:r>
          </a:p>
        </p:txBody>
      </p:sp>
    </p:spTree>
    <p:extLst>
      <p:ext uri="{BB962C8B-B14F-4D97-AF65-F5344CB8AC3E}">
        <p14:creationId xmlns:p14="http://schemas.microsoft.com/office/powerpoint/2010/main" val="1649093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15D40F-A33F-F56F-2E3F-0D2B12B1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Les Données d’entrée</a:t>
            </a:r>
          </a:p>
        </p:txBody>
      </p:sp>
      <p:pic>
        <p:nvPicPr>
          <p:cNvPr id="4" name="Picture 4" descr="Microsoft Excel — Wikipédia">
            <a:extLst>
              <a:ext uri="{FF2B5EF4-FFF2-40B4-BE49-F238E27FC236}">
                <a16:creationId xmlns:a16="http://schemas.microsoft.com/office/drawing/2014/main" id="{6F604B7A-1DEF-9038-F66D-0CE1153DC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622" y="3658177"/>
            <a:ext cx="791174" cy="8162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 descr="Microsoft Excel — Wikipédia">
            <a:extLst>
              <a:ext uri="{FF2B5EF4-FFF2-40B4-BE49-F238E27FC236}">
                <a16:creationId xmlns:a16="http://schemas.microsoft.com/office/drawing/2014/main" id="{DFFBD9B2-9352-B994-A86D-732AD2E2B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188" y="2107170"/>
            <a:ext cx="791174" cy="8162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4" descr="Microsoft Excel — Wikipédia">
            <a:extLst>
              <a:ext uri="{FF2B5EF4-FFF2-40B4-BE49-F238E27FC236}">
                <a16:creationId xmlns:a16="http://schemas.microsoft.com/office/drawing/2014/main" id="{8AEF5D28-0F0E-C92C-B8CC-58FCC5501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188" y="5247381"/>
            <a:ext cx="791174" cy="8162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1605D77-0F9C-18D0-07A7-ADA1AADF4FE2}"/>
              </a:ext>
            </a:extLst>
          </p:cNvPr>
          <p:cNvSpPr txBox="1"/>
          <p:nvPr/>
        </p:nvSpPr>
        <p:spPr>
          <a:xfrm>
            <a:off x="552076" y="4528674"/>
            <a:ext cx="1646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extrait_eval.csv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32D200A-2631-7FD2-C62D-3019D9B55BB2}"/>
              </a:ext>
            </a:extLst>
          </p:cNvPr>
          <p:cNvSpPr txBox="1"/>
          <p:nvPr/>
        </p:nvSpPr>
        <p:spPr>
          <a:xfrm>
            <a:off x="592642" y="3004944"/>
            <a:ext cx="1646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rgbClr val="C00000"/>
                </a:solidFill>
              </a:rPr>
              <a:t>extrait_sirh.csv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FB313CA-647D-B41F-2892-9FCD370AD68B}"/>
              </a:ext>
            </a:extLst>
          </p:cNvPr>
          <p:cNvSpPr txBox="1"/>
          <p:nvPr/>
        </p:nvSpPr>
        <p:spPr>
          <a:xfrm>
            <a:off x="361273" y="6262085"/>
            <a:ext cx="21090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extrait_sondage.csv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932F998-FE93-157B-19CD-C21D3AA96942}"/>
              </a:ext>
            </a:extLst>
          </p:cNvPr>
          <p:cNvSpPr txBox="1"/>
          <p:nvPr/>
        </p:nvSpPr>
        <p:spPr>
          <a:xfrm>
            <a:off x="2470278" y="2192121"/>
            <a:ext cx="9347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</a:rPr>
              <a:t>Un extrait de notre système SIRH</a:t>
            </a:r>
          </a:p>
          <a:p>
            <a:r>
              <a:rPr lang="fr-FR" sz="2000" dirty="0"/>
              <a:t>Fonction de l’employé, âge, salaire, ancienneté etc... / Informations sociodémographiques.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A37E39E-E3FA-B41E-6958-927E579F1893}"/>
              </a:ext>
            </a:extLst>
          </p:cNvPr>
          <p:cNvSpPr txBox="1"/>
          <p:nvPr/>
        </p:nvSpPr>
        <p:spPr>
          <a:xfrm>
            <a:off x="2470278" y="3743128"/>
            <a:ext cx="84578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 extrait des évaluations annuelles de performance.</a:t>
            </a:r>
          </a:p>
          <a:p>
            <a:r>
              <a:rPr lang="fr-FR" sz="2000" dirty="0"/>
              <a:t>Notes des évaluations et notes de satisfaction données par les employés.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0374D29-576F-4401-68F6-8641E0156AC2}"/>
              </a:ext>
            </a:extLst>
          </p:cNvPr>
          <p:cNvSpPr txBox="1"/>
          <p:nvPr/>
        </p:nvSpPr>
        <p:spPr>
          <a:xfrm>
            <a:off x="2470278" y="5192159"/>
            <a:ext cx="902338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accent6">
                    <a:lumMod val="75000"/>
                  </a:schemeClr>
                </a:solidFill>
              </a:rPr>
              <a:t>Sondage annuel des employés</a:t>
            </a:r>
          </a:p>
          <a:p>
            <a:r>
              <a:rPr lang="fr-FR" sz="2000" dirty="0"/>
              <a:t>Aide à mettre en place des actions pour le bien-être des employés.</a:t>
            </a:r>
          </a:p>
          <a:p>
            <a:r>
              <a:rPr lang="fr-FR" sz="2000" dirty="0"/>
              <a:t>+ Témoin pour indiquer si l’employé a quitté l’entreprise ou non.</a:t>
            </a:r>
          </a:p>
        </p:txBody>
      </p:sp>
    </p:spTree>
    <p:extLst>
      <p:ext uri="{BB962C8B-B14F-4D97-AF65-F5344CB8AC3E}">
        <p14:creationId xmlns:p14="http://schemas.microsoft.com/office/powerpoint/2010/main" val="4054339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7CDB8-06B4-26A6-9C29-55AFA9C3E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B186BD-35A8-C0C0-14E7-916A3EEBF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PIPELINE DE TRAITEMENT</a:t>
            </a:r>
          </a:p>
        </p:txBody>
      </p:sp>
      <p:pic>
        <p:nvPicPr>
          <p:cNvPr id="2050" name="Picture 2" descr="Update Details - Python: Styled DataFrame Viewer 0.12.0 | JetBrains  Marketplace">
            <a:extLst>
              <a:ext uri="{FF2B5EF4-FFF2-40B4-BE49-F238E27FC236}">
                <a16:creationId xmlns:a16="http://schemas.microsoft.com/office/drawing/2014/main" id="{3A7B0C41-3BCF-DFD4-65C6-EF7158DD1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165" y="2812636"/>
            <a:ext cx="2160943" cy="2160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E90CD0C4-1001-37F8-2EE5-FA148ED29642}"/>
              </a:ext>
            </a:extLst>
          </p:cNvPr>
          <p:cNvSpPr txBox="1"/>
          <p:nvPr/>
        </p:nvSpPr>
        <p:spPr>
          <a:xfrm>
            <a:off x="8782951" y="4993041"/>
            <a:ext cx="32813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DataFrame</a:t>
            </a:r>
            <a:endParaRPr lang="fr-FR" sz="4000" dirty="0">
              <a:solidFill>
                <a:schemeClr val="tx1">
                  <a:lumMod val="65000"/>
                  <a:lumOff val="3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3" name="Picture 4" descr="Microsoft Excel — Wikipédia">
            <a:extLst>
              <a:ext uri="{FF2B5EF4-FFF2-40B4-BE49-F238E27FC236}">
                <a16:creationId xmlns:a16="http://schemas.microsoft.com/office/drawing/2014/main" id="{87818D2B-9246-FE97-89D0-5B43D08F4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681" y="3586194"/>
            <a:ext cx="791174" cy="8162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4" descr="Microsoft Excel — Wikipédia">
            <a:extLst>
              <a:ext uri="{FF2B5EF4-FFF2-40B4-BE49-F238E27FC236}">
                <a16:creationId xmlns:a16="http://schemas.microsoft.com/office/drawing/2014/main" id="{B94E4A62-D9C5-1058-5F67-0BFAEE108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47" y="2035187"/>
            <a:ext cx="791174" cy="8162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 descr="Microsoft Excel — Wikipédia">
            <a:extLst>
              <a:ext uri="{FF2B5EF4-FFF2-40B4-BE49-F238E27FC236}">
                <a16:creationId xmlns:a16="http://schemas.microsoft.com/office/drawing/2014/main" id="{4DEC808E-D041-4551-5024-0FD9158E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47" y="5175398"/>
            <a:ext cx="791174" cy="8162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75140CE-6C8B-AC16-2AA4-4BEC375F26A1}"/>
              </a:ext>
            </a:extLst>
          </p:cNvPr>
          <p:cNvSpPr txBox="1"/>
          <p:nvPr/>
        </p:nvSpPr>
        <p:spPr>
          <a:xfrm>
            <a:off x="570701" y="3053240"/>
            <a:ext cx="1646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extrait_eval.csv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E0EB4ED-153E-F5D3-DF54-0B136A6A9E57}"/>
              </a:ext>
            </a:extLst>
          </p:cNvPr>
          <p:cNvSpPr txBox="1"/>
          <p:nvPr/>
        </p:nvSpPr>
        <p:spPr>
          <a:xfrm>
            <a:off x="559921" y="4604247"/>
            <a:ext cx="1646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extrait_sirh.csv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C75FEF1-63D4-499F-1A8A-7949E5C313A2}"/>
              </a:ext>
            </a:extLst>
          </p:cNvPr>
          <p:cNvSpPr txBox="1"/>
          <p:nvPr/>
        </p:nvSpPr>
        <p:spPr>
          <a:xfrm>
            <a:off x="339332" y="6190102"/>
            <a:ext cx="21090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extrait_sondage.csv</a:t>
            </a:r>
          </a:p>
        </p:txBody>
      </p:sp>
      <p:sp>
        <p:nvSpPr>
          <p:cNvPr id="9" name="Accolade fermante 8">
            <a:extLst>
              <a:ext uri="{FF2B5EF4-FFF2-40B4-BE49-F238E27FC236}">
                <a16:creationId xmlns:a16="http://schemas.microsoft.com/office/drawing/2014/main" id="{6CEB96CF-3FD4-79AD-5185-29AEE6B42B90}"/>
              </a:ext>
            </a:extLst>
          </p:cNvPr>
          <p:cNvSpPr/>
          <p:nvPr/>
        </p:nvSpPr>
        <p:spPr>
          <a:xfrm>
            <a:off x="2463460" y="2068913"/>
            <a:ext cx="985542" cy="4524247"/>
          </a:xfrm>
          <a:prstGeom prst="rightBrace">
            <a:avLst>
              <a:gd name="adj1" fmla="val 32143"/>
              <a:gd name="adj2" fmla="val 50000"/>
            </a:avLst>
          </a:prstGeom>
          <a:ln w="666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6D97517-1AB2-EDC3-0063-7EDA41AEADC8}"/>
              </a:ext>
            </a:extLst>
          </p:cNvPr>
          <p:cNvSpPr txBox="1"/>
          <p:nvPr/>
        </p:nvSpPr>
        <p:spPr>
          <a:xfrm>
            <a:off x="3650401" y="2201825"/>
            <a:ext cx="411139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r-FR" sz="2000" dirty="0">
                <a:latin typeface="Aptos" panose="020B0004020202020204" pitchFamily="34" charset="0"/>
              </a:rPr>
              <a:t>Suppression colonnes constantes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r-FR" sz="2000" dirty="0">
                <a:latin typeface="Aptos" panose="020B0004020202020204" pitchFamily="34" charset="0"/>
              </a:rPr>
              <a:t>Gestion des valeurs manquantes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latin typeface="Aptos" panose="020B0004020202020204" pitchFamily="34" charset="0"/>
              </a:rPr>
              <a:t>Encodage</a:t>
            </a:r>
            <a:r>
              <a:rPr lang="en-US" sz="2000" dirty="0">
                <a:latin typeface="Aptos" panose="020B0004020202020204" pitchFamily="34" charset="0"/>
              </a:rPr>
              <a:t> one-hot (</a:t>
            </a:r>
            <a:r>
              <a:rPr lang="en-US" sz="2000" dirty="0" err="1">
                <a:latin typeface="Aptos" panose="020B0004020202020204" pitchFamily="34" charset="0"/>
              </a:rPr>
              <a:t>get_dummies</a:t>
            </a:r>
            <a:r>
              <a:rPr lang="en-US" sz="2000" dirty="0">
                <a:latin typeface="Aptos" panose="020B0004020202020204" pitchFamily="34" charset="0"/>
              </a:rPr>
              <a:t>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Suppression des variables </a:t>
            </a:r>
            <a:r>
              <a:rPr lang="en-US" sz="2000" dirty="0" err="1">
                <a:latin typeface="Aptos" panose="020B0004020202020204" pitchFamily="34" charset="0"/>
              </a:rPr>
              <a:t>inutiles</a:t>
            </a:r>
            <a:endParaRPr lang="en-US" sz="2000" dirty="0">
              <a:latin typeface="Aptos" panose="020B0004020202020204" pitchFamily="34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r-FR" sz="2000" dirty="0">
                <a:latin typeface="Aptos" panose="020B0004020202020204" pitchFamily="34" charset="0"/>
              </a:rPr>
              <a:t>Création de nouvelles </a:t>
            </a:r>
            <a:r>
              <a:rPr lang="fr-FR" sz="2000" dirty="0" err="1">
                <a:latin typeface="Aptos" panose="020B0004020202020204" pitchFamily="34" charset="0"/>
              </a:rPr>
              <a:t>features</a:t>
            </a:r>
            <a:endParaRPr lang="fr-FR" sz="2000" dirty="0">
              <a:latin typeface="Aptos" panose="020B0004020202020204" pitchFamily="34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r-FR" sz="2000" dirty="0">
                <a:latin typeface="Aptos" panose="020B0004020202020204" pitchFamily="34" charset="0"/>
              </a:rPr>
              <a:t>Suppression variables redondantes (</a:t>
            </a:r>
            <a:r>
              <a:rPr lang="fr-FR" sz="2000" dirty="0" err="1">
                <a:latin typeface="Aptos" panose="020B0004020202020204" pitchFamily="34" charset="0"/>
              </a:rPr>
              <a:t>corr</a:t>
            </a:r>
            <a:r>
              <a:rPr lang="fr-FR" sz="2000" dirty="0">
                <a:latin typeface="Aptos" panose="020B0004020202020204" pitchFamily="34" charset="0"/>
              </a:rPr>
              <a:t> &gt; 0.8)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r-FR" sz="2000" dirty="0">
                <a:latin typeface="Aptos" panose="020B0004020202020204" pitchFamily="34" charset="0"/>
              </a:rPr>
              <a:t>Train / Test Split (80/20)</a:t>
            </a:r>
          </a:p>
        </p:txBody>
      </p:sp>
      <p:sp>
        <p:nvSpPr>
          <p:cNvPr id="12" name="Accolade fermante 11">
            <a:extLst>
              <a:ext uri="{FF2B5EF4-FFF2-40B4-BE49-F238E27FC236}">
                <a16:creationId xmlns:a16="http://schemas.microsoft.com/office/drawing/2014/main" id="{7275CE1E-ED36-E694-3E52-D38D50F216DB}"/>
              </a:ext>
            </a:extLst>
          </p:cNvPr>
          <p:cNvSpPr/>
          <p:nvPr/>
        </p:nvSpPr>
        <p:spPr>
          <a:xfrm flipH="1">
            <a:off x="7963198" y="2035187"/>
            <a:ext cx="985542" cy="4524247"/>
          </a:xfrm>
          <a:prstGeom prst="rightBrace">
            <a:avLst>
              <a:gd name="adj1" fmla="val 32143"/>
              <a:gd name="adj2" fmla="val 50000"/>
            </a:avLst>
          </a:prstGeom>
          <a:ln w="666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7587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C5D48-1FC5-0A32-4C4C-EECEACC58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632967-CAE6-E6EE-17DA-3304CBCA7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3179137"/>
            <a:ext cx="11029616" cy="1013800"/>
          </a:xfrm>
        </p:spPr>
        <p:txBody>
          <a:bodyPr>
            <a:normAutofit/>
          </a:bodyPr>
          <a:lstStyle/>
          <a:p>
            <a:pPr algn="ctr"/>
            <a:r>
              <a:rPr lang="fr-FR" sz="6000" dirty="0">
                <a:solidFill>
                  <a:schemeClr val="tx1"/>
                </a:solidFill>
              </a:rPr>
              <a:t>Préparation des données</a:t>
            </a:r>
          </a:p>
        </p:txBody>
      </p:sp>
    </p:spTree>
    <p:extLst>
      <p:ext uri="{BB962C8B-B14F-4D97-AF65-F5344CB8AC3E}">
        <p14:creationId xmlns:p14="http://schemas.microsoft.com/office/powerpoint/2010/main" val="1960994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B871A-6B20-1A70-020B-978DE8C68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D2DA52-6ED2-6207-14B7-F51F5E5BC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defTabSz="1600200">
              <a:lnSpc>
                <a:spcPct val="90000"/>
              </a:lnSpc>
              <a:spcAft>
                <a:spcPct val="35000"/>
              </a:spcAft>
            </a:pPr>
            <a:r>
              <a:rPr lang="fr-FR" dirty="0"/>
              <a:t>Jonction des Données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FAAE93-9F46-D0FC-F0AE-7B4BFDC437E5}"/>
              </a:ext>
            </a:extLst>
          </p:cNvPr>
          <p:cNvSpPr/>
          <p:nvPr/>
        </p:nvSpPr>
        <p:spPr>
          <a:xfrm>
            <a:off x="3876550" y="2779633"/>
            <a:ext cx="3945041" cy="1345838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A852E63-D843-F726-5C58-0C3114BA8E03}"/>
              </a:ext>
            </a:extLst>
          </p:cNvPr>
          <p:cNvSpPr txBox="1"/>
          <p:nvPr/>
        </p:nvSpPr>
        <p:spPr>
          <a:xfrm>
            <a:off x="418887" y="3715949"/>
            <a:ext cx="19066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 err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eval_number</a:t>
            </a:r>
            <a:br>
              <a:rPr lang="en-US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dirty="0" err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id_employee</a:t>
            </a:r>
            <a:br>
              <a:rPr lang="en-US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dirty="0" err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code_sondage</a:t>
            </a:r>
            <a:endParaRPr lang="fr-FR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Accolade fermante 4">
            <a:extLst>
              <a:ext uri="{FF2B5EF4-FFF2-40B4-BE49-F238E27FC236}">
                <a16:creationId xmlns:a16="http://schemas.microsoft.com/office/drawing/2014/main" id="{01BF1C81-BA45-B1A3-D247-82034EE29130}"/>
              </a:ext>
            </a:extLst>
          </p:cNvPr>
          <p:cNvSpPr/>
          <p:nvPr/>
        </p:nvSpPr>
        <p:spPr>
          <a:xfrm flipH="1">
            <a:off x="4458865" y="1956700"/>
            <a:ext cx="882241" cy="4524247"/>
          </a:xfrm>
          <a:prstGeom prst="rightBrace">
            <a:avLst>
              <a:gd name="adj1" fmla="val 32143"/>
              <a:gd name="adj2" fmla="val 50000"/>
            </a:avLst>
          </a:prstGeom>
          <a:ln w="666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BE0BCA-3474-A5F3-F4D6-D63A906E3BC8}"/>
              </a:ext>
            </a:extLst>
          </p:cNvPr>
          <p:cNvSpPr txBox="1"/>
          <p:nvPr/>
        </p:nvSpPr>
        <p:spPr>
          <a:xfrm>
            <a:off x="3247622" y="3803324"/>
            <a:ext cx="10468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/>
              <a:t>ID</a:t>
            </a:r>
            <a:endParaRPr lang="fr-FR" sz="4800" dirty="0"/>
          </a:p>
        </p:txBody>
      </p:sp>
      <p:pic>
        <p:nvPicPr>
          <p:cNvPr id="8" name="Picture 4" descr="Microsoft Excel — Wikipédia">
            <a:extLst>
              <a:ext uri="{FF2B5EF4-FFF2-40B4-BE49-F238E27FC236}">
                <a16:creationId xmlns:a16="http://schemas.microsoft.com/office/drawing/2014/main" id="{472E0447-52B9-C185-4646-EB126B0D1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8291" y="3507707"/>
            <a:ext cx="791174" cy="8162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4" descr="Microsoft Excel — Wikipédia">
            <a:extLst>
              <a:ext uri="{FF2B5EF4-FFF2-40B4-BE49-F238E27FC236}">
                <a16:creationId xmlns:a16="http://schemas.microsoft.com/office/drawing/2014/main" id="{25E746B1-165C-0064-528D-CBEFCCF42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857" y="1956700"/>
            <a:ext cx="791174" cy="8162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4" descr="Microsoft Excel — Wikipédia">
            <a:extLst>
              <a:ext uri="{FF2B5EF4-FFF2-40B4-BE49-F238E27FC236}">
                <a16:creationId xmlns:a16="http://schemas.microsoft.com/office/drawing/2014/main" id="{CE7B75CD-B6AE-FE17-706D-76E85ED7C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857" y="5096911"/>
            <a:ext cx="791174" cy="8162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D3EB20A5-3FBF-AF03-3B8A-E34B24949570}"/>
              </a:ext>
            </a:extLst>
          </p:cNvPr>
          <p:cNvSpPr txBox="1"/>
          <p:nvPr/>
        </p:nvSpPr>
        <p:spPr>
          <a:xfrm>
            <a:off x="5451311" y="2974753"/>
            <a:ext cx="1646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extrait_eval.csv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4FFA27A-E068-8EDF-F942-C6DB5EB6B501}"/>
              </a:ext>
            </a:extLst>
          </p:cNvPr>
          <p:cNvSpPr txBox="1"/>
          <p:nvPr/>
        </p:nvSpPr>
        <p:spPr>
          <a:xfrm>
            <a:off x="5440531" y="4525760"/>
            <a:ext cx="1646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extrait_sirh.csv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9950FDA-57FE-35B9-FD03-EDA40A8D76BB}"/>
              </a:ext>
            </a:extLst>
          </p:cNvPr>
          <p:cNvSpPr txBox="1"/>
          <p:nvPr/>
        </p:nvSpPr>
        <p:spPr>
          <a:xfrm>
            <a:off x="5219942" y="6111615"/>
            <a:ext cx="21090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extrait_sondage.csv</a:t>
            </a:r>
          </a:p>
        </p:txBody>
      </p:sp>
      <p:sp>
        <p:nvSpPr>
          <p:cNvPr id="10" name="Accolade fermante 9">
            <a:extLst>
              <a:ext uri="{FF2B5EF4-FFF2-40B4-BE49-F238E27FC236}">
                <a16:creationId xmlns:a16="http://schemas.microsoft.com/office/drawing/2014/main" id="{BE0B4983-937F-2819-03F7-4CFCDDC260E2}"/>
              </a:ext>
            </a:extLst>
          </p:cNvPr>
          <p:cNvSpPr/>
          <p:nvPr/>
        </p:nvSpPr>
        <p:spPr>
          <a:xfrm>
            <a:off x="2472171" y="3660204"/>
            <a:ext cx="486136" cy="1117238"/>
          </a:xfrm>
          <a:prstGeom prst="rightBrace">
            <a:avLst>
              <a:gd name="adj1" fmla="val 32143"/>
              <a:gd name="adj2" fmla="val 50000"/>
            </a:avLst>
          </a:prstGeom>
          <a:ln w="666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Accolade fermante 12">
            <a:extLst>
              <a:ext uri="{FF2B5EF4-FFF2-40B4-BE49-F238E27FC236}">
                <a16:creationId xmlns:a16="http://schemas.microsoft.com/office/drawing/2014/main" id="{AEB94E49-D196-2A08-139B-87249C788876}"/>
              </a:ext>
            </a:extLst>
          </p:cNvPr>
          <p:cNvSpPr/>
          <p:nvPr/>
        </p:nvSpPr>
        <p:spPr>
          <a:xfrm>
            <a:off x="7241200" y="1990426"/>
            <a:ext cx="985542" cy="4524247"/>
          </a:xfrm>
          <a:prstGeom prst="rightBrace">
            <a:avLst>
              <a:gd name="adj1" fmla="val 32143"/>
              <a:gd name="adj2" fmla="val 50000"/>
            </a:avLst>
          </a:prstGeom>
          <a:ln w="666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50" name="Picture 2" descr="Update Details - Python: Styled DataFrame Viewer 0.12.0 | JetBrains  Marketplace">
            <a:extLst>
              <a:ext uri="{FF2B5EF4-FFF2-40B4-BE49-F238E27FC236}">
                <a16:creationId xmlns:a16="http://schemas.microsoft.com/office/drawing/2014/main" id="{7BB78091-4BC7-B781-64F3-D97DDD9DF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8009" y="2903178"/>
            <a:ext cx="2698741" cy="2698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95769421-52AF-D437-7A9B-938BC8BCB7FE}"/>
              </a:ext>
            </a:extLst>
          </p:cNvPr>
          <p:cNvSpPr txBox="1"/>
          <p:nvPr/>
        </p:nvSpPr>
        <p:spPr>
          <a:xfrm rot="16200000">
            <a:off x="9331584" y="3855009"/>
            <a:ext cx="40515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DataFrame</a:t>
            </a:r>
            <a:endParaRPr lang="fr-FR" sz="4800" dirty="0">
              <a:solidFill>
                <a:schemeClr val="tx1">
                  <a:lumMod val="65000"/>
                  <a:lumOff val="3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584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98046-2BF9-5B7C-A704-4B1650CF4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0B02E4-8809-9679-899B-CFFDD72BB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defTabSz="1600200">
              <a:lnSpc>
                <a:spcPct val="90000"/>
              </a:lnSpc>
              <a:spcAft>
                <a:spcPct val="35000"/>
              </a:spcAft>
            </a:pPr>
            <a:r>
              <a:rPr lang="fr-FR" dirty="0"/>
              <a:t>Vérification des erreurs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FF2D77-324E-B715-B171-719BB1129C12}"/>
              </a:ext>
            </a:extLst>
          </p:cNvPr>
          <p:cNvSpPr/>
          <p:nvPr/>
        </p:nvSpPr>
        <p:spPr>
          <a:xfrm>
            <a:off x="5427558" y="3069000"/>
            <a:ext cx="3945041" cy="1345838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C6EEE0F-3724-2B60-9E4D-7BA17A12791C}"/>
              </a:ext>
            </a:extLst>
          </p:cNvPr>
          <p:cNvSpPr txBox="1"/>
          <p:nvPr/>
        </p:nvSpPr>
        <p:spPr>
          <a:xfrm>
            <a:off x="2610538" y="2821762"/>
            <a:ext cx="776037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Consolas" panose="020B0609020204030204" pitchFamily="49" charset="0"/>
              </a:rPr>
              <a:t>Format invalide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Consolas" panose="020B0609020204030204" pitchFamily="49" charset="0"/>
              </a:rPr>
              <a:t>Valeurs aberrantes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Consolas" panose="020B0609020204030204" pitchFamily="49" charset="0"/>
              </a:rPr>
              <a:t>Valeurs vides ou manquantes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Consolas" panose="020B0609020204030204" pitchFamily="49" charset="0"/>
              </a:rPr>
              <a:t>Doublons dans les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Consolas" panose="020B0609020204030204" pitchFamily="49" charset="0"/>
              </a:rPr>
              <a:t>Incohérences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55430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C0450-3551-48DC-6735-C73E4BC7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772FFA-9D94-885B-5A7E-6820016E5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defTabSz="1600200">
              <a:lnSpc>
                <a:spcPct val="90000"/>
              </a:lnSpc>
              <a:spcAft>
                <a:spcPct val="35000"/>
              </a:spcAft>
            </a:pPr>
            <a:r>
              <a:rPr lang="fr-FR" dirty="0"/>
              <a:t>Colonnes Supprimées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A98176-BC8E-61C8-79C8-3A0E504CFCB1}"/>
              </a:ext>
            </a:extLst>
          </p:cNvPr>
          <p:cNvSpPr/>
          <p:nvPr/>
        </p:nvSpPr>
        <p:spPr>
          <a:xfrm>
            <a:off x="5945251" y="2183827"/>
            <a:ext cx="3945041" cy="1345838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FD5A1CC-84CF-0682-D7C6-5370FFC9E55F}"/>
              </a:ext>
            </a:extLst>
          </p:cNvPr>
          <p:cNvSpPr txBox="1"/>
          <p:nvPr/>
        </p:nvSpPr>
        <p:spPr>
          <a:xfrm>
            <a:off x="1407694" y="2908208"/>
            <a:ext cx="562761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rtl="0">
              <a:defRPr lang="fr-FR"/>
            </a:defPPr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algn="r"/>
            <a:r>
              <a:rPr lang="en-US" dirty="0" err="1"/>
              <a:t>eval_number</a:t>
            </a:r>
            <a:br>
              <a:rPr lang="en-US" dirty="0"/>
            </a:br>
            <a:r>
              <a:rPr lang="en-US" dirty="0" err="1"/>
              <a:t>id_employee</a:t>
            </a:r>
            <a:br>
              <a:rPr lang="en-US" dirty="0"/>
            </a:br>
            <a:r>
              <a:rPr lang="en-US" dirty="0" err="1"/>
              <a:t>code_sondage</a:t>
            </a:r>
            <a:endParaRPr lang="fr-FR" dirty="0"/>
          </a:p>
          <a:p>
            <a:pPr algn="r"/>
            <a:endParaRPr lang="fr-FR" dirty="0"/>
          </a:p>
          <a:p>
            <a:pPr algn="r"/>
            <a:endParaRPr lang="fr-FR" dirty="0"/>
          </a:p>
          <a:p>
            <a:pPr algn="r"/>
            <a:r>
              <a:rPr lang="fr-FR" dirty="0" err="1"/>
              <a:t>nombre_heures_travailless</a:t>
            </a:r>
            <a:r>
              <a:rPr lang="fr-FR" dirty="0"/>
              <a:t> = 80</a:t>
            </a:r>
            <a:br>
              <a:rPr lang="fr-FR" dirty="0"/>
            </a:br>
            <a:r>
              <a:rPr lang="fr-FR" dirty="0" err="1"/>
              <a:t>nombre_employee_sous_responsabilite</a:t>
            </a:r>
            <a:r>
              <a:rPr lang="fr-FR" dirty="0"/>
              <a:t> = 1</a:t>
            </a:r>
          </a:p>
          <a:p>
            <a:pPr algn="r"/>
            <a:r>
              <a:rPr lang="fr-FR" dirty="0" err="1"/>
              <a:t>ayant_enfants</a:t>
            </a:r>
            <a:r>
              <a:rPr lang="fr-FR" dirty="0"/>
              <a:t> = Y</a:t>
            </a:r>
          </a:p>
          <a:p>
            <a:pPr algn="r"/>
            <a:endParaRPr lang="fr-FR" dirty="0"/>
          </a:p>
        </p:txBody>
      </p:sp>
      <p:sp>
        <p:nvSpPr>
          <p:cNvPr id="5" name="Accolade fermante 4">
            <a:extLst>
              <a:ext uri="{FF2B5EF4-FFF2-40B4-BE49-F238E27FC236}">
                <a16:creationId xmlns:a16="http://schemas.microsoft.com/office/drawing/2014/main" id="{000FC64B-A81C-4EA5-8530-3A5CAFD4D9E8}"/>
              </a:ext>
            </a:extLst>
          </p:cNvPr>
          <p:cNvSpPr/>
          <p:nvPr/>
        </p:nvSpPr>
        <p:spPr>
          <a:xfrm>
            <a:off x="7149018" y="2767264"/>
            <a:ext cx="486136" cy="2585323"/>
          </a:xfrm>
          <a:prstGeom prst="rightBrace">
            <a:avLst>
              <a:gd name="adj1" fmla="val 32143"/>
              <a:gd name="adj2" fmla="val 50000"/>
            </a:avLst>
          </a:prstGeom>
          <a:ln w="666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6" name="Picture 2" descr="Croix Rouge Stock Illustrations, Vecteurs, &amp; Clipart – (106,646 Stock  Illustrations)">
            <a:extLst>
              <a:ext uri="{FF2B5EF4-FFF2-40B4-BE49-F238E27FC236}">
                <a16:creationId xmlns:a16="http://schemas.microsoft.com/office/drawing/2014/main" id="{562EC9F6-5BDE-823D-343B-C3679BF5A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838" y="3206544"/>
            <a:ext cx="1762251" cy="176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ccolade fermante 2">
            <a:extLst>
              <a:ext uri="{FF2B5EF4-FFF2-40B4-BE49-F238E27FC236}">
                <a16:creationId xmlns:a16="http://schemas.microsoft.com/office/drawing/2014/main" id="{D77CE9DC-3B42-F886-D2E5-05702904BC34}"/>
              </a:ext>
            </a:extLst>
          </p:cNvPr>
          <p:cNvSpPr/>
          <p:nvPr/>
        </p:nvSpPr>
        <p:spPr>
          <a:xfrm flipH="1">
            <a:off x="4625648" y="3011233"/>
            <a:ext cx="492887" cy="830997"/>
          </a:xfrm>
          <a:prstGeom prst="rightBrace">
            <a:avLst>
              <a:gd name="adj1" fmla="val 32143"/>
              <a:gd name="adj2" fmla="val 50000"/>
            </a:avLst>
          </a:prstGeom>
          <a:ln w="666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2E0D2C3-FE54-96EA-C3B2-4F3F0DCC56E9}"/>
              </a:ext>
            </a:extLst>
          </p:cNvPr>
          <p:cNvSpPr txBox="1"/>
          <p:nvPr/>
        </p:nvSpPr>
        <p:spPr>
          <a:xfrm>
            <a:off x="3578812" y="3011233"/>
            <a:ext cx="10468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/>
              <a:t>ID</a:t>
            </a:r>
            <a:endParaRPr lang="fr-FR" sz="4800" dirty="0"/>
          </a:p>
        </p:txBody>
      </p:sp>
    </p:spTree>
    <p:extLst>
      <p:ext uri="{BB962C8B-B14F-4D97-AF65-F5344CB8AC3E}">
        <p14:creationId xmlns:p14="http://schemas.microsoft.com/office/powerpoint/2010/main" val="2158656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FB21C-D768-766F-9D9C-DC2D650A0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BB5EB7-CEEE-149A-1D47-CA6A1A6DE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3213862"/>
            <a:ext cx="11029616" cy="1013800"/>
          </a:xfrm>
        </p:spPr>
        <p:txBody>
          <a:bodyPr>
            <a:normAutofit/>
          </a:bodyPr>
          <a:lstStyle/>
          <a:p>
            <a:pPr algn="ctr"/>
            <a:r>
              <a:rPr lang="fr-FR" sz="6000" dirty="0">
                <a:solidFill>
                  <a:schemeClr val="tx1"/>
                </a:solidFill>
              </a:rPr>
              <a:t>Exploration des données</a:t>
            </a:r>
          </a:p>
        </p:txBody>
      </p:sp>
    </p:spTree>
    <p:extLst>
      <p:ext uri="{BB962C8B-B14F-4D97-AF65-F5344CB8AC3E}">
        <p14:creationId xmlns:p14="http://schemas.microsoft.com/office/powerpoint/2010/main" val="289806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BF741-6637-02A5-2AC2-3680284CB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841F55-2D68-2F89-4FCA-D4DE6B084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defTabSz="1600200">
              <a:lnSpc>
                <a:spcPct val="90000"/>
              </a:lnSpc>
              <a:spcAft>
                <a:spcPct val="35000"/>
              </a:spcAft>
            </a:pPr>
            <a:r>
              <a:rPr lang="fr-FR" dirty="0"/>
              <a:t>Vérification des </a:t>
            </a:r>
            <a:r>
              <a:rPr lang="fr-FR" dirty="0" err="1"/>
              <a:t>outliers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E1D330-6C53-60F1-EBA8-46C7686C06BD}"/>
              </a:ext>
            </a:extLst>
          </p:cNvPr>
          <p:cNvSpPr/>
          <p:nvPr/>
        </p:nvSpPr>
        <p:spPr>
          <a:xfrm>
            <a:off x="5064338" y="3107100"/>
            <a:ext cx="3945041" cy="1345838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AF6B27F-0949-000D-09C3-D3A66FEA1E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25" r="66049"/>
          <a:stretch>
            <a:fillRect/>
          </a:stretch>
        </p:blipFill>
        <p:spPr>
          <a:xfrm>
            <a:off x="618973" y="2110783"/>
            <a:ext cx="2124227" cy="427471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AC6146A-43ED-EDC9-1BD6-29D778AF8EF7}"/>
              </a:ext>
            </a:extLst>
          </p:cNvPr>
          <p:cNvSpPr txBox="1"/>
          <p:nvPr/>
        </p:nvSpPr>
        <p:spPr>
          <a:xfrm rot="16200000">
            <a:off x="10528153" y="3920757"/>
            <a:ext cx="1879331" cy="56324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0" anchor="t" anchorCtr="0">
            <a:noAutofit/>
          </a:bodyPr>
          <a:lstStyle/>
          <a:p>
            <a:pPr marL="0" lvl="0" indent="0" algn="ctr" defTabSz="16002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3600" kern="1200" noProof="0" dirty="0">
                <a:solidFill>
                  <a:schemeClr val="tx1"/>
                </a:solidFill>
              </a:rPr>
              <a:t>SIRH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93CBA4B-E563-F937-0596-B21681D710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4" t="823"/>
          <a:stretch>
            <a:fillRect/>
          </a:stretch>
        </p:blipFill>
        <p:spPr>
          <a:xfrm>
            <a:off x="2743200" y="4009673"/>
            <a:ext cx="7598458" cy="2375825"/>
          </a:xfrm>
          <a:prstGeom prst="rect">
            <a:avLst/>
          </a:prstGeom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662DB05B-D02A-A458-495D-39F31D1F4DE7}"/>
              </a:ext>
            </a:extLst>
          </p:cNvPr>
          <p:cNvSpPr txBox="1">
            <a:spLocks/>
          </p:cNvSpPr>
          <p:nvPr/>
        </p:nvSpPr>
        <p:spPr>
          <a:xfrm>
            <a:off x="2805475" y="2314673"/>
            <a:ext cx="3649846" cy="79242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4800" cap="none" dirty="0">
                <a:solidFill>
                  <a:srgbClr val="FF0000"/>
                </a:solidFill>
              </a:rPr>
              <a:t>5% &gt; 17,821€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B38E7912-8B3C-328D-F40B-F55D2FC191CC}"/>
              </a:ext>
            </a:extLst>
          </p:cNvPr>
          <p:cNvCxnSpPr/>
          <p:nvPr/>
        </p:nvCxnSpPr>
        <p:spPr>
          <a:xfrm>
            <a:off x="976313" y="3567113"/>
            <a:ext cx="1540791" cy="0"/>
          </a:xfrm>
          <a:prstGeom prst="line">
            <a:avLst/>
          </a:prstGeom>
          <a:ln w="889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>
            <a:extLst>
              <a:ext uri="{FF2B5EF4-FFF2-40B4-BE49-F238E27FC236}">
                <a16:creationId xmlns:a16="http://schemas.microsoft.com/office/drawing/2014/main" id="{ABB0244B-D360-7A5B-8321-6825E75C4D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417" y="2046897"/>
            <a:ext cx="3400900" cy="22482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55F62BD-6E78-AF27-1B3E-BA7049A1A79F}"/>
              </a:ext>
            </a:extLst>
          </p:cNvPr>
          <p:cNvSpPr/>
          <p:nvPr/>
        </p:nvSpPr>
        <p:spPr>
          <a:xfrm>
            <a:off x="6782988" y="3849505"/>
            <a:ext cx="2226391" cy="217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681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3988E-F2E4-DAAE-4BB0-85D7483B3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1D4F3F-36DC-510B-732C-F88EA53F6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defTabSz="1600200">
              <a:lnSpc>
                <a:spcPct val="90000"/>
              </a:lnSpc>
              <a:spcAft>
                <a:spcPct val="35000"/>
              </a:spcAft>
            </a:pPr>
            <a:r>
              <a:rPr lang="fr-FR" dirty="0"/>
              <a:t>Vérification des </a:t>
            </a:r>
            <a:r>
              <a:rPr lang="fr-FR" dirty="0" err="1"/>
              <a:t>outliers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5313E85-4EF6-9A53-6583-8DA80EEDF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91" y="2130133"/>
            <a:ext cx="5043973" cy="454739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FDA87BCE-3845-F370-5970-1F895B936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2474" y="2130133"/>
            <a:ext cx="4996203" cy="454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731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D91BC-2A87-779E-5258-A9E8BD4A1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 28">
            <a:extLst>
              <a:ext uri="{FF2B5EF4-FFF2-40B4-BE49-F238E27FC236}">
                <a16:creationId xmlns:a16="http://schemas.microsoft.com/office/drawing/2014/main" id="{EA4F88AF-2AF3-7515-EBBA-ACD303DCAD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B30508F-D7DF-F9AD-6E2B-B67CD4D31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61FF514C-3589-53E0-58F5-7F90B18B28D6}"/>
              </a:ext>
            </a:extLst>
          </p:cNvPr>
          <p:cNvSpPr txBox="1">
            <a:spLocks/>
          </p:cNvSpPr>
          <p:nvPr/>
        </p:nvSpPr>
        <p:spPr>
          <a:xfrm>
            <a:off x="5645059" y="1790769"/>
            <a:ext cx="5184866" cy="142722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4800" cap="none" dirty="0">
                <a:solidFill>
                  <a:srgbClr val="FF0000"/>
                </a:solidFill>
              </a:rPr>
              <a:t>Les postes les plus concernés (#)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AC1AEB7-D60E-5E65-96CE-B822593C1567}"/>
              </a:ext>
            </a:extLst>
          </p:cNvPr>
          <p:cNvSpPr txBox="1"/>
          <p:nvPr/>
        </p:nvSpPr>
        <p:spPr>
          <a:xfrm>
            <a:off x="5645059" y="832348"/>
            <a:ext cx="5336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cap="none" dirty="0"/>
              <a:t>Exploration : Postes / Démissions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FC2BB6D-6F45-8FDB-F8B4-D3F38F116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19" y="832348"/>
            <a:ext cx="4721048" cy="505410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3BF1530-101B-6541-E18B-139A09D9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5307488"/>
            <a:ext cx="11029616" cy="1013800"/>
          </a:xfrm>
        </p:spPr>
        <p:txBody>
          <a:bodyPr/>
          <a:lstStyle/>
          <a:p>
            <a:pPr algn="r"/>
            <a:r>
              <a:rPr lang="fr-FR" dirty="0"/>
              <a:t>Distribution des données</a:t>
            </a:r>
          </a:p>
        </p:txBody>
      </p:sp>
    </p:spTree>
    <p:extLst>
      <p:ext uri="{BB962C8B-B14F-4D97-AF65-F5344CB8AC3E}">
        <p14:creationId xmlns:p14="http://schemas.microsoft.com/office/powerpoint/2010/main" val="3872737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5EA74-7877-D349-11D4-66B615A71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 28">
            <a:extLst>
              <a:ext uri="{FF2B5EF4-FFF2-40B4-BE49-F238E27FC236}">
                <a16:creationId xmlns:a16="http://schemas.microsoft.com/office/drawing/2014/main" id="{982FE038-CFB1-ED4A-3CB1-2AE6662F8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32C299-DC8C-0AC7-814D-1A9F4E02A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882B95FA-0BC6-96E7-DC16-92602E674F20}"/>
              </a:ext>
            </a:extLst>
          </p:cNvPr>
          <p:cNvSpPr txBox="1">
            <a:spLocks/>
          </p:cNvSpPr>
          <p:nvPr/>
        </p:nvSpPr>
        <p:spPr>
          <a:xfrm>
            <a:off x="6093247" y="1901763"/>
            <a:ext cx="4493418" cy="142722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4800" cap="none" dirty="0">
                <a:solidFill>
                  <a:srgbClr val="FF0000"/>
                </a:solidFill>
              </a:rPr>
              <a:t>Les postes les plus concernés (%)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F6E3307-6BEA-222D-895C-104BF22C4172}"/>
              </a:ext>
            </a:extLst>
          </p:cNvPr>
          <p:cNvSpPr txBox="1"/>
          <p:nvPr/>
        </p:nvSpPr>
        <p:spPr>
          <a:xfrm>
            <a:off x="6093246" y="943342"/>
            <a:ext cx="5284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cap="none" dirty="0"/>
              <a:t>Exploration : </a:t>
            </a:r>
            <a:r>
              <a:rPr lang="fr-FR" sz="2400" dirty="0"/>
              <a:t>Postes / Démissions</a:t>
            </a:r>
            <a:r>
              <a:rPr lang="fr-FR" sz="2400" cap="none" dirty="0"/>
              <a:t>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07C98D7-2794-EAD3-534B-382F19995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97" y="710728"/>
            <a:ext cx="5172015" cy="543654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1D67233-15F8-A806-2283-DD8262B7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5307488"/>
            <a:ext cx="11029616" cy="1013800"/>
          </a:xfrm>
        </p:spPr>
        <p:txBody>
          <a:bodyPr/>
          <a:lstStyle/>
          <a:p>
            <a:pPr algn="r"/>
            <a:r>
              <a:rPr lang="fr-FR" dirty="0"/>
              <a:t>Distribution des données</a:t>
            </a:r>
          </a:p>
        </p:txBody>
      </p:sp>
    </p:spTree>
    <p:extLst>
      <p:ext uri="{BB962C8B-B14F-4D97-AF65-F5344CB8AC3E}">
        <p14:creationId xmlns:p14="http://schemas.microsoft.com/office/powerpoint/2010/main" val="399012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513E50-1BEE-2F27-4373-6A5ED599C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 28">
            <a:extLst>
              <a:ext uri="{FF2B5EF4-FFF2-40B4-BE49-F238E27FC236}">
                <a16:creationId xmlns:a16="http://schemas.microsoft.com/office/drawing/2014/main" id="{7693503A-19BC-B6DF-4472-97D4A7CD7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73C457-865C-F62F-F763-C67A22BF5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D702B5F-8A1F-06F5-79F7-6D50EA3AC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1" y="712136"/>
            <a:ext cx="8621138" cy="534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97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0F519-B560-056C-F452-36FC94728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 28">
            <a:extLst>
              <a:ext uri="{FF2B5EF4-FFF2-40B4-BE49-F238E27FC236}">
                <a16:creationId xmlns:a16="http://schemas.microsoft.com/office/drawing/2014/main" id="{9B033948-FCAD-213F-153E-3FDB75757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B1952E-FA5F-CB65-BFCC-27ABE7429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A62345E8-256A-0FAE-D7DA-9F21B91E572D}"/>
              </a:ext>
            </a:extLst>
          </p:cNvPr>
          <p:cNvSpPr txBox="1">
            <a:spLocks/>
          </p:cNvSpPr>
          <p:nvPr/>
        </p:nvSpPr>
        <p:spPr>
          <a:xfrm>
            <a:off x="7364816" y="2001776"/>
            <a:ext cx="4493418" cy="1427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4800" cap="none" dirty="0">
                <a:solidFill>
                  <a:srgbClr val="FF0000"/>
                </a:solidFill>
              </a:rPr>
              <a:t>Salaires / Poste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92CB732-6464-0024-4591-47B4BDD1D3D3}"/>
              </a:ext>
            </a:extLst>
          </p:cNvPr>
          <p:cNvSpPr txBox="1"/>
          <p:nvPr/>
        </p:nvSpPr>
        <p:spPr>
          <a:xfrm>
            <a:off x="7364816" y="1043355"/>
            <a:ext cx="4284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cap="none" dirty="0"/>
              <a:t>Exploration : Corrélations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D1B9221-AA44-2678-6E37-5A1F33965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04" y="738006"/>
            <a:ext cx="6446163" cy="529240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95879BE-FB13-471B-45F7-3E377AFFA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0" y="5307488"/>
            <a:ext cx="11029616" cy="1013800"/>
          </a:xfrm>
        </p:spPr>
        <p:txBody>
          <a:bodyPr/>
          <a:lstStyle/>
          <a:p>
            <a:pPr algn="r"/>
            <a:r>
              <a:rPr lang="fr-FR" dirty="0"/>
              <a:t>Répartition des Valeurs</a:t>
            </a:r>
          </a:p>
        </p:txBody>
      </p:sp>
    </p:spTree>
    <p:extLst>
      <p:ext uri="{BB962C8B-B14F-4D97-AF65-F5344CB8AC3E}">
        <p14:creationId xmlns:p14="http://schemas.microsoft.com/office/powerpoint/2010/main" val="1502530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F0C515-52D5-B341-1FF8-299612386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 28">
            <a:extLst>
              <a:ext uri="{FF2B5EF4-FFF2-40B4-BE49-F238E27FC236}">
                <a16:creationId xmlns:a16="http://schemas.microsoft.com/office/drawing/2014/main" id="{6B120996-928B-44B2-D4F1-7360F2D35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A4F233-6539-F741-3BDA-E73898352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CEF92B0-E3EA-4C2F-B6F3-E66A33841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230" y="633022"/>
            <a:ext cx="9421540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61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2F4D1F-C5C1-A6B0-16FD-EB21E48CE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 28">
            <a:extLst>
              <a:ext uri="{FF2B5EF4-FFF2-40B4-BE49-F238E27FC236}">
                <a16:creationId xmlns:a16="http://schemas.microsoft.com/office/drawing/2014/main" id="{92A2A31B-3307-B3E1-47A4-366A2F55C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0B97D9-3116-945C-2F35-00A146E6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F49EBF9-1153-EFE4-BEC4-52DDC21899BD}"/>
              </a:ext>
            </a:extLst>
          </p:cNvPr>
          <p:cNvSpPr txBox="1"/>
          <p:nvPr/>
        </p:nvSpPr>
        <p:spPr>
          <a:xfrm>
            <a:off x="720524" y="5722178"/>
            <a:ext cx="10414322" cy="358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sz="4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Résumé : Ce qui est informationnel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6F005866-F32E-86A0-D5B5-FFEF2553915D}"/>
              </a:ext>
            </a:extLst>
          </p:cNvPr>
          <p:cNvGrpSpPr/>
          <p:nvPr/>
        </p:nvGrpSpPr>
        <p:grpSpPr>
          <a:xfrm>
            <a:off x="570053" y="1046054"/>
            <a:ext cx="9983164" cy="646331"/>
            <a:chOff x="570053" y="1046054"/>
            <a:chExt cx="9983164" cy="646331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3D6DB1AB-A9B0-FE13-262C-74D1AAA5481B}"/>
                </a:ext>
              </a:extLst>
            </p:cNvPr>
            <p:cNvSpPr txBox="1"/>
            <p:nvPr/>
          </p:nvSpPr>
          <p:spPr>
            <a:xfrm>
              <a:off x="4459147" y="1046054"/>
              <a:ext cx="6094070" cy="4658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rtl="0">
                <a:defRPr lang="fr-FR"/>
              </a:defPPr>
              <a:lvl1pPr>
                <a:spcAft>
                  <a:spcPts val="600"/>
                </a:spcAft>
                <a:buNone/>
                <a:defRPr>
                  <a:solidFill>
                    <a:srgbClr val="8B949E"/>
                  </a:solidFill>
                  <a:latin typeface="Aptos Display" panose="020B0004020202020204" pitchFamily="34" charset="0"/>
                </a:defRPr>
              </a:lvl1pPr>
            </a:lstStyle>
            <a:p>
              <a:pPr algn="just"/>
              <a:r>
                <a:rPr lang="fr-FR" dirty="0"/>
                <a:t>Plus la note d’évaluation précédente est basse, plus le risque de départ est élevé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75074E18-6AAA-D8FE-2D72-0D03DEB0C6FF}"/>
                </a:ext>
              </a:extLst>
            </p:cNvPr>
            <p:cNvSpPr txBox="1"/>
            <p:nvPr/>
          </p:nvSpPr>
          <p:spPr>
            <a:xfrm>
              <a:off x="570053" y="1135822"/>
              <a:ext cx="3538960" cy="286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fr-FR" b="0" dirty="0" err="1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note_evaluation_precedente</a:t>
              </a:r>
              <a:endParaRPr lang="fr-F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F4687695-3E2B-0C2F-B77E-61B40E60B899}"/>
              </a:ext>
            </a:extLst>
          </p:cNvPr>
          <p:cNvGrpSpPr/>
          <p:nvPr/>
        </p:nvGrpSpPr>
        <p:grpSpPr>
          <a:xfrm>
            <a:off x="570053" y="3175224"/>
            <a:ext cx="9983164" cy="723275"/>
            <a:chOff x="570053" y="1046054"/>
            <a:chExt cx="9983164" cy="723275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54E8E62A-CBEE-BA1D-035D-024EAF15873E}"/>
                </a:ext>
              </a:extLst>
            </p:cNvPr>
            <p:cNvSpPr txBox="1"/>
            <p:nvPr/>
          </p:nvSpPr>
          <p:spPr>
            <a:xfrm>
              <a:off x="4459147" y="1046054"/>
              <a:ext cx="6094070" cy="7232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spcAft>
                  <a:spcPts val="600"/>
                </a:spcAft>
                <a:buNone/>
              </a:pPr>
              <a:r>
                <a:rPr lang="fr-FR" dirty="0">
                  <a:solidFill>
                    <a:srgbClr val="8B949E"/>
                  </a:solidFill>
                  <a:latin typeface="Aptos Display" panose="020B0004020202020204" pitchFamily="34" charset="0"/>
                </a:rPr>
                <a:t>Les postes les plus touchés sont dans l’ordre:</a:t>
              </a:r>
            </a:p>
            <a:p>
              <a:pPr algn="just">
                <a:spcAft>
                  <a:spcPts val="600"/>
                </a:spcAft>
                <a:buNone/>
              </a:pPr>
              <a:r>
                <a:rPr lang="fr-FR" dirty="0">
                  <a:solidFill>
                    <a:srgbClr val="8B949E"/>
                  </a:solidFill>
                  <a:latin typeface="Aptos Display" panose="020B0004020202020204" pitchFamily="34" charset="0"/>
                </a:rPr>
                <a:t>Représentant Commercial &gt; Consultant &gt; Ressource Humaines</a:t>
              </a:r>
              <a:endParaRPr lang="fr-FR" dirty="0">
                <a:solidFill>
                  <a:srgbClr val="BBBEBF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8547F30A-EC56-2953-8C3F-FCCA25C275D3}"/>
                </a:ext>
              </a:extLst>
            </p:cNvPr>
            <p:cNvSpPr txBox="1"/>
            <p:nvPr/>
          </p:nvSpPr>
          <p:spPr>
            <a:xfrm>
              <a:off x="570053" y="1135822"/>
              <a:ext cx="3538960" cy="286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fr-FR" dirty="0">
                  <a:solidFill>
                    <a:srgbClr val="A5D6FF"/>
                  </a:solidFill>
                  <a:latin typeface="Consolas" panose="020B0609020204030204" pitchFamily="49" charset="0"/>
                </a:rPr>
                <a:t>poste</a:t>
              </a: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3F785AAD-8EB7-16F2-48D8-01987803A361}"/>
              </a:ext>
            </a:extLst>
          </p:cNvPr>
          <p:cNvGrpSpPr/>
          <p:nvPr/>
        </p:nvGrpSpPr>
        <p:grpSpPr>
          <a:xfrm>
            <a:off x="570053" y="2110639"/>
            <a:ext cx="9983164" cy="376128"/>
            <a:chOff x="570053" y="1046054"/>
            <a:chExt cx="9983164" cy="376128"/>
          </a:xfrm>
        </p:grpSpPr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84B171F4-F09E-A4B6-CE72-0339ACBFDB3E}"/>
                </a:ext>
              </a:extLst>
            </p:cNvPr>
            <p:cNvSpPr txBox="1"/>
            <p:nvPr/>
          </p:nvSpPr>
          <p:spPr>
            <a:xfrm>
              <a:off x="4459147" y="1046054"/>
              <a:ext cx="6094070" cy="4658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rtl="0">
                <a:defRPr lang="fr-FR"/>
              </a:defPPr>
              <a:lvl1pPr>
                <a:spcAft>
                  <a:spcPts val="600"/>
                </a:spcAft>
                <a:buNone/>
                <a:defRPr>
                  <a:solidFill>
                    <a:srgbClr val="8B949E"/>
                  </a:solidFill>
                  <a:latin typeface="Aptos Display" panose="020B0004020202020204" pitchFamily="34" charset="0"/>
                </a:defRPr>
              </a:lvl1pPr>
            </a:lstStyle>
            <a:p>
              <a:pPr algn="just"/>
              <a:r>
                <a:rPr lang="fr-FR" dirty="0"/>
                <a:t>Plus le salaire est bas, plus le risque de départ est élevé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BEB75898-5F78-B950-1197-46B00326D239}"/>
                </a:ext>
              </a:extLst>
            </p:cNvPr>
            <p:cNvSpPr txBox="1"/>
            <p:nvPr/>
          </p:nvSpPr>
          <p:spPr>
            <a:xfrm>
              <a:off x="570053" y="1135822"/>
              <a:ext cx="3538960" cy="286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fr-FR" b="0" dirty="0" err="1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revenu_mensuel</a:t>
              </a:r>
              <a:endParaRPr lang="fr-F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5818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079C7-CAAC-ABA0-9C2E-292B1B88B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 28">
            <a:extLst>
              <a:ext uri="{FF2B5EF4-FFF2-40B4-BE49-F238E27FC236}">
                <a16:creationId xmlns:a16="http://schemas.microsoft.com/office/drawing/2014/main" id="{6C0E10E6-18DF-DA30-FA4F-765014E1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67DC30-6603-D6A9-AF6D-26E7F7344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A91C777-3DBC-B352-545E-C3A82B420110}"/>
              </a:ext>
            </a:extLst>
          </p:cNvPr>
          <p:cNvSpPr txBox="1"/>
          <p:nvPr/>
        </p:nvSpPr>
        <p:spPr>
          <a:xfrm>
            <a:off x="720524" y="5722178"/>
            <a:ext cx="10414322" cy="345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sz="36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Résumé : Ce qui n’est pas informationnel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09A90A57-6F55-27EA-233A-ABDE34D39E63}"/>
              </a:ext>
            </a:extLst>
          </p:cNvPr>
          <p:cNvGrpSpPr/>
          <p:nvPr/>
        </p:nvGrpSpPr>
        <p:grpSpPr>
          <a:xfrm>
            <a:off x="570053" y="1046054"/>
            <a:ext cx="9983164" cy="376128"/>
            <a:chOff x="570053" y="1046054"/>
            <a:chExt cx="9983164" cy="376128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DC079311-C1CF-A116-2FCA-169246764427}"/>
                </a:ext>
              </a:extLst>
            </p:cNvPr>
            <p:cNvSpPr txBox="1"/>
            <p:nvPr/>
          </p:nvSpPr>
          <p:spPr>
            <a:xfrm>
              <a:off x="4459147" y="1046054"/>
              <a:ext cx="609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rtl="0">
                <a:defRPr lang="fr-FR"/>
              </a:defPPr>
              <a:lvl1pPr>
                <a:spcAft>
                  <a:spcPts val="600"/>
                </a:spcAft>
                <a:buNone/>
                <a:defRPr>
                  <a:solidFill>
                    <a:srgbClr val="8B949E"/>
                  </a:solidFill>
                  <a:latin typeface="Aptos Display" panose="020B0004020202020204" pitchFamily="34" charset="0"/>
                </a:defRPr>
              </a:lvl1pPr>
            </a:lstStyle>
            <a:p>
              <a:pPr algn="just"/>
              <a:r>
                <a:rPr lang="fr-FR" dirty="0"/>
                <a:t>Ne joue quasiment aucun rôle dans le départ (:= 3 ou 4)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6BBE3F4F-EA87-FE89-67BD-85B0370E261C}"/>
                </a:ext>
              </a:extLst>
            </p:cNvPr>
            <p:cNvSpPr txBox="1"/>
            <p:nvPr/>
          </p:nvSpPr>
          <p:spPr>
            <a:xfrm>
              <a:off x="570053" y="1135822"/>
              <a:ext cx="3538960" cy="286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fr-FR" b="0" dirty="0" err="1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note_evaluation_actuelle</a:t>
              </a:r>
              <a:endParaRPr lang="fr-F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3083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30221-61E4-AC57-328E-5EA5E6AB0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0140A4-BA1D-0E26-385C-9397C6B65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3213862"/>
            <a:ext cx="11029616" cy="1013800"/>
          </a:xfrm>
        </p:spPr>
        <p:txBody>
          <a:bodyPr>
            <a:normAutofit/>
          </a:bodyPr>
          <a:lstStyle/>
          <a:p>
            <a:pPr algn="ctr"/>
            <a:r>
              <a:rPr lang="fr-FR" sz="6000" dirty="0">
                <a:solidFill>
                  <a:schemeClr val="tx1"/>
                </a:solidFill>
              </a:rPr>
              <a:t>MODELISATION</a:t>
            </a:r>
          </a:p>
        </p:txBody>
      </p:sp>
    </p:spTree>
    <p:extLst>
      <p:ext uri="{BB962C8B-B14F-4D97-AF65-F5344CB8AC3E}">
        <p14:creationId xmlns:p14="http://schemas.microsoft.com/office/powerpoint/2010/main" val="2363152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AA5AE-DB34-F3A1-A66B-1E447C178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CDB381B-A893-3C1E-2875-08AE6CA4E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Modèles</a:t>
            </a:r>
            <a:br>
              <a:rPr lang="fr-FR" dirty="0"/>
            </a:b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232812D-146C-DD71-28AC-9A2687D1AF94}"/>
              </a:ext>
            </a:extLst>
          </p:cNvPr>
          <p:cNvSpPr txBox="1"/>
          <p:nvPr/>
        </p:nvSpPr>
        <p:spPr>
          <a:xfrm>
            <a:off x="714576" y="3029319"/>
            <a:ext cx="11477424" cy="221070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0" anchor="t" anchorCtr="0">
            <a:noAutofit/>
          </a:bodyPr>
          <a:lstStyle/>
          <a:p>
            <a:pPr marL="571500" lvl="0" indent="-571500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fr-FR" sz="3600" dirty="0" err="1">
                <a:latin typeface="Aptos" panose="020B0004020202020204" pitchFamily="34" charset="0"/>
              </a:rPr>
              <a:t>Dummy</a:t>
            </a:r>
            <a:r>
              <a:rPr lang="fr-FR" sz="3600" dirty="0">
                <a:latin typeface="Aptos" panose="020B0004020202020204" pitchFamily="34" charset="0"/>
              </a:rPr>
              <a:t> (</a:t>
            </a:r>
            <a:r>
              <a:rPr lang="fr-FR" sz="3600" dirty="0" err="1">
                <a:latin typeface="Aptos" panose="020B0004020202020204" pitchFamily="34" charset="0"/>
              </a:rPr>
              <a:t>DummyClassifier</a:t>
            </a:r>
            <a:r>
              <a:rPr lang="fr-FR" sz="3600" dirty="0">
                <a:latin typeface="Aptos" panose="020B0004020202020204" pitchFamily="34" charset="0"/>
              </a:rPr>
              <a:t>)</a:t>
            </a:r>
          </a:p>
          <a:p>
            <a:pPr marL="571500" lvl="0" indent="-571500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fr-FR" sz="3600" kern="1200" noProof="0" dirty="0">
                <a:latin typeface="Aptos" panose="020B0004020202020204" pitchFamily="34" charset="0"/>
              </a:rPr>
              <a:t>Linéaire (</a:t>
            </a:r>
            <a:r>
              <a:rPr lang="fr-FR" sz="3600" kern="1200" noProof="0" dirty="0" err="1">
                <a:latin typeface="Aptos" panose="020B0004020202020204" pitchFamily="34" charset="0"/>
              </a:rPr>
              <a:t>Logistic</a:t>
            </a:r>
            <a:r>
              <a:rPr lang="fr-FR" sz="3600" kern="1200" noProof="0" dirty="0">
                <a:latin typeface="Aptos" panose="020B0004020202020204" pitchFamily="34" charset="0"/>
              </a:rPr>
              <a:t> </a:t>
            </a:r>
            <a:r>
              <a:rPr lang="fr-FR" sz="3600" kern="1200" noProof="0" dirty="0" err="1">
                <a:latin typeface="Aptos" panose="020B0004020202020204" pitchFamily="34" charset="0"/>
              </a:rPr>
              <a:t>Regression</a:t>
            </a:r>
            <a:r>
              <a:rPr lang="fr-FR" sz="3600" kern="1200" noProof="0" dirty="0">
                <a:latin typeface="Aptos" panose="020B0004020202020204" pitchFamily="34" charset="0"/>
              </a:rPr>
              <a:t>)</a:t>
            </a:r>
          </a:p>
          <a:p>
            <a:pPr marL="571500" lvl="0" indent="-571500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fr-FR" sz="3600" kern="1200" noProof="0" dirty="0">
                <a:latin typeface="Aptos" panose="020B0004020202020204" pitchFamily="34" charset="0"/>
              </a:rPr>
              <a:t>Non-Linéaire (</a:t>
            </a:r>
            <a:r>
              <a:rPr lang="fr-FR" sz="3600" kern="1200" noProof="0" dirty="0" err="1">
                <a:latin typeface="Aptos" panose="020B0004020202020204" pitchFamily="34" charset="0"/>
              </a:rPr>
              <a:t>XG</a:t>
            </a:r>
            <a:r>
              <a:rPr lang="fr-FR" sz="3600" dirty="0" err="1">
                <a:latin typeface="Aptos" panose="020B0004020202020204" pitchFamily="34" charset="0"/>
              </a:rPr>
              <a:t>Boost</a:t>
            </a:r>
            <a:r>
              <a:rPr lang="fr-FR" sz="3600" dirty="0">
                <a:latin typeface="Aptos" panose="020B0004020202020204" pitchFamily="34" charset="0"/>
              </a:rPr>
              <a:t>, </a:t>
            </a:r>
            <a:r>
              <a:rPr lang="fr-FR" sz="3600" dirty="0" err="1">
                <a:latin typeface="Aptos" panose="020B0004020202020204" pitchFamily="34" charset="0"/>
              </a:rPr>
              <a:t>RandomForest</a:t>
            </a:r>
            <a:r>
              <a:rPr lang="fr-FR" sz="3600" dirty="0">
                <a:latin typeface="Aptos" panose="020B0004020202020204" pitchFamily="34" charset="0"/>
              </a:rPr>
              <a:t>, </a:t>
            </a:r>
            <a:r>
              <a:rPr lang="fr-FR" sz="3600" dirty="0" err="1">
                <a:latin typeface="Aptos" panose="020B0004020202020204" pitchFamily="34" charset="0"/>
              </a:rPr>
              <a:t>DecisionTree</a:t>
            </a:r>
            <a:r>
              <a:rPr lang="fr-FR" sz="3600" dirty="0">
                <a:latin typeface="Aptos" panose="020B00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63633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2A9B6-3BBE-951A-5815-D86C0BB15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5DCDC02-87FC-46B7-AD01-010F358FE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séparation train/test</a:t>
            </a:r>
            <a:br>
              <a:rPr lang="fr-FR" dirty="0"/>
            </a:b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FDC66FA-806C-BFEC-C438-8F5B67945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26" y="2310470"/>
            <a:ext cx="10355947" cy="359261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A0EF400-D15D-A4DE-DEA7-997A5CC3B7F1}"/>
              </a:ext>
            </a:extLst>
          </p:cNvPr>
          <p:cNvSpPr txBox="1"/>
          <p:nvPr/>
        </p:nvSpPr>
        <p:spPr>
          <a:xfrm>
            <a:off x="6883062" y="5042095"/>
            <a:ext cx="70083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txBody>
          <a:bodyPr wrap="none" rtlCol="0">
            <a:spAutoFit/>
          </a:bodyPr>
          <a:lstStyle/>
          <a:p>
            <a:pPr algn="ctr"/>
            <a:r>
              <a:rPr lang="fr-FR" sz="2400" dirty="0"/>
              <a:t>20%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B06C0D0-0834-6E71-9BC2-9DCD90C70A4B}"/>
              </a:ext>
            </a:extLst>
          </p:cNvPr>
          <p:cNvSpPr txBox="1"/>
          <p:nvPr/>
        </p:nvSpPr>
        <p:spPr>
          <a:xfrm>
            <a:off x="6883062" y="3382451"/>
            <a:ext cx="70083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txBody>
          <a:bodyPr wrap="none" rtlCol="0">
            <a:spAutoFit/>
          </a:bodyPr>
          <a:lstStyle/>
          <a:p>
            <a:pPr algn="ctr"/>
            <a:r>
              <a:rPr lang="fr-FR" sz="2400" dirty="0"/>
              <a:t>80%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C023767-C879-A3AF-7656-41C4D2467044}"/>
              </a:ext>
            </a:extLst>
          </p:cNvPr>
          <p:cNvSpPr txBox="1"/>
          <p:nvPr/>
        </p:nvSpPr>
        <p:spPr>
          <a:xfrm>
            <a:off x="2337017" y="6040413"/>
            <a:ext cx="319401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txBody>
          <a:bodyPr wrap="none" rtlCol="0">
            <a:spAutoFit/>
          </a:bodyPr>
          <a:lstStyle/>
          <a:p>
            <a:pPr algn="ctr"/>
            <a:r>
              <a:rPr lang="fr-FR" sz="2400" dirty="0"/>
              <a:t>84% = employés restent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F0F28D0-7D41-5301-459A-551DEBC300BA}"/>
              </a:ext>
            </a:extLst>
          </p:cNvPr>
          <p:cNvSpPr txBox="1"/>
          <p:nvPr/>
        </p:nvSpPr>
        <p:spPr>
          <a:xfrm>
            <a:off x="6356130" y="6040413"/>
            <a:ext cx="322556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txBody>
          <a:bodyPr wrap="none" rtlCol="0">
            <a:spAutoFit/>
          </a:bodyPr>
          <a:lstStyle/>
          <a:p>
            <a:pPr algn="ctr"/>
            <a:r>
              <a:rPr lang="fr-FR" sz="2400" dirty="0"/>
              <a:t>16% = employés partent</a:t>
            </a:r>
          </a:p>
        </p:txBody>
      </p:sp>
    </p:spTree>
    <p:extLst>
      <p:ext uri="{BB962C8B-B14F-4D97-AF65-F5344CB8AC3E}">
        <p14:creationId xmlns:p14="http://schemas.microsoft.com/office/powerpoint/2010/main" val="1272004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B85A6-C554-B985-E218-D0648145C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2E19ADB-7D25-9F9D-688B-FBDD2828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Scores des prédictions</a:t>
            </a:r>
            <a:br>
              <a:rPr lang="fr-FR" dirty="0"/>
            </a:b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50D4EE1-B858-8730-B3ED-351A17A1C8BF}"/>
              </a:ext>
            </a:extLst>
          </p:cNvPr>
          <p:cNvSpPr txBox="1"/>
          <p:nvPr/>
        </p:nvSpPr>
        <p:spPr>
          <a:xfrm>
            <a:off x="3539588" y="2807242"/>
            <a:ext cx="3495554" cy="278925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0" anchor="t" anchorCtr="0">
            <a:noAutofit/>
          </a:bodyPr>
          <a:lstStyle/>
          <a:p>
            <a:pPr marL="571500" lvl="0" indent="-571500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fr-FR" sz="3600" dirty="0" err="1">
                <a:latin typeface="Aptos" panose="020B0004020202020204" pitchFamily="34" charset="0"/>
              </a:rPr>
              <a:t>Accuracy</a:t>
            </a:r>
            <a:endParaRPr lang="fr-FR" sz="3600" dirty="0">
              <a:latin typeface="Aptos" panose="020B0004020202020204" pitchFamily="34" charset="0"/>
            </a:endParaRPr>
          </a:p>
          <a:p>
            <a:pPr marL="571500" lvl="0" indent="-571500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fr-FR" sz="3600" kern="1200" noProof="0" dirty="0" err="1">
                <a:latin typeface="Aptos" panose="020B0004020202020204" pitchFamily="34" charset="0"/>
              </a:rPr>
              <a:t>Precision</a:t>
            </a:r>
            <a:endParaRPr lang="fr-FR" sz="3600" kern="1200" noProof="0" dirty="0">
              <a:latin typeface="Aptos" panose="020B0004020202020204" pitchFamily="34" charset="0"/>
            </a:endParaRPr>
          </a:p>
          <a:p>
            <a:pPr marL="571500" lvl="0" indent="-571500" defTabSz="16002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fr-FR" sz="3600" kern="1200" noProof="0" dirty="0" err="1">
                <a:latin typeface="Aptos" panose="020B0004020202020204" pitchFamily="34" charset="0"/>
              </a:rPr>
              <a:t>Recall</a:t>
            </a:r>
            <a:endParaRPr lang="fr-FR" sz="3600" dirty="0">
              <a:latin typeface="Aptos" panose="020B0004020202020204" pitchFamily="34" charset="0"/>
            </a:endParaRPr>
          </a:p>
          <a:p>
            <a:pPr marL="571500" lvl="0" indent="-571500" defTabSz="16002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fr-FR" sz="3600" dirty="0">
                <a:latin typeface="Aptos" panose="020B0004020202020204" pitchFamily="34" charset="0"/>
              </a:rPr>
              <a:t>AUC</a:t>
            </a:r>
            <a:endParaRPr lang="fr-FR" sz="3600" kern="1200" noProof="0" dirty="0">
              <a:latin typeface="Aptos" panose="020B0004020202020204" pitchFamily="34" charset="0"/>
            </a:endParaRPr>
          </a:p>
        </p:txBody>
      </p:sp>
      <p:sp>
        <p:nvSpPr>
          <p:cNvPr id="2" name="Accolade fermante 1">
            <a:extLst>
              <a:ext uri="{FF2B5EF4-FFF2-40B4-BE49-F238E27FC236}">
                <a16:creationId xmlns:a16="http://schemas.microsoft.com/office/drawing/2014/main" id="{237B8867-8A61-38DE-2028-96FBC5D9BFE7}"/>
              </a:ext>
            </a:extLst>
          </p:cNvPr>
          <p:cNvSpPr/>
          <p:nvPr/>
        </p:nvSpPr>
        <p:spPr>
          <a:xfrm>
            <a:off x="6201761" y="3488299"/>
            <a:ext cx="486136" cy="1216214"/>
          </a:xfrm>
          <a:prstGeom prst="rightBrace">
            <a:avLst>
              <a:gd name="adj1" fmla="val 32143"/>
              <a:gd name="adj2" fmla="val 50000"/>
            </a:avLst>
          </a:prstGeom>
          <a:ln w="666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B15544F-A99F-8F1E-1A3E-EB80FF503D22}"/>
              </a:ext>
            </a:extLst>
          </p:cNvPr>
          <p:cNvSpPr txBox="1"/>
          <p:nvPr/>
        </p:nvSpPr>
        <p:spPr>
          <a:xfrm>
            <a:off x="6873335" y="3715692"/>
            <a:ext cx="2857309" cy="761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6002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4800" kern="1200" noProof="0" dirty="0">
                <a:latin typeface="Aptos" panose="020B0004020202020204" pitchFamily="34" charset="0"/>
              </a:rPr>
              <a:t>F1-Score</a:t>
            </a:r>
          </a:p>
        </p:txBody>
      </p:sp>
    </p:spTree>
    <p:extLst>
      <p:ext uri="{BB962C8B-B14F-4D97-AF65-F5344CB8AC3E}">
        <p14:creationId xmlns:p14="http://schemas.microsoft.com/office/powerpoint/2010/main" val="2692932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F2BF7-3C40-7C81-EEC4-07D006A9E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08166C5-E95B-FBF8-838E-6797E5EA6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Enchainement des entrainements / Prédictions</a:t>
            </a:r>
            <a:br>
              <a:rPr lang="fr-FR" dirty="0"/>
            </a:b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70C4CC7-4FA6-AF29-70EB-ECEBFD20D22F}"/>
              </a:ext>
            </a:extLst>
          </p:cNvPr>
          <p:cNvSpPr txBox="1"/>
          <p:nvPr/>
        </p:nvSpPr>
        <p:spPr>
          <a:xfrm>
            <a:off x="3235455" y="5649896"/>
            <a:ext cx="152882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Résultat 2</a:t>
            </a:r>
            <a:endParaRPr lang="fr-FR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BA7137-F83F-A807-F8A3-5BA3169B7A1B}"/>
              </a:ext>
            </a:extLst>
          </p:cNvPr>
          <p:cNvSpPr txBox="1"/>
          <p:nvPr/>
        </p:nvSpPr>
        <p:spPr>
          <a:xfrm>
            <a:off x="1553470" y="4968624"/>
            <a:ext cx="152882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Résultat 1</a:t>
            </a:r>
            <a:endParaRPr lang="fr-FR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54C891F-6444-8EC7-DF3E-ECF5DD1EBD77}"/>
              </a:ext>
            </a:extLst>
          </p:cNvPr>
          <p:cNvSpPr txBox="1"/>
          <p:nvPr/>
        </p:nvSpPr>
        <p:spPr>
          <a:xfrm>
            <a:off x="5051993" y="6301741"/>
            <a:ext cx="152882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Résultat 6</a:t>
            </a:r>
            <a:endParaRPr lang="fr-FR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9AC2405F-3F98-CC45-F2E8-B3CF622A6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579" y="2150526"/>
            <a:ext cx="4925112" cy="2686425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E389F258-C1D8-44E9-73B9-799AF3D09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561" y="2711732"/>
            <a:ext cx="4953691" cy="2762636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2A13C34B-4206-D695-BC95-6B79F887DF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1993" y="3429000"/>
            <a:ext cx="5439534" cy="2638793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54666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05D3B-0697-8881-DD44-C5B199592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D87583A-7B83-FFD0-591B-CDA40F54D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Passes</a:t>
            </a:r>
            <a:br>
              <a:rPr lang="fr-FR" dirty="0"/>
            </a:b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F687F8C-D650-B11B-CA56-E70ECE8917EF}"/>
              </a:ext>
            </a:extLst>
          </p:cNvPr>
          <p:cNvSpPr txBox="1"/>
          <p:nvPr/>
        </p:nvSpPr>
        <p:spPr>
          <a:xfrm>
            <a:off x="1983457" y="2103722"/>
            <a:ext cx="8753274" cy="340674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0" anchor="t" anchorCtr="0">
            <a:noAutofit/>
          </a:bodyPr>
          <a:lstStyle/>
          <a:p>
            <a:pPr marL="742950" lvl="0" indent="-742950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+mj-lt"/>
              <a:buAutoNum type="arabicPeriod"/>
            </a:pPr>
            <a:r>
              <a:rPr lang="fr-FR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0B0004020202020204" pitchFamily="34" charset="0"/>
              </a:rPr>
              <a:t>Entrainement Initial</a:t>
            </a:r>
          </a:p>
          <a:p>
            <a:pPr marL="742950" lvl="0" indent="-742950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+mj-lt"/>
              <a:buAutoNum type="arabicPeriod"/>
            </a:pPr>
            <a:r>
              <a:rPr lang="fr-FR" sz="36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0B0004020202020204" pitchFamily="34" charset="0"/>
              </a:rPr>
              <a:t>Features</a:t>
            </a:r>
            <a:r>
              <a:rPr lang="fr-FR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fr-FR" sz="36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0B0004020202020204" pitchFamily="34" charset="0"/>
              </a:rPr>
              <a:t>enginering</a:t>
            </a:r>
            <a:endParaRPr lang="fr-FR" sz="3600" kern="1200" noProof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ptos" panose="020B0004020202020204" pitchFamily="34" charset="0"/>
            </a:endParaRPr>
          </a:p>
          <a:p>
            <a:pPr marL="742950" lvl="0" indent="-742950" defTabSz="16002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+mj-lt"/>
              <a:buAutoNum type="arabicPeriod"/>
            </a:pPr>
            <a:r>
              <a:rPr lang="fr-FR" sz="3600" kern="1200" noProof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0B0004020202020204" pitchFamily="34" charset="0"/>
              </a:rPr>
              <a:t>Hyper-Paramètres</a:t>
            </a:r>
            <a:endParaRPr lang="fr-FR" sz="3600" kern="1200" noProof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ptos" panose="020B0004020202020204" pitchFamily="34" charset="0"/>
            </a:endParaRPr>
          </a:p>
          <a:p>
            <a:pPr marL="742950" lvl="0" indent="-742950" defTabSz="16002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+mj-lt"/>
              <a:buAutoNum type="arabicPeriod"/>
            </a:pPr>
            <a:r>
              <a:rPr lang="fr-FR" sz="3600" kern="120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0B0004020202020204" pitchFamily="34" charset="0"/>
              </a:rPr>
              <a:t>Recherche du seuil optimal (F1-Score)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BF46378-4522-F13E-6C38-D8A5E29DF467}"/>
              </a:ext>
            </a:extLst>
          </p:cNvPr>
          <p:cNvSpPr txBox="1"/>
          <p:nvPr/>
        </p:nvSpPr>
        <p:spPr>
          <a:xfrm>
            <a:off x="1725530" y="5392546"/>
            <a:ext cx="6093994" cy="64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6002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4000" kern="1200" noProof="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0B0004020202020204" pitchFamily="34" charset="0"/>
              </a:rPr>
              <a:t>Entrainement Final</a:t>
            </a:r>
          </a:p>
        </p:txBody>
      </p:sp>
      <p:sp>
        <p:nvSpPr>
          <p:cNvPr id="5" name="Flèche : bas 4">
            <a:extLst>
              <a:ext uri="{FF2B5EF4-FFF2-40B4-BE49-F238E27FC236}">
                <a16:creationId xmlns:a16="http://schemas.microsoft.com/office/drawing/2014/main" id="{C828BFEE-94CF-5779-B1E8-AD4DDFE03A3E}"/>
              </a:ext>
            </a:extLst>
          </p:cNvPr>
          <p:cNvSpPr/>
          <p:nvPr/>
        </p:nvSpPr>
        <p:spPr>
          <a:xfrm>
            <a:off x="4114800" y="4891544"/>
            <a:ext cx="926432" cy="5010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5375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3F32-E28B-75F1-F940-AE90343BD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0C8BE5-7D7B-A708-4FC6-78C63A1AC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Choix du seuil de décision</a:t>
            </a:r>
            <a:br>
              <a:rPr lang="fr-FR" b="1" dirty="0"/>
            </a:br>
            <a:r>
              <a:rPr lang="fr-FR" sz="1600" b="1" dirty="0"/>
              <a:t>Comment avons-nous choisi le seuil de décision ?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452CDF-4C75-9024-CF18-492E5AA6B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latin typeface="Aptos" panose="020B0004020202020204" pitchFamily="34" charset="0"/>
              </a:rPr>
              <a:t>Le problème :</a:t>
            </a:r>
            <a:endParaRPr lang="fr-FR" dirty="0">
              <a:latin typeface="Aptos" panose="020B0004020202020204" pitchFamily="34" charset="0"/>
            </a:endParaRPr>
          </a:p>
          <a:p>
            <a:r>
              <a:rPr lang="fr-FR" dirty="0">
                <a:latin typeface="Aptos" panose="020B0004020202020204" pitchFamily="34" charset="0"/>
              </a:rPr>
              <a:t>Le modèle </a:t>
            </a:r>
            <a:r>
              <a:rPr lang="fr-FR" dirty="0" err="1">
                <a:latin typeface="Aptos" panose="020B0004020202020204" pitchFamily="34" charset="0"/>
              </a:rPr>
              <a:t>XGBoost</a:t>
            </a:r>
            <a:r>
              <a:rPr lang="fr-FR" dirty="0">
                <a:latin typeface="Aptos" panose="020B0004020202020204" pitchFamily="34" charset="0"/>
              </a:rPr>
              <a:t> prédit une </a:t>
            </a:r>
            <a:r>
              <a:rPr lang="fr-FR" b="1" dirty="0">
                <a:latin typeface="Aptos" panose="020B0004020202020204" pitchFamily="34" charset="0"/>
              </a:rPr>
              <a:t>probabilité</a:t>
            </a:r>
            <a:r>
              <a:rPr lang="fr-FR" dirty="0">
                <a:latin typeface="Aptos" panose="020B0004020202020204" pitchFamily="34" charset="0"/>
              </a:rPr>
              <a:t> de démission (entre 0 et 1)</a:t>
            </a:r>
          </a:p>
          <a:p>
            <a:r>
              <a:rPr lang="fr-FR" dirty="0">
                <a:latin typeface="Aptos" panose="020B0004020202020204" pitchFamily="34" charset="0"/>
              </a:rPr>
              <a:t>Il faut choisir un </a:t>
            </a:r>
            <a:r>
              <a:rPr lang="fr-FR" b="1" dirty="0">
                <a:latin typeface="Aptos" panose="020B0004020202020204" pitchFamily="34" charset="0"/>
              </a:rPr>
              <a:t>seuil</a:t>
            </a:r>
            <a:r>
              <a:rPr lang="fr-FR" dirty="0">
                <a:latin typeface="Aptos" panose="020B0004020202020204" pitchFamily="34" charset="0"/>
              </a:rPr>
              <a:t> au-dessus duquel on considère qu'un employé est "à risque"</a:t>
            </a:r>
          </a:p>
          <a:p>
            <a:r>
              <a:rPr lang="fr-FR" dirty="0">
                <a:latin typeface="Aptos" panose="020B0004020202020204" pitchFamily="34" charset="0"/>
              </a:rPr>
              <a:t>Ce seuil détermine l'équilibre entre :</a:t>
            </a:r>
          </a:p>
          <a:p>
            <a:pPr lvl="1"/>
            <a:r>
              <a:rPr lang="fr-FR" b="1" dirty="0">
                <a:latin typeface="Aptos" panose="020B0004020202020204" pitchFamily="34" charset="0"/>
              </a:rPr>
              <a:t>Détecter les départs</a:t>
            </a:r>
            <a:r>
              <a:rPr lang="fr-FR" dirty="0">
                <a:latin typeface="Aptos" panose="020B0004020202020204" pitchFamily="34" charset="0"/>
              </a:rPr>
              <a:t> (rappel)</a:t>
            </a:r>
          </a:p>
          <a:p>
            <a:pPr lvl="1"/>
            <a:r>
              <a:rPr lang="fr-FR" b="1" dirty="0">
                <a:latin typeface="Aptos" panose="020B0004020202020204" pitchFamily="34" charset="0"/>
              </a:rPr>
              <a:t>Éviter les fausses alertes</a:t>
            </a:r>
            <a:r>
              <a:rPr lang="fr-FR" dirty="0">
                <a:latin typeface="Aptos" panose="020B0004020202020204" pitchFamily="34" charset="0"/>
              </a:rPr>
              <a:t> (précision)</a:t>
            </a:r>
          </a:p>
          <a:p>
            <a:pPr marL="324000" lvl="1" indent="0">
              <a:buNone/>
            </a:pPr>
            <a:endParaRPr lang="fr-FR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fr-FR" b="1" dirty="0">
                <a:latin typeface="Aptos" panose="020B0004020202020204" pitchFamily="34" charset="0"/>
              </a:rPr>
              <a:t>Notre objectif :</a:t>
            </a:r>
          </a:p>
          <a:p>
            <a:r>
              <a:rPr lang="fr-FR" dirty="0">
                <a:latin typeface="Aptos" panose="020B0004020202020204" pitchFamily="34" charset="0"/>
              </a:rPr>
              <a:t>Détecter au moins </a:t>
            </a:r>
            <a:r>
              <a:rPr lang="fr-FR" b="1" dirty="0">
                <a:latin typeface="Aptos" panose="020B0004020202020204" pitchFamily="34" charset="0"/>
              </a:rPr>
              <a:t>65% des départs réels</a:t>
            </a:r>
            <a:r>
              <a:rPr lang="fr-FR" dirty="0">
                <a:latin typeface="Aptos" panose="020B0004020202020204" pitchFamily="34" charset="0"/>
              </a:rPr>
              <a:t> (objectif à fixer par les RH)</a:t>
            </a:r>
          </a:p>
        </p:txBody>
      </p:sp>
    </p:spTree>
    <p:extLst>
      <p:ext uri="{BB962C8B-B14F-4D97-AF65-F5344CB8AC3E}">
        <p14:creationId xmlns:p14="http://schemas.microsoft.com/office/powerpoint/2010/main" val="3655688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AEAEB-B036-4562-A5F1-1E35BF55B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FEA3B2-BE54-52C0-6847-FCA5F602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La courbe Précision-Rappel</a:t>
            </a:r>
            <a:br>
              <a:rPr lang="fr-FR" b="1" dirty="0"/>
            </a:br>
            <a:r>
              <a:rPr lang="fr-FR" sz="1600" b="1" dirty="0"/>
              <a:t>La courbe Précision-Rappel pour choisir le seuil</a:t>
            </a:r>
            <a:endParaRPr lang="fr-FR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E6DC2BF-F3C2-29BD-BD7A-94120B4D0DC8}"/>
              </a:ext>
            </a:extLst>
          </p:cNvPr>
          <p:cNvSpPr txBox="1"/>
          <p:nvPr/>
        </p:nvSpPr>
        <p:spPr>
          <a:xfrm>
            <a:off x="515185" y="5255689"/>
            <a:ext cx="111616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dirty="0">
                <a:latin typeface="Aptos" panose="020B0004020202020204" pitchFamily="34" charset="0"/>
              </a:rPr>
              <a:t>Rappel      = 70 % des départs réels sont détectés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dirty="0">
                <a:latin typeface="Aptos" panose="020B0004020202020204" pitchFamily="34" charset="0"/>
              </a:rPr>
              <a:t>Précision = 47 % des alertes sont correctes</a:t>
            </a:r>
            <a:r>
              <a:rPr lang="fr-FR" sz="2400" dirty="0">
                <a:latin typeface="Aptos" panose="020B0004020202020204" pitchFamily="34" charset="0"/>
              </a:rPr>
              <a:t> (1 alerte sur 2 est un faux positif)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dirty="0">
                <a:latin typeface="Aptos" panose="020B0004020202020204" pitchFamily="34" charset="0"/>
              </a:rPr>
              <a:t>F1-Score  = 0.56</a:t>
            </a:r>
            <a:r>
              <a:rPr lang="fr-FR" sz="2400" dirty="0">
                <a:latin typeface="Aptos" panose="020B0004020202020204" pitchFamily="34" charset="0"/>
              </a:rPr>
              <a:t> → bon compromis global pour un problème déséquilibré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E183EA0-0E17-BEF6-8DBC-B1D027A117AF}"/>
              </a:ext>
            </a:extLst>
          </p:cNvPr>
          <p:cNvSpPr txBox="1"/>
          <p:nvPr/>
        </p:nvSpPr>
        <p:spPr>
          <a:xfrm>
            <a:off x="419270" y="2685190"/>
            <a:ext cx="4507831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u="sng" dirty="0">
                <a:solidFill>
                  <a:srgbClr val="FF0000"/>
                </a:solidFill>
                <a:latin typeface="Aptos" panose="020B0004020202020204" pitchFamily="34" charset="0"/>
              </a:rPr>
              <a:t>Objectif :</a:t>
            </a:r>
          </a:p>
          <a:p>
            <a:pPr lvl="1"/>
            <a:r>
              <a:rPr lang="fr-FR" sz="3200" b="1" dirty="0">
                <a:solidFill>
                  <a:srgbClr val="FF0000"/>
                </a:solidFill>
                <a:latin typeface="Aptos" panose="020B0004020202020204" pitchFamily="34" charset="0"/>
              </a:rPr>
              <a:t>Détecter au moins </a:t>
            </a:r>
            <a:r>
              <a:rPr lang="fr-FR" sz="4000" b="1" dirty="0">
                <a:solidFill>
                  <a:srgbClr val="FF0000"/>
                </a:solidFill>
                <a:latin typeface="Aptos" panose="020B0004020202020204" pitchFamily="34" charset="0"/>
              </a:rPr>
              <a:t>68%</a:t>
            </a:r>
            <a:r>
              <a:rPr lang="fr-FR" sz="3200" b="1" dirty="0">
                <a:solidFill>
                  <a:srgbClr val="FF0000"/>
                </a:solidFill>
                <a:latin typeface="Aptos" panose="020B0004020202020204" pitchFamily="34" charset="0"/>
              </a:rPr>
              <a:t> des départs</a:t>
            </a:r>
            <a:endParaRPr lang="fr-FR" sz="32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389A54AB-07AD-7AAD-BAF7-030939333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747" y="1956561"/>
            <a:ext cx="5678906" cy="329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048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1E41C-1636-12A3-0A35-A0419956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B5F59A0A-E216-D8C6-0928-5BB665A1F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1918361"/>
            <a:ext cx="11029615" cy="4681635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B91C64A8-7F0D-3199-816E-1C1EF6A83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EVALUATION Finale</a:t>
            </a:r>
            <a:br>
              <a:rPr lang="fr-FR" dirty="0"/>
            </a:b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DC29E5-982C-8828-3972-FB494F2DEB46}"/>
              </a:ext>
            </a:extLst>
          </p:cNvPr>
          <p:cNvSpPr/>
          <p:nvPr/>
        </p:nvSpPr>
        <p:spPr>
          <a:xfrm>
            <a:off x="5290102" y="2449164"/>
            <a:ext cx="2074794" cy="43193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63156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7A2D6-CBB2-4579-2311-CE675DCE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18E4D03C-1099-C6C1-76FC-7ED6F262F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419" y="2521771"/>
            <a:ext cx="9451162" cy="3387259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C2003356-66FB-93DE-47CB-666EE7B4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EVALUATION Finale</a:t>
            </a:r>
            <a:br>
              <a:rPr lang="fr-FR" dirty="0"/>
            </a:b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1E06C2-0C33-3AFA-53C8-560A2C3EF4EB}"/>
              </a:ext>
            </a:extLst>
          </p:cNvPr>
          <p:cNvSpPr/>
          <p:nvPr/>
        </p:nvSpPr>
        <p:spPr>
          <a:xfrm>
            <a:off x="8007607" y="4405815"/>
            <a:ext cx="1125895" cy="426556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45BFBA-8AA7-9616-A5B3-96DB8D03DA5F}"/>
              </a:ext>
            </a:extLst>
          </p:cNvPr>
          <p:cNvSpPr/>
          <p:nvPr/>
        </p:nvSpPr>
        <p:spPr>
          <a:xfrm>
            <a:off x="6224338" y="3979259"/>
            <a:ext cx="1124358" cy="426556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F50017-7F3C-2FD0-E881-CE75101057CF}"/>
              </a:ext>
            </a:extLst>
          </p:cNvPr>
          <p:cNvSpPr/>
          <p:nvPr/>
        </p:nvSpPr>
        <p:spPr>
          <a:xfrm>
            <a:off x="8007607" y="3979259"/>
            <a:ext cx="1124359" cy="426556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16910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5C10B-C384-CCD5-8EC6-5BE4509C8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23C88F-5C5F-DFC8-3D64-A12EB55A8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3213862"/>
            <a:ext cx="11029616" cy="1013800"/>
          </a:xfrm>
        </p:spPr>
        <p:txBody>
          <a:bodyPr>
            <a:normAutofit/>
          </a:bodyPr>
          <a:lstStyle/>
          <a:p>
            <a:pPr algn="ctr"/>
            <a:r>
              <a:rPr lang="fr-FR" sz="6000" dirty="0">
                <a:solidFill>
                  <a:schemeClr val="tx1"/>
                </a:solidFill>
              </a:rPr>
              <a:t>Bilan</a:t>
            </a:r>
          </a:p>
        </p:txBody>
      </p:sp>
    </p:spTree>
    <p:extLst>
      <p:ext uri="{BB962C8B-B14F-4D97-AF65-F5344CB8AC3E}">
        <p14:creationId xmlns:p14="http://schemas.microsoft.com/office/powerpoint/2010/main" val="3356489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1A2C4-25E2-3728-296E-F6373F7C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3">
            <a:extLst>
              <a:ext uri="{FF2B5EF4-FFF2-40B4-BE49-F238E27FC236}">
                <a16:creationId xmlns:a16="http://schemas.microsoft.com/office/drawing/2014/main" id="{E7555151-0FB2-904B-9902-258325CCD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 b="1" dirty="0"/>
              <a:t>EVALUATION Finale</a:t>
            </a:r>
            <a:br>
              <a:rPr lang="fr-FR" dirty="0"/>
            </a:br>
            <a:endParaRPr lang="fr-FR" dirty="0"/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2C0E204B-583C-A6F5-BFD5-DC91225801B8}"/>
              </a:ext>
            </a:extLst>
          </p:cNvPr>
          <p:cNvSpPr txBox="1">
            <a:spLocks/>
          </p:cNvSpPr>
          <p:nvPr/>
        </p:nvSpPr>
        <p:spPr>
          <a:xfrm>
            <a:off x="6270601" y="2415200"/>
            <a:ext cx="4372571" cy="8507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4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fr-FR" sz="4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6D085EB-17E2-1495-7DD1-F070CEF791A5}"/>
              </a:ext>
            </a:extLst>
          </p:cNvPr>
          <p:cNvSpPr txBox="1"/>
          <p:nvPr/>
        </p:nvSpPr>
        <p:spPr>
          <a:xfrm>
            <a:off x="6270602" y="4820454"/>
            <a:ext cx="556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32 départs correctement détectés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15 départs manqués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24 fausses alertes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56CD812-31E7-8C42-76BA-54AF6835C414}"/>
              </a:ext>
            </a:extLst>
          </p:cNvPr>
          <p:cNvSpPr txBox="1"/>
          <p:nvPr/>
        </p:nvSpPr>
        <p:spPr>
          <a:xfrm>
            <a:off x="6270601" y="3429000"/>
            <a:ext cx="57516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Plus adapté à notre problématique métier RH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C800519-B7A4-F705-5D75-05DE8A1B7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33" y="2119964"/>
            <a:ext cx="5108967" cy="432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986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5402F-471B-553A-AB43-A1D1DD523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0546A46-5AAF-8FDA-AD9D-22B8418F9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EVALUATION Finale</a:t>
            </a:r>
            <a:br>
              <a:rPr lang="fr-FR" dirty="0"/>
            </a:b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B154B68-022E-788C-02E9-1F6A6C998B4F}"/>
              </a:ext>
            </a:extLst>
          </p:cNvPr>
          <p:cNvSpPr txBox="1"/>
          <p:nvPr/>
        </p:nvSpPr>
        <p:spPr>
          <a:xfrm>
            <a:off x="6982788" y="3429000"/>
            <a:ext cx="4812176" cy="153670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0" anchor="t" anchorCtr="0">
            <a:noAutofit/>
          </a:bodyPr>
          <a:lstStyle/>
          <a:p>
            <a:pPr marL="0" lvl="0" indent="0" algn="ctr" defTabSz="16002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3600" kern="1200" noProof="0" dirty="0" err="1"/>
              <a:t>Features</a:t>
            </a:r>
            <a:r>
              <a:rPr lang="fr-FR" sz="3600" kern="1200" noProof="0" dirty="0"/>
              <a:t> Importances</a:t>
            </a:r>
          </a:p>
          <a:p>
            <a:pPr marL="0" lvl="0" indent="0" algn="ctr" defTabSz="16002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3600" dirty="0"/>
              <a:t>(globales)</a:t>
            </a:r>
            <a:endParaRPr lang="fr-FR" sz="3600" kern="1200" noProof="0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425CCF26-E480-46FC-4D55-DF1FE7710E31}"/>
              </a:ext>
            </a:extLst>
          </p:cNvPr>
          <p:cNvSpPr txBox="1">
            <a:spLocks/>
          </p:cNvSpPr>
          <p:nvPr/>
        </p:nvSpPr>
        <p:spPr>
          <a:xfrm>
            <a:off x="3865869" y="1915312"/>
            <a:ext cx="1109992" cy="4013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Reste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9C55D6A-F499-C008-B751-EC603C25B471}"/>
              </a:ext>
            </a:extLst>
          </p:cNvPr>
          <p:cNvSpPr txBox="1">
            <a:spLocks/>
          </p:cNvSpPr>
          <p:nvPr/>
        </p:nvSpPr>
        <p:spPr>
          <a:xfrm>
            <a:off x="5189208" y="1915312"/>
            <a:ext cx="1109992" cy="4013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5CCABD5-2A13-4049-E3C4-DE3658998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24" y="2316700"/>
            <a:ext cx="6252864" cy="412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9221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C9344-8D0B-F89C-BCAA-F4E160DB0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DEE87163-659A-3EF1-1449-180732A0B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768" y="1424064"/>
            <a:ext cx="8806464" cy="5286129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20721D9C-E1BB-A829-3BC5-C35270C2D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EVALUATION Finale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914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C477A-EF74-D574-4B2B-34DE80F06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6E10223-5ECB-6732-12AC-94B62B66B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EVALUATION Finale</a:t>
            </a:r>
            <a:br>
              <a:rPr lang="fr-FR" dirty="0"/>
            </a:b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AEF8586-B745-3CE5-8D53-1664538862B5}"/>
              </a:ext>
            </a:extLst>
          </p:cNvPr>
          <p:cNvSpPr txBox="1"/>
          <p:nvPr/>
        </p:nvSpPr>
        <p:spPr>
          <a:xfrm>
            <a:off x="581191" y="2389956"/>
            <a:ext cx="11029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0" i="0" dirty="0">
                <a:effectLst/>
                <a:latin typeface="Consolas" panose="020B0609020204030204" pitchFamily="49" charset="0"/>
              </a:rPr>
              <a:t>CONTRE-FACTUELS</a:t>
            </a:r>
            <a:endParaRPr lang="fr-FR" sz="36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88DD599-CBC6-E18F-5537-40A4663DC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91" y="2103115"/>
            <a:ext cx="10881382" cy="44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059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6E404-10E9-4B54-2BF5-922792D62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6871E10-AC7C-D7BE-B165-C6B785CE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EVALUATION Finale</a:t>
            </a:r>
            <a:br>
              <a:rPr lang="fr-FR" dirty="0"/>
            </a:b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3B50368-DA24-5527-41DE-EA1FD7073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786" y="1527850"/>
            <a:ext cx="6408428" cy="506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1307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AB6CB-0B9A-FF01-55DB-D1B5C2CA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FAC08BA-0E7F-A00D-2D4B-DF5649421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EVALUATION Finale</a:t>
            </a:r>
            <a:br>
              <a:rPr lang="fr-FR" dirty="0"/>
            </a:b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7254C00-5318-5B67-2469-059D29464C6B}"/>
              </a:ext>
            </a:extLst>
          </p:cNvPr>
          <p:cNvSpPr txBox="1"/>
          <p:nvPr/>
        </p:nvSpPr>
        <p:spPr>
          <a:xfrm>
            <a:off x="581191" y="2389956"/>
            <a:ext cx="11029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0" i="0" dirty="0">
                <a:effectLst/>
                <a:latin typeface="Consolas" panose="020B0609020204030204" pitchFamily="49" charset="0"/>
              </a:rPr>
              <a:t>CONTRE-FACTUELS</a:t>
            </a:r>
            <a:endParaRPr lang="fr-FR" sz="36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C7D13313-1391-B2CF-497E-EC8A8C1E3D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" t="14572"/>
          <a:stretch>
            <a:fillRect/>
          </a:stretch>
        </p:blipFill>
        <p:spPr>
          <a:xfrm>
            <a:off x="581192" y="3821714"/>
            <a:ext cx="11029616" cy="230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8231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20E2F-CE63-D466-89D5-4531AA164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33E021-4A9C-A65C-EDD3-8FD5D1DA0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 des résultats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AB22679-345C-006E-64B8-4E88240C4178}"/>
              </a:ext>
            </a:extLst>
          </p:cNvPr>
          <p:cNvSpPr txBox="1"/>
          <p:nvPr/>
        </p:nvSpPr>
        <p:spPr>
          <a:xfrm>
            <a:off x="373146" y="1991836"/>
            <a:ext cx="1144570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La comparaison des modèles montre que </a:t>
            </a:r>
            <a:r>
              <a:rPr lang="fr-FR" b="1" dirty="0" err="1">
                <a:latin typeface="Aptos" panose="020B0004020202020204" pitchFamily="34" charset="0"/>
              </a:rPr>
              <a:t>XGBoost</a:t>
            </a:r>
            <a:r>
              <a:rPr lang="fr-FR" dirty="0">
                <a:latin typeface="Aptos" panose="020B0004020202020204" pitchFamily="34" charset="0"/>
              </a:rPr>
              <a:t> offre le meilleur compromis global, avec une </a:t>
            </a:r>
            <a:r>
              <a:rPr lang="fr-FR" dirty="0" err="1">
                <a:latin typeface="Aptos" panose="020B0004020202020204" pitchFamily="34" charset="0"/>
              </a:rPr>
              <a:t>Accuracy</a:t>
            </a:r>
            <a:r>
              <a:rPr lang="fr-FR" dirty="0">
                <a:latin typeface="Aptos" panose="020B0004020202020204" pitchFamily="34" charset="0"/>
              </a:rPr>
              <a:t> de 86,7 %, une </a:t>
            </a:r>
            <a:r>
              <a:rPr lang="fr-FR" dirty="0" err="1">
                <a:latin typeface="Aptos" panose="020B0004020202020204" pitchFamily="34" charset="0"/>
              </a:rPr>
              <a:t>Precision</a:t>
            </a:r>
            <a:r>
              <a:rPr lang="fr-FR" dirty="0">
                <a:latin typeface="Aptos" panose="020B0004020202020204" pitchFamily="34" charset="0"/>
              </a:rPr>
              <a:t> de 57,1 %, un </a:t>
            </a:r>
            <a:r>
              <a:rPr lang="fr-FR" dirty="0" err="1">
                <a:latin typeface="Aptos" panose="020B0004020202020204" pitchFamily="34" charset="0"/>
              </a:rPr>
              <a:t>Recall</a:t>
            </a:r>
            <a:r>
              <a:rPr lang="fr-FR" dirty="0">
                <a:latin typeface="Aptos" panose="020B0004020202020204" pitchFamily="34" charset="0"/>
              </a:rPr>
              <a:t> de 68,1 % et un F1-score de 62,1 %.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Le </a:t>
            </a:r>
            <a:r>
              <a:rPr lang="fr-FR" b="1" dirty="0" err="1">
                <a:latin typeface="Aptos" panose="020B0004020202020204" pitchFamily="34" charset="0"/>
              </a:rPr>
              <a:t>Recall</a:t>
            </a:r>
            <a:r>
              <a:rPr lang="fr-FR" b="1" dirty="0">
                <a:latin typeface="Aptos" panose="020B0004020202020204" pitchFamily="34" charset="0"/>
              </a:rPr>
              <a:t> est privilégié</a:t>
            </a:r>
            <a:r>
              <a:rPr lang="fr-FR" dirty="0">
                <a:latin typeface="Aptos" panose="020B0004020202020204" pitchFamily="34" charset="0"/>
              </a:rPr>
              <a:t> car l'objectif RH est d'identifier le maximum de salariés susceptibles de quitter l'entreprise et ainsi limiter les départs non détectés.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La validation croisée permet de vérifier la stabilité des performances du modèle sur plusieurs découpages des données. L'écart-type du </a:t>
            </a:r>
            <a:r>
              <a:rPr lang="fr-FR" dirty="0" err="1">
                <a:latin typeface="Aptos" panose="020B0004020202020204" pitchFamily="34" charset="0"/>
              </a:rPr>
              <a:t>Recall</a:t>
            </a:r>
            <a:r>
              <a:rPr lang="fr-FR" dirty="0">
                <a:latin typeface="Aptos" panose="020B0004020202020204" pitchFamily="34" charset="0"/>
              </a:rPr>
              <a:t> permet notamment d'identifier une éventuelle variabilité entre les différents échantillons.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L'analyse des variables met notamment en évidence </a:t>
            </a:r>
            <a:r>
              <a:rPr lang="fr-FR" b="1" dirty="0">
                <a:latin typeface="Aptos" panose="020B0004020202020204" pitchFamily="34" charset="0"/>
              </a:rPr>
              <a:t>les heures supplémentaires</a:t>
            </a:r>
            <a:r>
              <a:rPr lang="fr-FR" dirty="0">
                <a:latin typeface="Aptos" panose="020B0004020202020204" pitchFamily="34" charset="0"/>
              </a:rPr>
              <a:t> comme un facteur fortement contributif aux prédictions du modèle. D'autres variables apparaissent également dans les analyses d'importance, comme </a:t>
            </a:r>
            <a:r>
              <a:rPr lang="fr-FR" b="1" dirty="0">
                <a:latin typeface="Aptos" panose="020B0004020202020204" pitchFamily="34" charset="0"/>
              </a:rPr>
              <a:t>l'ancienneté</a:t>
            </a:r>
            <a:r>
              <a:rPr lang="fr-FR" dirty="0">
                <a:latin typeface="Aptos" panose="020B0004020202020204" pitchFamily="34" charset="0"/>
              </a:rPr>
              <a:t>, la </a:t>
            </a:r>
            <a:r>
              <a:rPr lang="fr-FR" b="1" dirty="0">
                <a:latin typeface="Aptos" panose="020B0004020202020204" pitchFamily="34" charset="0"/>
              </a:rPr>
              <a:t>satisfaction</a:t>
            </a:r>
            <a:r>
              <a:rPr lang="fr-FR" dirty="0">
                <a:latin typeface="Aptos" panose="020B0004020202020204" pitchFamily="34" charset="0"/>
              </a:rPr>
              <a:t> et les </a:t>
            </a:r>
            <a:r>
              <a:rPr lang="fr-FR" b="1" dirty="0">
                <a:latin typeface="Aptos" panose="020B0004020202020204" pitchFamily="34" charset="0"/>
              </a:rPr>
              <a:t>années depuis la dernière promotion</a:t>
            </a:r>
            <a:r>
              <a:rPr lang="fr-FR" dirty="0">
                <a:latin typeface="Aptos" panose="020B0004020202020204" pitchFamily="34" charset="0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Les </a:t>
            </a:r>
            <a:r>
              <a:rPr lang="fr-FR" b="1" dirty="0" err="1">
                <a:latin typeface="Aptos" panose="020B0004020202020204" pitchFamily="34" charset="0"/>
              </a:rPr>
              <a:t>contre-factuels</a:t>
            </a:r>
            <a:r>
              <a:rPr lang="fr-FR" dirty="0">
                <a:latin typeface="Aptos" panose="020B0004020202020204" pitchFamily="34" charset="0"/>
              </a:rPr>
              <a:t> générés avec </a:t>
            </a:r>
            <a:r>
              <a:rPr lang="fr-FR" b="1" dirty="0" err="1">
                <a:latin typeface="Aptos" panose="020B0004020202020204" pitchFamily="34" charset="0"/>
              </a:rPr>
              <a:t>DiCE</a:t>
            </a:r>
            <a:r>
              <a:rPr lang="fr-FR" dirty="0">
                <a:latin typeface="Aptos" panose="020B0004020202020204" pitchFamily="34" charset="0"/>
              </a:rPr>
              <a:t> mettent en évidence plusieurs leviers récurrents dans les scénarios permettant de modifier la prédiction : </a:t>
            </a:r>
            <a:r>
              <a:rPr lang="fr-FR" b="1" dirty="0">
                <a:latin typeface="Aptos" panose="020B0004020202020204" pitchFamily="34" charset="0"/>
              </a:rPr>
              <a:t>participation au PEE</a:t>
            </a:r>
            <a:r>
              <a:rPr lang="fr-FR" dirty="0">
                <a:latin typeface="Aptos" panose="020B0004020202020204" pitchFamily="34" charset="0"/>
              </a:rPr>
              <a:t>, </a:t>
            </a:r>
            <a:r>
              <a:rPr lang="fr-FR" b="1" dirty="0">
                <a:latin typeface="Aptos" panose="020B0004020202020204" pitchFamily="34" charset="0"/>
              </a:rPr>
              <a:t>niveau hiérarchique</a:t>
            </a:r>
            <a:r>
              <a:rPr lang="fr-FR" dirty="0">
                <a:latin typeface="Aptos" panose="020B0004020202020204" pitchFamily="34" charset="0"/>
              </a:rPr>
              <a:t>, </a:t>
            </a:r>
            <a:r>
              <a:rPr lang="fr-FR" b="1" dirty="0">
                <a:latin typeface="Aptos" panose="020B0004020202020204" pitchFamily="34" charset="0"/>
              </a:rPr>
              <a:t>nombre de formations </a:t>
            </a:r>
            <a:r>
              <a:rPr lang="fr-FR" dirty="0">
                <a:latin typeface="Aptos" panose="020B0004020202020204" pitchFamily="34" charset="0"/>
              </a:rPr>
              <a:t>et </a:t>
            </a:r>
            <a:r>
              <a:rPr lang="fr-FR" b="1" dirty="0">
                <a:latin typeface="Aptos" panose="020B0004020202020204" pitchFamily="34" charset="0"/>
              </a:rPr>
              <a:t>distance domicile-travail</a:t>
            </a:r>
            <a:r>
              <a:rPr lang="fr-FR" dirty="0">
                <a:latin typeface="Aptos" panose="020B0004020202020204" pitchFamily="34" charset="0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b="1" dirty="0">
                <a:latin typeface="Aptos" panose="020B0004020202020204" pitchFamily="34" charset="0"/>
              </a:rPr>
              <a:t>Les postes les plus touchés sont : </a:t>
            </a:r>
            <a:r>
              <a:rPr lang="fr-FR" dirty="0">
                <a:latin typeface="Aptos" panose="020B0004020202020204" pitchFamily="34" charset="0"/>
              </a:rPr>
              <a:t>Représentant Commercial, Consultant, Ressources Humaines</a:t>
            </a:r>
          </a:p>
          <a:p>
            <a:pPr>
              <a:spcAft>
                <a:spcPts val="600"/>
              </a:spcAft>
            </a:pPr>
            <a:endParaRPr lang="fr-FR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2335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72038-11A3-2878-0597-43988F9F2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8616F-D942-B396-2B49-83DDFC92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Recommandations RH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6C3C560-E820-D6AD-CFA0-B0D353619740}"/>
              </a:ext>
            </a:extLst>
          </p:cNvPr>
          <p:cNvSpPr txBox="1"/>
          <p:nvPr/>
        </p:nvSpPr>
        <p:spPr>
          <a:xfrm>
            <a:off x="581192" y="2934826"/>
            <a:ext cx="1118201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rtl="0">
              <a:defRPr lang="fr-FR"/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</a:pPr>
            <a:r>
              <a:rPr lang="fr-FR" b="1" dirty="0"/>
              <a:t>Charge de travail :</a:t>
            </a:r>
            <a:r>
              <a:rPr lang="fr-FR" dirty="0"/>
              <a:t> surveiller les situations caractérisées par un volume important d'heures supplémentaires et rechercher des solutions pour mieux répartir la charge.</a:t>
            </a:r>
          </a:p>
          <a:p>
            <a:pPr>
              <a:spcAft>
                <a:spcPts val="600"/>
              </a:spcAft>
            </a:pPr>
            <a:r>
              <a:rPr lang="fr-FR" b="1" dirty="0"/>
              <a:t>Évolution professionnelle :</a:t>
            </a:r>
            <a:r>
              <a:rPr lang="fr-FR" dirty="0"/>
              <a:t> renforcer les possibilités d'évolution, de promotion et de prise de responsabilités.</a:t>
            </a:r>
          </a:p>
          <a:p>
            <a:pPr>
              <a:spcAft>
                <a:spcPts val="600"/>
              </a:spcAft>
            </a:pPr>
            <a:r>
              <a:rPr lang="fr-FR" b="1" dirty="0"/>
              <a:t>Formation :</a:t>
            </a:r>
            <a:r>
              <a:rPr lang="fr-FR" dirty="0"/>
              <a:t> proposer des parcours de formation permettant de développer les compétences et les perspectives d'évolution.</a:t>
            </a:r>
          </a:p>
          <a:p>
            <a:pPr>
              <a:spcAft>
                <a:spcPts val="600"/>
              </a:spcAft>
            </a:pPr>
            <a:r>
              <a:rPr lang="fr-FR" b="1" dirty="0"/>
              <a:t>Mobilité et télétravail :</a:t>
            </a:r>
            <a:r>
              <a:rPr lang="fr-FR" dirty="0"/>
              <a:t> étudier des solutions permettant de réduire les contraintes liées à la distance domicile-travail et aux déplacements.</a:t>
            </a:r>
          </a:p>
          <a:p>
            <a:pPr>
              <a:spcAft>
                <a:spcPts val="600"/>
              </a:spcAft>
            </a:pPr>
            <a:r>
              <a:rPr lang="fr-FR" b="1" dirty="0"/>
              <a:t>Participation au PEE :</a:t>
            </a:r>
            <a:r>
              <a:rPr lang="fr-FR" dirty="0"/>
              <a:t> améliorer l'information et l'accompagnement des salariés concernant les dispositifs d'épargne proposés par l'entreprise.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7A3906D-4648-FFDA-C2F7-ABFB34BD3180}"/>
              </a:ext>
            </a:extLst>
          </p:cNvPr>
          <p:cNvSpPr txBox="1"/>
          <p:nvPr/>
        </p:nvSpPr>
        <p:spPr>
          <a:xfrm>
            <a:off x="581192" y="2324875"/>
            <a:ext cx="11029616" cy="46166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fr-FR" sz="2400" dirty="0"/>
              <a:t>Axes d'action pour prévenir les départs :</a:t>
            </a:r>
          </a:p>
        </p:txBody>
      </p:sp>
    </p:spTree>
    <p:extLst>
      <p:ext uri="{BB962C8B-B14F-4D97-AF65-F5344CB8AC3E}">
        <p14:creationId xmlns:p14="http://schemas.microsoft.com/office/powerpoint/2010/main" val="32199441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BF4E3-7AEA-C2D0-9BD7-C81D15B27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A7C98A-4F90-ED76-274C-0D2366AD0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Avertissement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F96D4DA-8892-856F-AD65-C0D65849E8CD}"/>
              </a:ext>
            </a:extLst>
          </p:cNvPr>
          <p:cNvSpPr txBox="1"/>
          <p:nvPr/>
        </p:nvSpPr>
        <p:spPr>
          <a:xfrm>
            <a:off x="1092200" y="4887436"/>
            <a:ext cx="10007600" cy="1015663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 rtl="0">
              <a:defRPr lang="fr-FR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i="1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sz="2000" dirty="0"/>
              <a:t>Le modèle est utilisé comme un outil d'aide à la décision pour </a:t>
            </a:r>
            <a:r>
              <a:rPr lang="fr-FR" sz="2000" u="sng" dirty="0"/>
              <a:t>identifier les situations nécessitant une attention particulière</a:t>
            </a:r>
            <a:r>
              <a:rPr lang="fr-FR" sz="2000" dirty="0"/>
              <a:t>. Il </a:t>
            </a:r>
            <a:r>
              <a:rPr lang="fr-FR" sz="2000" b="1" dirty="0"/>
              <a:t>ne doit pas remplacer </a:t>
            </a:r>
            <a:r>
              <a:rPr lang="fr-FR" sz="2000" u="sng" dirty="0"/>
              <a:t>l'analyse individuelle menée par les RH</a:t>
            </a:r>
            <a:r>
              <a:rPr lang="fr-FR" sz="2000" dirty="0"/>
              <a:t> ni conduire automatiquement à une décision concernant un salarié.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AFC75EE-9BAC-98B2-6D88-6361F3E7B70A}"/>
              </a:ext>
            </a:extLst>
          </p:cNvPr>
          <p:cNvSpPr txBox="1"/>
          <p:nvPr/>
        </p:nvSpPr>
        <p:spPr>
          <a:xfrm>
            <a:off x="1092200" y="2927730"/>
            <a:ext cx="10007600" cy="1015663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i="1" dirty="0">
                <a:solidFill>
                  <a:schemeClr val="tx1"/>
                </a:solidFill>
                <a:latin typeface="Aptos" panose="020B0004020202020204" pitchFamily="34" charset="0"/>
              </a:rPr>
              <a:t>Les résultats du modèle décrivent le </a:t>
            </a:r>
            <a:r>
              <a:rPr lang="fr-FR" sz="2000" i="1" u="sng" dirty="0">
                <a:solidFill>
                  <a:schemeClr val="tx1"/>
                </a:solidFill>
                <a:latin typeface="Aptos" panose="020B0004020202020204" pitchFamily="34" charset="0"/>
              </a:rPr>
              <a:t>comportement du modèle </a:t>
            </a:r>
            <a:r>
              <a:rPr lang="fr-FR" sz="2000" i="1" dirty="0">
                <a:solidFill>
                  <a:schemeClr val="tx1"/>
                </a:solidFill>
                <a:latin typeface="Aptos" panose="020B0004020202020204" pitchFamily="34" charset="0"/>
              </a:rPr>
              <a:t>et doivent être interprétés comme des </a:t>
            </a:r>
            <a:r>
              <a:rPr lang="fr-FR" sz="2000" b="1" i="1" dirty="0">
                <a:solidFill>
                  <a:schemeClr val="tx1"/>
                </a:solidFill>
                <a:latin typeface="Aptos" panose="020B0004020202020204" pitchFamily="34" charset="0"/>
              </a:rPr>
              <a:t>facteurs associés aux prédictions</a:t>
            </a:r>
            <a:r>
              <a:rPr lang="fr-FR" sz="2000" i="1" dirty="0">
                <a:solidFill>
                  <a:schemeClr val="tx1"/>
                </a:solidFill>
                <a:latin typeface="Aptos" panose="020B0004020202020204" pitchFamily="34" charset="0"/>
              </a:rPr>
              <a:t>, et non comme des relations de causalité.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C5668F0-5078-974B-BC73-22CF6C57FFFA}"/>
              </a:ext>
            </a:extLst>
          </p:cNvPr>
          <p:cNvSpPr txBox="1"/>
          <p:nvPr/>
        </p:nvSpPr>
        <p:spPr>
          <a:xfrm>
            <a:off x="1092200" y="2164699"/>
            <a:ext cx="10007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b="1" dirty="0"/>
              <a:t>Résultats</a:t>
            </a:r>
            <a:endParaRPr lang="fr-FR" sz="40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A2B422D-20E4-FA04-2308-676D94905FFF}"/>
              </a:ext>
            </a:extLst>
          </p:cNvPr>
          <p:cNvSpPr txBox="1"/>
          <p:nvPr/>
        </p:nvSpPr>
        <p:spPr>
          <a:xfrm>
            <a:off x="1092200" y="4146371"/>
            <a:ext cx="1000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1" dirty="0"/>
              <a:t>Recommandations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8908655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 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Rectangle 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fr-FR">
                <a:solidFill>
                  <a:srgbClr val="FFFFFF"/>
                </a:solidFill>
              </a:rPr>
              <a:t>Merci</a:t>
            </a:r>
          </a:p>
        </p:txBody>
      </p:sp>
      <p:pic>
        <p:nvPicPr>
          <p:cNvPr id="5" name="Image 4" descr="Valeurs numérique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800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Conception technique</Template>
  <TotalTime>13434</TotalTime>
  <Words>2230</Words>
  <Application>Microsoft Office PowerPoint</Application>
  <PresentationFormat>Grand écran</PresentationFormat>
  <Paragraphs>324</Paragraphs>
  <Slides>41</Slides>
  <Notes>35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51" baseType="lpstr">
      <vt:lpstr>Aptos</vt:lpstr>
      <vt:lpstr>Aptos Display</vt:lpstr>
      <vt:lpstr>Arial</vt:lpstr>
      <vt:lpstr>Calibri</vt:lpstr>
      <vt:lpstr>Consolas</vt:lpstr>
      <vt:lpstr>Gill Sans MT</vt:lpstr>
      <vt:lpstr>Segoe UI Black</vt:lpstr>
      <vt:lpstr>Verdana</vt:lpstr>
      <vt:lpstr>Wingdings 2</vt:lpstr>
      <vt:lpstr>Personnalisé</vt:lpstr>
      <vt:lpstr>Tech-Nova </vt:lpstr>
      <vt:lpstr>Formation Développeur IA</vt:lpstr>
      <vt:lpstr>Stack Technique </vt:lpstr>
      <vt:lpstr>CONTEXTE ET OBJECTIFS </vt:lpstr>
      <vt:lpstr>Les Données d’entrée</vt:lpstr>
      <vt:lpstr>PIPELINE DE TRAITEMENT</vt:lpstr>
      <vt:lpstr>Préparation des données</vt:lpstr>
      <vt:lpstr>Jonction des Données</vt:lpstr>
      <vt:lpstr>Vérification des erreurs</vt:lpstr>
      <vt:lpstr>Colonnes Supprimées</vt:lpstr>
      <vt:lpstr>Exploration des données</vt:lpstr>
      <vt:lpstr>Vérification des outliers</vt:lpstr>
      <vt:lpstr>Vérification des outliers</vt:lpstr>
      <vt:lpstr>Distribution des données</vt:lpstr>
      <vt:lpstr>Distribution des données</vt:lpstr>
      <vt:lpstr>Présentation PowerPoint</vt:lpstr>
      <vt:lpstr>Répartition des Valeurs</vt:lpstr>
      <vt:lpstr>Présentation PowerPoint</vt:lpstr>
      <vt:lpstr>Présentation PowerPoint</vt:lpstr>
      <vt:lpstr>Présentation PowerPoint</vt:lpstr>
      <vt:lpstr>MODELISATION</vt:lpstr>
      <vt:lpstr>Modèles </vt:lpstr>
      <vt:lpstr>séparation train/test </vt:lpstr>
      <vt:lpstr>Scores des prédictions </vt:lpstr>
      <vt:lpstr>Enchainement des entrainements / Prédictions </vt:lpstr>
      <vt:lpstr>Passes </vt:lpstr>
      <vt:lpstr>Choix du seuil de décision Comment avons-nous choisi le seuil de décision ?</vt:lpstr>
      <vt:lpstr>La courbe Précision-Rappel La courbe Précision-Rappel pour choisir le seuil</vt:lpstr>
      <vt:lpstr>EVALUATION Finale </vt:lpstr>
      <vt:lpstr>EVALUATION Finale </vt:lpstr>
      <vt:lpstr>Bilan</vt:lpstr>
      <vt:lpstr>EVALUATION Finale </vt:lpstr>
      <vt:lpstr>EVALUATION Finale </vt:lpstr>
      <vt:lpstr>EVALUATION Finale </vt:lpstr>
      <vt:lpstr>EVALUATION Finale </vt:lpstr>
      <vt:lpstr>EVALUATION Finale </vt:lpstr>
      <vt:lpstr>EVALUATION Finale </vt:lpstr>
      <vt:lpstr>Analyse des résultats</vt:lpstr>
      <vt:lpstr>Recommandations RH</vt:lpstr>
      <vt:lpstr>Avertissement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auguey</dc:creator>
  <cp:lastModifiedBy>thomas auguey</cp:lastModifiedBy>
  <cp:revision>376</cp:revision>
  <dcterms:created xsi:type="dcterms:W3CDTF">2026-06-01T07:45:08Z</dcterms:created>
  <dcterms:modified xsi:type="dcterms:W3CDTF">2026-09-11T12:58:17Z</dcterms:modified>
</cp:coreProperties>
</file>