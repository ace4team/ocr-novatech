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5"/>
  </p:notesMasterIdLst>
  <p:handoutMasterIdLst>
    <p:handoutMasterId r:id="rId46"/>
  </p:handoutMasterIdLst>
  <p:sldIdLst>
    <p:sldId id="256" r:id="rId2"/>
    <p:sldId id="262" r:id="rId3"/>
    <p:sldId id="276" r:id="rId4"/>
    <p:sldId id="298" r:id="rId5"/>
    <p:sldId id="301" r:id="rId6"/>
    <p:sldId id="297" r:id="rId7"/>
    <p:sldId id="296" r:id="rId8"/>
    <p:sldId id="295" r:id="rId9"/>
    <p:sldId id="267" r:id="rId10"/>
    <p:sldId id="287" r:id="rId11"/>
    <p:sldId id="278" r:id="rId12"/>
    <p:sldId id="302" r:id="rId13"/>
    <p:sldId id="275" r:id="rId14"/>
    <p:sldId id="277" r:id="rId15"/>
    <p:sldId id="305" r:id="rId16"/>
    <p:sldId id="306" r:id="rId17"/>
    <p:sldId id="279" r:id="rId18"/>
    <p:sldId id="312" r:id="rId19"/>
    <p:sldId id="269" r:id="rId20"/>
    <p:sldId id="270" r:id="rId21"/>
    <p:sldId id="271" r:id="rId22"/>
    <p:sldId id="273" r:id="rId23"/>
    <p:sldId id="274" r:id="rId24"/>
    <p:sldId id="280" r:id="rId25"/>
    <p:sldId id="288" r:id="rId26"/>
    <p:sldId id="308" r:id="rId27"/>
    <p:sldId id="311" r:id="rId28"/>
    <p:sldId id="282" r:id="rId29"/>
    <p:sldId id="283" r:id="rId30"/>
    <p:sldId id="294" r:id="rId31"/>
    <p:sldId id="284" r:id="rId32"/>
    <p:sldId id="303" r:id="rId33"/>
    <p:sldId id="285" r:id="rId34"/>
    <p:sldId id="307" r:id="rId35"/>
    <p:sldId id="286" r:id="rId36"/>
    <p:sldId id="292" r:id="rId37"/>
    <p:sldId id="290" r:id="rId38"/>
    <p:sldId id="289" r:id="rId39"/>
    <p:sldId id="304" r:id="rId40"/>
    <p:sldId id="291" r:id="rId41"/>
    <p:sldId id="293" r:id="rId42"/>
    <p:sldId id="268" r:id="rId43"/>
    <p:sldId id="260" r:id="rId44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73790" autoAdjust="0"/>
  </p:normalViewPr>
  <p:slideViewPr>
    <p:cSldViewPr snapToGrid="0">
      <p:cViewPr varScale="1">
        <p:scale>
          <a:sx n="84" d="100"/>
          <a:sy n="84" d="100"/>
        </p:scale>
        <p:origin x="15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Bonjour</a:t>
            </a:r>
          </a:p>
          <a:p>
            <a:pPr rtl="0"/>
            <a:r>
              <a:rPr lang="fr-FR" dirty="0"/>
              <a:t>Thomas AUGUEY</a:t>
            </a:r>
          </a:p>
          <a:p>
            <a:pPr rtl="0"/>
            <a:r>
              <a:rPr lang="fr-FR" dirty="0"/>
              <a:t>Projet Tech Nova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Technova</a:t>
            </a:r>
            <a:endParaRPr lang="fr-FR" dirty="0"/>
          </a:p>
          <a:p>
            <a:r>
              <a:rPr lang="fr-FR" dirty="0"/>
              <a:t>Projet </a:t>
            </a:r>
            <a:r>
              <a:rPr lang="fr-FR" dirty="0" err="1"/>
              <a:t>Openclassrooms</a:t>
            </a:r>
            <a:r>
              <a:rPr lang="fr-FR" dirty="0"/>
              <a:t> =&gt; </a:t>
            </a:r>
            <a:r>
              <a:rPr lang="fr-FR" dirty="0" err="1"/>
              <a:t>Developpeur</a:t>
            </a:r>
            <a:r>
              <a:rPr lang="fr-FR" dirty="0"/>
              <a:t> IA</a:t>
            </a:r>
          </a:p>
          <a:p>
            <a:r>
              <a:rPr lang="fr-FR" dirty="0"/>
              <a:t>Stack : </a:t>
            </a:r>
            <a:r>
              <a:rPr lang="fr-FR" dirty="0" err="1"/>
              <a:t>Jupyter</a:t>
            </a:r>
            <a:r>
              <a:rPr lang="fr-FR" dirty="0"/>
              <a:t> + Python, UV Package, Excel</a:t>
            </a:r>
          </a:p>
          <a:p>
            <a:endParaRPr lang="fr-FR" dirty="0"/>
          </a:p>
          <a:p>
            <a:r>
              <a:rPr lang="fr-FR" dirty="0"/>
              <a:t>Machine Learning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8032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mandaté en tant que Consultant Data </a:t>
            </a:r>
            <a:r>
              <a:rPr lang="fr-FR" dirty="0" err="1"/>
              <a:t>Scientist</a:t>
            </a:r>
            <a:r>
              <a:rPr lang="fr-FR" dirty="0"/>
              <a:t> par le département RH du client</a:t>
            </a:r>
          </a:p>
          <a:p>
            <a:endParaRPr lang="fr-FR" dirty="0"/>
          </a:p>
          <a:p>
            <a:r>
              <a:rPr lang="fr-FR" i="1" dirty="0"/>
              <a:t>ESN = Entreprise de Services du Numérique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66123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47868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27018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analyser les données nous devons les préparer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972055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41041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Globalement le </a:t>
            </a:r>
            <a:r>
              <a:rPr lang="fr-FR" dirty="0" err="1"/>
              <a:t>dataset</a:t>
            </a:r>
            <a:r>
              <a:rPr lang="fr-FR" dirty="0"/>
              <a:t> est propre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3067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Ces informations sont soit incorrecte soit inutile dans notre  cas</a:t>
            </a:r>
          </a:p>
          <a:p>
            <a:r>
              <a:rPr lang="fr-FR" dirty="0"/>
              <a:t>Impossible de les retravailler car cela introduirait trop de valeur fictives =&gt; donc suppression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63216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B9793-939C-9ED6-1873-A265EF82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32ACA2F-97E3-4662-606D-BD06BE23C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70703E3-EFD9-09E8-636A-87D376D0E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468EBC-400A-43AB-9A35-311BA4E58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73950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outliers</a:t>
            </a:r>
            <a:r>
              <a:rPr lang="fr-FR" dirty="0"/>
              <a:t> peuvent fortement perturber les modèles de </a:t>
            </a:r>
            <a:r>
              <a:rPr lang="fr-FR" dirty="0" err="1"/>
              <a:t>MachineLearning</a:t>
            </a:r>
            <a:endParaRPr lang="fr-FR" dirty="0"/>
          </a:p>
          <a:p>
            <a:endParaRPr lang="fr-FR" dirty="0"/>
          </a:p>
          <a:p>
            <a:r>
              <a:rPr lang="fr-FR" dirty="0"/>
              <a:t>Pas de </a:t>
            </a:r>
            <a:r>
              <a:rPr lang="fr-FR" dirty="0" err="1"/>
              <a:t>outliers</a:t>
            </a:r>
            <a:r>
              <a:rPr lang="fr-FR" dirty="0"/>
              <a:t> choquant dans Sondages (erreurs) ou </a:t>
            </a:r>
            <a:r>
              <a:rPr lang="fr-FR" dirty="0" err="1"/>
              <a:t>evaluations</a:t>
            </a:r>
            <a:endParaRPr lang="fr-FR" dirty="0"/>
          </a:p>
          <a:p>
            <a:endParaRPr lang="fr-FR" dirty="0"/>
          </a:p>
          <a:p>
            <a:r>
              <a:rPr lang="fr-FR" dirty="0"/>
              <a:t>Voyons SIRH en détail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1448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8022-CB32-98F2-4A09-A01DF59E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EF4670C-B126-C596-268A-8C557E6514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DFF4E63-FA31-2EED-200D-E28DC0462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Revenu mensuel possèdes des </a:t>
            </a:r>
            <a:r>
              <a:rPr lang="fr-FR" dirty="0" err="1"/>
              <a:t>outliers</a:t>
            </a:r>
            <a:r>
              <a:rPr lang="fr-FR" dirty="0"/>
              <a:t> mais doivent être prit en compte tout de </a:t>
            </a:r>
            <a:r>
              <a:rPr lang="fr-FR" dirty="0" err="1"/>
              <a:t>meme</a:t>
            </a:r>
            <a:r>
              <a:rPr lang="fr-FR" dirty="0"/>
              <a:t> dans le </a:t>
            </a:r>
            <a:r>
              <a:rPr lang="fr-FR" dirty="0" err="1"/>
              <a:t>modele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A5C0C2-CFB4-7FDA-ABA4-737183B05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390043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31E4-8150-EED0-5F21-89DED617C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9F272B-95E6-91B8-BBFA-E91F16E00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BED5DB-37D6-DF16-DF58-6F117C90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Si on regarde la </a:t>
            </a:r>
            <a:r>
              <a:rPr lang="fr-FR" b="1" dirty="0"/>
              <a:t>DISTIBUTION DES SALAIRES</a:t>
            </a:r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Le maximum de 19 999 n'est pas isolé</a:t>
            </a:r>
          </a:p>
          <a:p>
            <a:endParaRPr lang="fr-FR" dirty="0"/>
          </a:p>
          <a:p>
            <a:r>
              <a:rPr lang="fr-FR" dirty="0"/>
              <a:t>mais risque de faire apprendre au modèle salaire bas = démission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E02D0F-634D-1135-4F02-92796110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65250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la matrice de confusion seul 1/3 des valeurs présente une </a:t>
            </a:r>
            <a:r>
              <a:rPr lang="fr-FR" dirty="0" err="1"/>
              <a:t>correlation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F69E8-4F8F-7A9C-7E41-AA70D1AE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EA969F2-B820-CBA2-78B7-7B988B27B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43E1451-1F8C-8AA9-FE97-EE48132B2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zoom dessus: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On voit que les 2 graphiques sont globalement ressemblant mais plus intense pour les départs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valeurs corrélées sont plutôt logiques:</a:t>
            </a:r>
          </a:p>
          <a:p>
            <a:pPr rtl="0"/>
            <a:r>
              <a:rPr lang="fr-FR" dirty="0" err="1"/>
              <a:t>note_evaluation_actuelle</a:t>
            </a:r>
            <a:r>
              <a:rPr lang="fr-FR" dirty="0"/>
              <a:t> &lt;&gt; </a:t>
            </a:r>
            <a:r>
              <a:rPr lang="fr-FR" dirty="0" err="1"/>
              <a:t>augmentation_salaire_precedente</a:t>
            </a:r>
            <a:endParaRPr lang="fr-FR" dirty="0"/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A86BF09-177A-B396-A089-3AD52328F0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9228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 avec 40% dans le poste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3 premières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Direction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Alors si on résume l’analyse exploratoire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325B4-FE81-12AC-D760-14B44E7C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9166934-A7C6-B319-4D0F-C73CEA177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F9DC6CA-C40F-E5E6-0846-BAD0B50D0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D38D7A-9FF4-BF3A-3A2B-8FC0DF89B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3269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25C2F-81F7-BFBC-A925-A45C9242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2DA3824-A1C9-F303-7DA5-440A7D3E2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AB31884-9FAC-D974-E65D-DEAD13A8D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Effectivement nous retrouvons certaines données dans la représentation de la corrélation de Pearson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Mais cette corrélation ne donne pas les raisons, juste une valeur entre -1 et 1 de relation entre 2 variables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La </a:t>
            </a:r>
            <a:r>
              <a:rPr lang="fr-FR" b="1" dirty="0"/>
              <a:t>corrélation de Pearson</a:t>
            </a:r>
            <a:r>
              <a:rPr lang="fr-FR" dirty="0"/>
              <a:t> mesure </a:t>
            </a:r>
            <a:r>
              <a:rPr lang="fr-FR" b="1" dirty="0"/>
              <a:t>la relation linéaire </a:t>
            </a:r>
            <a:r>
              <a:rPr lang="fr-FR" dirty="0"/>
              <a:t>entre deux variables quantitatives</a:t>
            </a:r>
          </a:p>
          <a:p>
            <a:pPr rtl="0"/>
            <a:endParaRPr lang="fr-FR" dirty="0"/>
          </a:p>
          <a:p>
            <a:pPr rtl="0"/>
            <a:r>
              <a:rPr lang="fr-FR" b="1" dirty="0"/>
              <a:t>Corrélation proche de +1</a:t>
            </a:r>
            <a:r>
              <a:rPr lang="fr-FR" dirty="0"/>
              <a:t> → forte relation positive</a:t>
            </a:r>
            <a:br>
              <a:rPr lang="fr-FR" dirty="0"/>
            </a:br>
            <a:r>
              <a:rPr lang="fr-FR" dirty="0"/>
              <a:t>→ quand la variable augmente,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a_quitte_l_entreprise</a:t>
            </a:r>
            <a:r>
              <a:rPr lang="fr-FR" dirty="0"/>
              <a:t> a tendance à augmenter. </a:t>
            </a:r>
          </a:p>
          <a:p>
            <a:pPr rtl="0"/>
            <a:r>
              <a:rPr lang="fr-FR" b="1" dirty="0"/>
              <a:t>Corrélation proche de -1</a:t>
            </a:r>
            <a:r>
              <a:rPr lang="fr-FR" dirty="0"/>
              <a:t> → forte relation négative</a:t>
            </a:r>
            <a:br>
              <a:rPr lang="fr-FR" dirty="0"/>
            </a:br>
            <a:r>
              <a:rPr lang="fr-FR" dirty="0"/>
              <a:t>→ quand la variable augmente,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a_quitte_l_entreprise</a:t>
            </a:r>
            <a:r>
              <a:rPr lang="fr-FR" dirty="0"/>
              <a:t> a tendance à diminuer. </a:t>
            </a:r>
          </a:p>
          <a:p>
            <a:pPr rtl="0"/>
            <a:r>
              <a:rPr lang="fr-FR" b="1" dirty="0"/>
              <a:t>Corrélation proche de 0</a:t>
            </a:r>
            <a:r>
              <a:rPr lang="fr-FR" dirty="0"/>
              <a:t> → pas de relation linéaire détectable.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683626-03C7-CF8C-0583-1DAA1A2D0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98141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BE42-7496-DBF9-1BD7-375DFB214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2D5055-B3E3-AC5C-BA6B-F7E5C4F41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3554EF-908A-C0A2-EA8B-E7B9759B9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Nous utiliserons 3 modèles pour comparer nos </a:t>
            </a:r>
            <a:r>
              <a:rPr lang="fr-FR" dirty="0" err="1"/>
              <a:t>resultats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dummy</a:t>
            </a:r>
            <a:r>
              <a:rPr lang="fr-FR" dirty="0"/>
              <a:t> qui est une simple moyenne comme base de comparaison</a:t>
            </a:r>
          </a:p>
          <a:p>
            <a:r>
              <a:rPr lang="fr-FR" dirty="0"/>
              <a:t>Le </a:t>
            </a:r>
            <a:r>
              <a:rPr lang="fr-FR" dirty="0" err="1"/>
              <a:t>LogisicRegression</a:t>
            </a:r>
            <a:r>
              <a:rPr lang="fr-FR" dirty="0"/>
              <a:t> qui se base sur une comparaison linéaire</a:t>
            </a:r>
          </a:p>
          <a:p>
            <a:r>
              <a:rPr lang="fr-FR" dirty="0"/>
              <a:t>Le </a:t>
            </a:r>
            <a:r>
              <a:rPr lang="fr-FR" dirty="0" err="1"/>
              <a:t>XGBoost</a:t>
            </a:r>
            <a:r>
              <a:rPr lang="fr-FR" dirty="0"/>
              <a:t> qui utilise des sous-modèles à base de forêts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8C4275-4F49-EF25-F89A-C4F510F6C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61054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J’utilise un jeu de données global pour tous les modèles et entrainements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02687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2F96-68F8-EA71-BCFB-5B3F1E9A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D51F77F-DEBD-5C8F-BC23-DDFE9E4C5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B96818-68E6-3449-95F7-F792ED2A5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Toutes les prédictions du modèle sont mesurées avec des scores</a:t>
            </a:r>
          </a:p>
          <a:p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distribution des probabilités </a:t>
            </a:r>
            <a:r>
              <a:rPr lang="fr-FR" dirty="0"/>
              <a:t>=&gt; pertinence des choix</a:t>
            </a:r>
          </a:p>
          <a:p>
            <a:r>
              <a:rPr lang="fr-FR" b="1" dirty="0"/>
              <a:t>Matrice de confusion </a:t>
            </a:r>
            <a:r>
              <a:rPr lang="fr-FR" dirty="0"/>
              <a:t>=&gt; les réussites et les loupés</a:t>
            </a:r>
          </a:p>
          <a:p>
            <a:r>
              <a:rPr lang="fr-FR" b="1" dirty="0"/>
              <a:t>Courbe ROC </a:t>
            </a:r>
            <a:r>
              <a:rPr lang="fr-FR" dirty="0"/>
              <a:t>=&gt; la courbe qui montre le compromis entre détection et faux positifs, </a:t>
            </a:r>
            <a:r>
              <a:rPr lang="fr-FR" b="1" dirty="0"/>
              <a:t>AUC </a:t>
            </a:r>
            <a:r>
              <a:rPr lang="fr-FR" dirty="0"/>
              <a:t>= aire de la courbe ROC (un nombre qui résume cette courbe)</a:t>
            </a:r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dirty="0"/>
              <a:t> =&gt; proportion de correctes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fiabilité des prédictions positives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capacité à retrouver les vrais positifs (ne pas louper des faux positif)</a:t>
            </a:r>
          </a:p>
          <a:p>
            <a:endParaRPr lang="fr-FR" dirty="0"/>
          </a:p>
          <a:p>
            <a:r>
              <a:rPr lang="fr-FR" dirty="0"/>
              <a:t>Pour un modèle d'attrition RH, on peut lire la ROC ainsi :</a:t>
            </a:r>
          </a:p>
          <a:p>
            <a:r>
              <a:rPr lang="fr-FR" dirty="0"/>
              <a:t>Si on choisit un seuil bas : </a:t>
            </a:r>
          </a:p>
          <a:p>
            <a:pPr lvl="1"/>
            <a:r>
              <a:rPr lang="fr-FR" dirty="0"/>
              <a:t>on détecte beaucoup de départs (</a:t>
            </a:r>
            <a:r>
              <a:rPr lang="fr-FR" dirty="0" err="1"/>
              <a:t>Recall</a:t>
            </a:r>
            <a:r>
              <a:rPr lang="fr-FR" dirty="0"/>
              <a:t> élevé) </a:t>
            </a:r>
          </a:p>
          <a:p>
            <a:pPr lvl="1"/>
            <a:r>
              <a:rPr lang="fr-FR" dirty="0"/>
              <a:t>mais on alerte beaucoup de personnes qui ne partiront pas (FPR élevé) </a:t>
            </a:r>
          </a:p>
          <a:p>
            <a:r>
              <a:rPr lang="fr-FR" dirty="0"/>
              <a:t>Si on choisit un seuil haut : </a:t>
            </a:r>
          </a:p>
          <a:p>
            <a:pPr lvl="1"/>
            <a:r>
              <a:rPr lang="fr-FR" dirty="0"/>
              <a:t>on alerte peu de personnes à tort </a:t>
            </a:r>
          </a:p>
          <a:p>
            <a:pPr lvl="1"/>
            <a:r>
              <a:rPr lang="fr-FR" dirty="0"/>
              <a:t>mais on rate davantage de départs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8F910-7E0B-B0F0-D8B3-C9A2A1115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632712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81318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D80B-689B-E988-0FDA-CB6CDDB1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C3ED86-FF5F-BEDF-EC9C-22FCAD11A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ACF4989-E90C-6332-7003-BE3CE0D24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Features</a:t>
            </a:r>
            <a:r>
              <a:rPr lang="fr-FR" sz="1200" kern="1200" noProof="0" dirty="0">
                <a:latin typeface="Aptos" panose="020B0004020202020204" pitchFamily="34" charset="0"/>
              </a:rPr>
              <a:t> </a:t>
            </a:r>
            <a:r>
              <a:rPr lang="fr-FR" sz="1200" kern="1200" noProof="0" dirty="0" err="1">
                <a:latin typeface="Aptos" panose="020B0004020202020204" pitchFamily="34" charset="0"/>
              </a:rPr>
              <a:t>enginering</a:t>
            </a:r>
            <a:r>
              <a:rPr lang="fr-FR" sz="1200" kern="1200" noProof="0" dirty="0">
                <a:latin typeface="Aptos" panose="020B0004020202020204" pitchFamily="34" charset="0"/>
              </a:rPr>
              <a:t> = Recherche de nouveaux paramètres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dirty="0" err="1">
                <a:latin typeface="Aptos" panose="020B0004020202020204" pitchFamily="34" charset="0"/>
              </a:rPr>
              <a:t>Scaling</a:t>
            </a:r>
            <a:r>
              <a:rPr lang="fr-FR" sz="1200" dirty="0">
                <a:latin typeface="Aptos" panose="020B0004020202020204" pitchFamily="34" charset="0"/>
              </a:rPr>
              <a:t> = Compense le déséquilibrage des classes « départ/reste » par les </a:t>
            </a:r>
            <a:r>
              <a:rPr lang="fr-FR" sz="1200" dirty="0" err="1">
                <a:latin typeface="Aptos" panose="020B0004020202020204" pitchFamily="34" charset="0"/>
              </a:rPr>
              <a:t>Hyper-paramètres</a:t>
            </a:r>
            <a:r>
              <a:rPr lang="fr-FR" sz="1200" dirty="0">
                <a:latin typeface="Aptos" panose="020B0004020202020204" pitchFamily="34" charset="0"/>
              </a:rPr>
              <a:t> du modèle </a:t>
            </a:r>
            <a:endParaRPr lang="fr-FR" sz="1200" kern="1200" noProof="0" dirty="0">
              <a:latin typeface="Aptos" panose="020B0004020202020204" pitchFamily="34" charset="0"/>
            </a:endParaRP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 err="1">
                <a:latin typeface="Aptos" panose="020B0004020202020204" pitchFamily="34" charset="0"/>
              </a:rPr>
              <a:t>Hyper-Paramètres</a:t>
            </a:r>
            <a:r>
              <a:rPr lang="fr-FR" sz="1200" kern="1200" noProof="0" dirty="0">
                <a:latin typeface="Aptos" panose="020B0004020202020204" pitchFamily="34" charset="0"/>
              </a:rPr>
              <a:t> = Paramétrage des modèles par la recherche croisée de </a:t>
            </a:r>
            <a:r>
              <a:rPr lang="fr-FR" sz="1200" kern="1200" noProof="0">
                <a:latin typeface="Aptos" panose="020B0004020202020204" pitchFamily="34" charset="0"/>
              </a:rPr>
              <a:t>paramètres optimaux</a:t>
            </a:r>
            <a:endParaRPr lang="fr-FR" sz="1200" kern="1200" noProof="0" dirty="0">
              <a:latin typeface="Aptos" panose="020B0004020202020204" pitchFamily="34" charset="0"/>
            </a:endParaRP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>
                <a:latin typeface="Aptos" panose="020B0004020202020204" pitchFamily="34" charset="0"/>
              </a:rPr>
              <a:t>Recherche du seuil optimal (F1-Score) = test avec différents seuils pour la meilleur note F1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52158A-4F6E-3C78-40DD-1BCBF78EE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314949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F1-Score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00807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Recall</a:t>
            </a:r>
            <a:endParaRPr lang="fr-FR" dirty="0"/>
          </a:p>
          <a:p>
            <a:endParaRPr lang="fr-FR" dirty="0"/>
          </a:p>
          <a:p>
            <a:r>
              <a:rPr lang="fr-FR" dirty="0"/>
              <a:t>Pour ne pas louper de faux-positifs</a:t>
            </a:r>
          </a:p>
          <a:p>
            <a:endParaRPr lang="fr-FR" dirty="0"/>
          </a:p>
          <a:p>
            <a:r>
              <a:rPr lang="fr-FR" dirty="0"/>
              <a:t>objectif semble être de </a:t>
            </a:r>
            <a:r>
              <a:rPr lang="fr-FR" b="1" dirty="0"/>
              <a:t>ne pas manquer les employés susceptibles de partir</a:t>
            </a:r>
            <a:r>
              <a:rPr lang="fr-FR" dirty="0"/>
              <a:t>, il serait intéressant de rechercher un seuil qui maximise le </a:t>
            </a:r>
            <a:r>
              <a:rPr lang="fr-FR" dirty="0" err="1"/>
              <a:t>recall</a:t>
            </a:r>
            <a:r>
              <a:rPr lang="fr-FR" dirty="0"/>
              <a:t> tout en gardant un nombre raisonnable de faux positifs.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26643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Dans notre cas nous pouvons dire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meilleur modèle est la </a:t>
            </a:r>
            <a:r>
              <a:rPr lang="fr-FR" dirty="0" err="1"/>
              <a:t>LogisticRegression</a:t>
            </a:r>
            <a:r>
              <a:rPr lang="fr-FR" dirty="0"/>
              <a:t> qui affiche un meilleur taux de </a:t>
            </a:r>
            <a:r>
              <a:rPr lang="fr-FR" dirty="0" err="1"/>
              <a:t>recall</a:t>
            </a:r>
            <a:r>
              <a:rPr lang="fr-FR" dirty="0"/>
              <a:t> (Idéal dans notre </a:t>
            </a:r>
            <a:r>
              <a:rPr lang="fr-FR" dirty="0" err="1"/>
              <a:t>problèmatique</a:t>
            </a:r>
            <a:r>
              <a:rPr lang="fr-FR" dirty="0"/>
              <a:t> métier)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XGBoost</a:t>
            </a:r>
            <a:r>
              <a:rPr lang="fr-FR" dirty="0"/>
              <a:t> affiche des résultats similaires mais inversement proportionnel </a:t>
            </a:r>
            <a:r>
              <a:rPr lang="fr-FR" dirty="0" err="1"/>
              <a:t>precision</a:t>
            </a:r>
            <a:r>
              <a:rPr lang="fr-FR" dirty="0"/>
              <a:t>/</a:t>
            </a:r>
            <a:r>
              <a:rPr lang="fr-FR" dirty="0" err="1"/>
              <a:t>recall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711705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le tranche pas idéalement entre 0 ou 1 mais hésite dans la distribution des probabilités.</a:t>
            </a:r>
          </a:p>
          <a:p>
            <a:endParaRPr lang="fr-FR" dirty="0"/>
          </a:p>
          <a:p>
            <a:r>
              <a:rPr lang="fr-FR" dirty="0"/>
              <a:t>Le modèle est </a:t>
            </a:r>
            <a:r>
              <a:rPr lang="fr-FR" b="1" dirty="0"/>
              <a:t>bon pour détecter les départs</a:t>
            </a:r>
            <a:r>
              <a:rPr lang="fr-FR" dirty="0"/>
              <a:t> : seulement 9 départs manqués sur 39. (</a:t>
            </a:r>
            <a:r>
              <a:rPr lang="fr-FR" dirty="0" err="1"/>
              <a:t>Recall</a:t>
            </a:r>
            <a:r>
              <a:rPr lang="fr-FR" dirty="0"/>
              <a:t> proche de 77 %.)</a:t>
            </a:r>
          </a:p>
          <a:p>
            <a:r>
              <a:rPr lang="fr-FR" dirty="0"/>
              <a:t>Le modèle est </a:t>
            </a:r>
            <a:r>
              <a:rPr lang="fr-FR" b="1" dirty="0"/>
              <a:t>moins bon pour cibler précisément les personnes à risque</a:t>
            </a:r>
            <a:r>
              <a:rPr lang="fr-FR" dirty="0"/>
              <a:t> : 52 alertes sur 82 sont des faux positifs.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TP = 28  , les employés qui ont réellement quitté l'entreprise et que le modèle a correctement identifiés.</a:t>
            </a:r>
          </a:p>
          <a:p>
            <a:endParaRPr lang="fr-FR" dirty="0"/>
          </a:p>
          <a:p>
            <a:r>
              <a:rPr lang="fr-FR" dirty="0"/>
              <a:t>FN = 11 , les employés qui ont quitté l'entreprise mais que le modèle avait classés comme restant.</a:t>
            </a:r>
          </a:p>
          <a:p>
            <a:endParaRPr lang="fr-FR" dirty="0"/>
          </a:p>
          <a:p>
            <a:r>
              <a:rPr lang="fr-FR" dirty="0"/>
              <a:t>FP = 26  , les employés prédits comme partants alors qu'ils sont finalement restés.</a:t>
            </a:r>
          </a:p>
          <a:p>
            <a:endParaRPr lang="fr-FR" dirty="0"/>
          </a:p>
          <a:p>
            <a:r>
              <a:rPr lang="fr-FR" dirty="0"/>
              <a:t>TN = 153 , les employés restés dans l'entreprise et correctement identifiés.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Cette courbe ROC permet d'évaluer la capacité de ton modèle à </a:t>
            </a:r>
            <a:r>
              <a:rPr lang="fr-FR" b="1" dirty="0"/>
              <a:t>séparer les employés qui quittent l'entreprise (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fr-FR" b="1" dirty="0"/>
              <a:t>) de ceux qui restent (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fr-FR" b="1" dirty="0"/>
              <a:t>)</a:t>
            </a:r>
            <a:r>
              <a:rPr lang="fr-FR" dirty="0"/>
              <a:t>, indépendamment du seuil de décision choisi.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63800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  <a:p>
            <a:endParaRPr lang="fr-FR" dirty="0"/>
          </a:p>
          <a:p>
            <a:r>
              <a:rPr lang="fr-FR" dirty="0"/>
              <a:t>Bleu = valeur basse</a:t>
            </a:r>
          </a:p>
          <a:p>
            <a:r>
              <a:rPr lang="fr-FR" dirty="0"/>
              <a:t>Rouge = valeur haute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680935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5B04-F66D-DCED-B6D2-4CA699C3D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3D558A-C96B-1EDB-3468-AE294F5A0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A87FC6-1571-34A5-CA93-2BB7AC0E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2FF07F-D2E4-57F1-EEB2-0E9BD461B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28279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Calcule des </a:t>
            </a:r>
            <a:r>
              <a:rPr lang="fr-FR" dirty="0" err="1"/>
              <a:t>counterfactuals</a:t>
            </a:r>
            <a:r>
              <a:rPr lang="fr-FR" dirty="0"/>
              <a:t> sur un échantillon de 20 salariés à risque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19/06/2026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Tech-Nova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26" y="219148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249" y="486425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523202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E540BF55-66A1-AEB9-0C84-37F0833436B0}"/>
              </a:ext>
            </a:extLst>
          </p:cNvPr>
          <p:cNvSpPr txBox="1">
            <a:spLocks/>
          </p:cNvSpPr>
          <p:nvPr/>
        </p:nvSpPr>
        <p:spPr>
          <a:xfrm>
            <a:off x="4978343" y="5648944"/>
            <a:ext cx="2235314" cy="1013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6000" dirty="0">
                <a:solidFill>
                  <a:schemeClr val="tx1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Le Projet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DD231E-6BC7-5409-B17C-F97858C1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 CLIENT</a:t>
            </a:r>
            <a:br>
              <a:rPr lang="fr-FR" dirty="0"/>
            </a:br>
            <a:r>
              <a:rPr lang="fr-FR" sz="2000" dirty="0"/>
              <a:t>ESN </a:t>
            </a:r>
            <a:r>
              <a:rPr lang="fr-FR" sz="2000" dirty="0" err="1"/>
              <a:t>TechNova</a:t>
            </a:r>
            <a:r>
              <a:rPr lang="fr-FR" sz="2000" dirty="0"/>
              <a:t> </a:t>
            </a:r>
            <a:r>
              <a:rPr lang="fr-FR" sz="2000" dirty="0" err="1"/>
              <a:t>Partners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5A31AB-4ABD-834A-DA20-9B709688F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Spécialisée dans le conseil en transformation digitale et la vente d’applications en SaaS.</a:t>
            </a:r>
          </a:p>
          <a:p>
            <a:endParaRPr lang="fr-FR" sz="2800" dirty="0"/>
          </a:p>
          <a:p>
            <a:r>
              <a:rPr lang="fr-FR" sz="2800" dirty="0"/>
              <a:t>Turnover élevé</a:t>
            </a:r>
          </a:p>
          <a:p>
            <a:endParaRPr lang="fr-FR" sz="2800" dirty="0"/>
          </a:p>
          <a:p>
            <a:r>
              <a:rPr lang="fr-FR" sz="2800" dirty="0"/>
              <a:t>Identifier les causes racines des démissions.</a:t>
            </a:r>
          </a:p>
        </p:txBody>
      </p:sp>
    </p:spTree>
    <p:extLst>
      <p:ext uri="{BB962C8B-B14F-4D97-AF65-F5344CB8AC3E}">
        <p14:creationId xmlns:p14="http://schemas.microsoft.com/office/powerpoint/2010/main" val="4169081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FD14-57F0-79C4-00C5-7F01836B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92C8EE-0A54-B2A4-2ED6-628262FC7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1001FF-76C3-E532-2793-4CD75E546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Préparer et Analyser les données d’entrée</a:t>
            </a:r>
          </a:p>
          <a:p>
            <a:endParaRPr lang="fr-FR" sz="2800" dirty="0"/>
          </a:p>
          <a:p>
            <a:r>
              <a:rPr lang="fr-FR" sz="2800" dirty="0"/>
              <a:t>Réaliser un modèle de prédiction de Machine Learning</a:t>
            </a:r>
          </a:p>
          <a:p>
            <a:endParaRPr lang="fr-FR" sz="2800" dirty="0"/>
          </a:p>
          <a:p>
            <a:r>
              <a:rPr lang="fr-FR" sz="2800" dirty="0"/>
              <a:t>Présenter les conclusions de nos résultats</a:t>
            </a:r>
          </a:p>
        </p:txBody>
      </p:sp>
    </p:spTree>
    <p:extLst>
      <p:ext uri="{BB962C8B-B14F-4D97-AF65-F5344CB8AC3E}">
        <p14:creationId xmlns:p14="http://schemas.microsoft.com/office/powerpoint/2010/main" val="3244018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5D40F-A33F-F56F-2E3F-0D2B12B18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Les Données d’entrée</a:t>
            </a:r>
          </a:p>
        </p:txBody>
      </p:sp>
      <p:pic>
        <p:nvPicPr>
          <p:cNvPr id="4" name="Picture 4" descr="Microsoft Excel — Wikipédia">
            <a:extLst>
              <a:ext uri="{FF2B5EF4-FFF2-40B4-BE49-F238E27FC236}">
                <a16:creationId xmlns:a16="http://schemas.microsoft.com/office/drawing/2014/main" id="{6F604B7A-1DEF-9038-F66D-0CE1153DC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622" y="365817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Microsoft Excel — Wikipédia">
            <a:extLst>
              <a:ext uri="{FF2B5EF4-FFF2-40B4-BE49-F238E27FC236}">
                <a16:creationId xmlns:a16="http://schemas.microsoft.com/office/drawing/2014/main" id="{DFFBD9B2-9352-B994-A86D-732AD2E2B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210717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8AEF5D28-0F0E-C92C-B8CC-58FCC5501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524738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1605D77-0F9C-18D0-07A7-ADA1AADF4FE2}"/>
              </a:ext>
            </a:extLst>
          </p:cNvPr>
          <p:cNvSpPr txBox="1"/>
          <p:nvPr/>
        </p:nvSpPr>
        <p:spPr>
          <a:xfrm>
            <a:off x="552076" y="452867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extrait_eval.csv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2D200A-2631-7FD2-C62D-3019D9B55BB2}"/>
              </a:ext>
            </a:extLst>
          </p:cNvPr>
          <p:cNvSpPr txBox="1"/>
          <p:nvPr/>
        </p:nvSpPr>
        <p:spPr>
          <a:xfrm>
            <a:off x="592642" y="300494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extrait_sirh.csv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FB313CA-647D-B41F-2892-9FCD370AD68B}"/>
              </a:ext>
            </a:extLst>
          </p:cNvPr>
          <p:cNvSpPr txBox="1"/>
          <p:nvPr/>
        </p:nvSpPr>
        <p:spPr>
          <a:xfrm>
            <a:off x="361273" y="626208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extrait_sondage.csv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32F998-FE93-157B-19CD-C21D3AA96942}"/>
              </a:ext>
            </a:extLst>
          </p:cNvPr>
          <p:cNvSpPr txBox="1"/>
          <p:nvPr/>
        </p:nvSpPr>
        <p:spPr>
          <a:xfrm>
            <a:off x="2470278" y="2192121"/>
            <a:ext cx="9347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C00000"/>
                </a:solidFill>
              </a:rPr>
              <a:t>Un extrait de notre système SIRH</a:t>
            </a:r>
          </a:p>
          <a:p>
            <a:r>
              <a:rPr lang="fr-FR" sz="2000" dirty="0"/>
              <a:t>Fonction de l’employé, âge, salaire, ancienneté etc... / Informations sociodémographiques.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37E39E-E3FA-B41E-6958-927E579F1893}"/>
              </a:ext>
            </a:extLst>
          </p:cNvPr>
          <p:cNvSpPr txBox="1"/>
          <p:nvPr/>
        </p:nvSpPr>
        <p:spPr>
          <a:xfrm>
            <a:off x="2470278" y="3743128"/>
            <a:ext cx="84578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 extrait des évaluations annuelles de performance.</a:t>
            </a:r>
          </a:p>
          <a:p>
            <a:r>
              <a:rPr lang="fr-FR" sz="2000" dirty="0"/>
              <a:t>Notes des évaluations et notes de satisfaction données par les employés.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0374D29-576F-4401-68F6-8641E0156AC2}"/>
              </a:ext>
            </a:extLst>
          </p:cNvPr>
          <p:cNvSpPr txBox="1"/>
          <p:nvPr/>
        </p:nvSpPr>
        <p:spPr>
          <a:xfrm>
            <a:off x="2470278" y="5192159"/>
            <a:ext cx="902338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75000"/>
                  </a:schemeClr>
                </a:solidFill>
              </a:rPr>
              <a:t>Sondage annuel des employés</a:t>
            </a:r>
          </a:p>
          <a:p>
            <a:r>
              <a:rPr lang="fr-FR" sz="2000" dirty="0"/>
              <a:t>Aide à mettre en place des actions pour le bien-être des employés.</a:t>
            </a:r>
          </a:p>
          <a:p>
            <a:r>
              <a:rPr lang="fr-FR" sz="2000" dirty="0"/>
              <a:t>+ Témoin pour indiquer si l’employé a quitté l’entreprise ou non.</a:t>
            </a:r>
          </a:p>
        </p:txBody>
      </p:sp>
    </p:spTree>
    <p:extLst>
      <p:ext uri="{BB962C8B-B14F-4D97-AF65-F5344CB8AC3E}">
        <p14:creationId xmlns:p14="http://schemas.microsoft.com/office/powerpoint/2010/main" val="4054339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5D48-1FC5-0A32-4C4C-EECEACC58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632967-CAE6-E6EE-17DA-3304CBCA7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179137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Préparation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196099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871A-6B20-1A70-020B-978DE8C6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2DA52-6ED2-6207-14B7-F51F5E5BC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Jonction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AAE93-9F46-D0FC-F0AE-7B4BFDC437E5}"/>
              </a:ext>
            </a:extLst>
          </p:cNvPr>
          <p:cNvSpPr/>
          <p:nvPr/>
        </p:nvSpPr>
        <p:spPr>
          <a:xfrm>
            <a:off x="3876550" y="2779633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52E63-D843-F726-5C58-0C3114BA8E03}"/>
              </a:ext>
            </a:extLst>
          </p:cNvPr>
          <p:cNvSpPr txBox="1"/>
          <p:nvPr/>
        </p:nvSpPr>
        <p:spPr>
          <a:xfrm>
            <a:off x="418887" y="3715949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1BF1C81-BA45-B1A3-D247-82034EE29130}"/>
              </a:ext>
            </a:extLst>
          </p:cNvPr>
          <p:cNvSpPr/>
          <p:nvPr/>
        </p:nvSpPr>
        <p:spPr>
          <a:xfrm flipH="1">
            <a:off x="4458865" y="1956700"/>
            <a:ext cx="882241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BE0BCA-3474-A5F3-F4D6-D63A906E3BC8}"/>
              </a:ext>
            </a:extLst>
          </p:cNvPr>
          <p:cNvSpPr txBox="1"/>
          <p:nvPr/>
        </p:nvSpPr>
        <p:spPr>
          <a:xfrm>
            <a:off x="3247622" y="3803324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  <p:pic>
        <p:nvPicPr>
          <p:cNvPr id="8" name="Picture 4" descr="Microsoft Excel — Wikipédia">
            <a:extLst>
              <a:ext uri="{FF2B5EF4-FFF2-40B4-BE49-F238E27FC236}">
                <a16:creationId xmlns:a16="http://schemas.microsoft.com/office/drawing/2014/main" id="{472E0447-52B9-C185-4646-EB126B0D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291" y="350770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4" descr="Microsoft Excel — Wikipédia">
            <a:extLst>
              <a:ext uri="{FF2B5EF4-FFF2-40B4-BE49-F238E27FC236}">
                <a16:creationId xmlns:a16="http://schemas.microsoft.com/office/drawing/2014/main" id="{25E746B1-165C-0064-528D-CBEFCCF42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195670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4" descr="Microsoft Excel — Wikipédia">
            <a:extLst>
              <a:ext uri="{FF2B5EF4-FFF2-40B4-BE49-F238E27FC236}">
                <a16:creationId xmlns:a16="http://schemas.microsoft.com/office/drawing/2014/main" id="{CE7B75CD-B6AE-FE17-706D-76E85ED7C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509691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EB20A5-3FBF-AF03-3B8A-E34B24949570}"/>
              </a:ext>
            </a:extLst>
          </p:cNvPr>
          <p:cNvSpPr txBox="1"/>
          <p:nvPr/>
        </p:nvSpPr>
        <p:spPr>
          <a:xfrm>
            <a:off x="5451311" y="297475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extrait_eval.csv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4FFA27A-E068-8EDF-F942-C6DB5EB6B501}"/>
              </a:ext>
            </a:extLst>
          </p:cNvPr>
          <p:cNvSpPr txBox="1"/>
          <p:nvPr/>
        </p:nvSpPr>
        <p:spPr>
          <a:xfrm>
            <a:off x="5440531" y="452576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extrait_sirh.csv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950FDA-57FE-35B9-FD03-EDA40A8D76BB}"/>
              </a:ext>
            </a:extLst>
          </p:cNvPr>
          <p:cNvSpPr txBox="1"/>
          <p:nvPr/>
        </p:nvSpPr>
        <p:spPr>
          <a:xfrm>
            <a:off x="5219942" y="611161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extrait_sondage.csv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BE0B4983-937F-2819-03F7-4CFCDDC260E2}"/>
              </a:ext>
            </a:extLst>
          </p:cNvPr>
          <p:cNvSpPr/>
          <p:nvPr/>
        </p:nvSpPr>
        <p:spPr>
          <a:xfrm>
            <a:off x="2472171" y="3660204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AEB94E49-D196-2A08-139B-87249C788876}"/>
              </a:ext>
            </a:extLst>
          </p:cNvPr>
          <p:cNvSpPr/>
          <p:nvPr/>
        </p:nvSpPr>
        <p:spPr>
          <a:xfrm>
            <a:off x="7241200" y="1990426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BB78091-4BC7-B781-64F3-D97DDD9DF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009" y="2903178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5769421-52AF-D437-7A9B-938BC8BCB7FE}"/>
              </a:ext>
            </a:extLst>
          </p:cNvPr>
          <p:cNvSpPr txBox="1"/>
          <p:nvPr/>
        </p:nvSpPr>
        <p:spPr>
          <a:xfrm rot="16200000">
            <a:off x="9331584" y="3855009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584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erreurs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2610538" y="2821762"/>
            <a:ext cx="77603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Incohérences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Colonnes inutiles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782676" y="3109294"/>
            <a:ext cx="57001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dirty="0" err="1"/>
              <a:t>eval_number</a:t>
            </a:r>
            <a:br>
              <a:rPr lang="en-US" dirty="0"/>
            </a:br>
            <a:r>
              <a:rPr lang="en-US" dirty="0" err="1"/>
              <a:t>id_employee</a:t>
            </a:r>
            <a:br>
              <a:rPr lang="en-US" dirty="0"/>
            </a:br>
            <a:r>
              <a:rPr lang="en-US" dirty="0" err="1"/>
              <a:t>code_sondage</a:t>
            </a:r>
            <a:endParaRPr lang="fr-FR" dirty="0"/>
          </a:p>
          <a:p>
            <a:pPr algn="r"/>
            <a:endParaRPr lang="fr-FR" dirty="0"/>
          </a:p>
          <a:p>
            <a:pPr algn="r"/>
            <a:endParaRPr lang="fr-FR" dirty="0"/>
          </a:p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6631325" y="2789500"/>
            <a:ext cx="486136" cy="29479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0348" y="3382331"/>
            <a:ext cx="1762251" cy="176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Conversion des colonnes Non-numériques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576577" y="5292524"/>
            <a:ext cx="5038846" cy="1166149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Conversion des classes en colonnes numériques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596B1-8347-FE17-116F-EA19276E991D}"/>
              </a:ext>
            </a:extLst>
          </p:cNvPr>
          <p:cNvSpPr txBox="1"/>
          <p:nvPr/>
        </p:nvSpPr>
        <p:spPr>
          <a:xfrm>
            <a:off x="390645" y="2486977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 b="1"/>
            </a:lvl1pPr>
          </a:lstStyle>
          <a:p>
            <a:pPr algn="ctr"/>
            <a:r>
              <a:rPr lang="fr-FR" dirty="0"/>
              <a:t>Qualitative ordinal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A7D7C41-7B70-9C68-85F1-D1076EAB1943}"/>
              </a:ext>
            </a:extLst>
          </p:cNvPr>
          <p:cNvSpPr txBox="1"/>
          <p:nvPr/>
        </p:nvSpPr>
        <p:spPr>
          <a:xfrm>
            <a:off x="3347495" y="2473824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binaire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40FB24C-A5E4-48F0-09BD-099DC2470CED}"/>
              </a:ext>
            </a:extLst>
          </p:cNvPr>
          <p:cNvSpPr txBox="1"/>
          <p:nvPr/>
        </p:nvSpPr>
        <p:spPr>
          <a:xfrm>
            <a:off x="6295180" y="2473823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nominale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5E7C4AB-14CD-61EC-FACF-96DD8DDD96FC}"/>
              </a:ext>
            </a:extLst>
          </p:cNvPr>
          <p:cNvSpPr txBox="1"/>
          <p:nvPr/>
        </p:nvSpPr>
        <p:spPr>
          <a:xfrm>
            <a:off x="442295" y="3188363"/>
            <a:ext cx="24976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algn="ctr"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fr-FR" dirty="0"/>
              <a:t>Fréquence déplacement</a:t>
            </a:r>
          </a:p>
          <a:p>
            <a:endParaRPr lang="en-US" dirty="0"/>
          </a:p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Aucun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&lt;</a:t>
            </a:r>
          </a:p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Occasionnel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&lt;</a:t>
            </a:r>
          </a:p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Fréquent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097B7E-23E6-3983-6650-1DD55BF325C2}"/>
              </a:ext>
            </a:extLst>
          </p:cNvPr>
          <p:cNvSpPr txBox="1"/>
          <p:nvPr/>
        </p:nvSpPr>
        <p:spPr>
          <a:xfrm>
            <a:off x="3373320" y="3175210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Quitté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l’entreprise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?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Oui / Non</a:t>
            </a:r>
          </a:p>
          <a:p>
            <a:pPr algn="ctr"/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6CB81AF-8951-C670-D196-E72F4CEBDFAC}"/>
              </a:ext>
            </a:extLst>
          </p:cNvPr>
          <p:cNvSpPr txBox="1"/>
          <p:nvPr/>
        </p:nvSpPr>
        <p:spPr>
          <a:xfrm>
            <a:off x="6321005" y="3120155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Poste_X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Poste_Y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Poste_Z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804D32F-2E36-1E9C-8738-7FBF11671F10}"/>
              </a:ext>
            </a:extLst>
          </p:cNvPr>
          <p:cNvSpPr txBox="1"/>
          <p:nvPr/>
        </p:nvSpPr>
        <p:spPr>
          <a:xfrm>
            <a:off x="9252030" y="2473823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Quantitative discrète / continue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449C0B1-D17E-E7EA-7C35-BB52E2B1B2DA}"/>
              </a:ext>
            </a:extLst>
          </p:cNvPr>
          <p:cNvSpPr txBox="1"/>
          <p:nvPr/>
        </p:nvSpPr>
        <p:spPr>
          <a:xfrm>
            <a:off x="9252031" y="3175209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% augmentation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salaire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7CDB8-06B4-26A6-9C29-55AFA9C3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B186BD-35A8-C0C0-14E7-916A3EEBF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 err="1"/>
              <a:t>DataFrame</a:t>
            </a:r>
            <a:r>
              <a:rPr lang="fr-FR" dirty="0"/>
              <a:t> Exploitable</a:t>
            </a:r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3A7B0C41-3BCF-DFD4-65C6-EF7158DD1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3639" y="2443304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90CD0C4-1001-37F8-2EE5-FA148ED29642}"/>
              </a:ext>
            </a:extLst>
          </p:cNvPr>
          <p:cNvSpPr txBox="1"/>
          <p:nvPr/>
        </p:nvSpPr>
        <p:spPr>
          <a:xfrm>
            <a:off x="3847236" y="4847015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587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97" y="21757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 rot="16200000">
            <a:off x="3440337" y="2954223"/>
            <a:ext cx="2090921" cy="56513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400" kern="1200" noProof="0" dirty="0"/>
              <a:t>Sondages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9DE5AE4-79BC-80D5-9DBA-9458FB6D7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8438" y="2110784"/>
            <a:ext cx="5992541" cy="2246211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CF3E418-9D9A-8E1B-79BB-8F2A7E9531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438" y="4524040"/>
            <a:ext cx="5992541" cy="221446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BA46EA0F-D37C-FB35-A854-EAFB3329934A}"/>
              </a:ext>
            </a:extLst>
          </p:cNvPr>
          <p:cNvSpPr txBox="1"/>
          <p:nvPr/>
        </p:nvSpPr>
        <p:spPr>
          <a:xfrm rot="16200000">
            <a:off x="10389520" y="2952266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4CB09BE-FE69-BDE7-96D2-EA0B63299C67}"/>
              </a:ext>
            </a:extLst>
          </p:cNvPr>
          <p:cNvSpPr txBox="1"/>
          <p:nvPr/>
        </p:nvSpPr>
        <p:spPr>
          <a:xfrm rot="16200000">
            <a:off x="10389520" y="5349648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tx1"/>
                </a:solidFill>
              </a:rPr>
              <a:t>evaluation</a:t>
            </a:r>
            <a:endParaRPr lang="fr-FR" sz="3600" kern="12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8A005-461D-E1A5-334B-DB48910C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824C46-0D06-C121-905C-7A99B6D89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E9AD9E-3C60-DEFE-D8DF-6D71C9418D70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6846D11-1474-2A22-F649-230BD5ECCB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/>
          <a:stretch>
            <a:fillRect/>
          </a:stretch>
        </p:blipFill>
        <p:spPr>
          <a:xfrm>
            <a:off x="618973" y="2110783"/>
            <a:ext cx="965659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1D6BCF6-296E-BEAE-4DB2-936EB0BA391D}"/>
              </a:ext>
            </a:extLst>
          </p:cNvPr>
          <p:cNvSpPr txBox="1"/>
          <p:nvPr/>
        </p:nvSpPr>
        <p:spPr>
          <a:xfrm rot="16200000">
            <a:off x="9827545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</p:spTree>
    <p:extLst>
      <p:ext uri="{BB962C8B-B14F-4D97-AF65-F5344CB8AC3E}">
        <p14:creationId xmlns:p14="http://schemas.microsoft.com/office/powerpoint/2010/main" val="2883648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F741-6637-02A5-2AC2-3680284C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841F55-2D68-2F89-4FCA-D4DE6B08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E1D330-6C53-60F1-EBA8-46C7686C06BD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F6B27F-0949-000D-09C3-D3A66FEA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 r="66049"/>
          <a:stretch>
            <a:fillRect/>
          </a:stretch>
        </p:blipFill>
        <p:spPr>
          <a:xfrm>
            <a:off x="618973" y="2110783"/>
            <a:ext cx="212422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C6146A-43ED-EDC9-1BD6-29D778AF8EF7}"/>
              </a:ext>
            </a:extLst>
          </p:cNvPr>
          <p:cNvSpPr txBox="1"/>
          <p:nvPr/>
        </p:nvSpPr>
        <p:spPr>
          <a:xfrm rot="16200000">
            <a:off x="10528153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93CBA4B-E563-F937-0596-B21681D71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4" t="823"/>
          <a:stretch>
            <a:fillRect/>
          </a:stretch>
        </p:blipFill>
        <p:spPr>
          <a:xfrm>
            <a:off x="2743200" y="4009673"/>
            <a:ext cx="7598458" cy="2375825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662DB05B-D02A-A458-495D-39F31D1F4DE7}"/>
              </a:ext>
            </a:extLst>
          </p:cNvPr>
          <p:cNvSpPr txBox="1">
            <a:spLocks/>
          </p:cNvSpPr>
          <p:nvPr/>
        </p:nvSpPr>
        <p:spPr>
          <a:xfrm>
            <a:off x="2805475" y="2314673"/>
            <a:ext cx="3649846" cy="79242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5% &gt; 17,821€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B38E7912-8B3C-328D-F40B-F55D2FC191CC}"/>
              </a:ext>
            </a:extLst>
          </p:cNvPr>
          <p:cNvCxnSpPr/>
          <p:nvPr/>
        </p:nvCxnSpPr>
        <p:spPr>
          <a:xfrm>
            <a:off x="976313" y="3567113"/>
            <a:ext cx="1540791" cy="0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ABB0244B-D360-7A5B-8321-6825E75C4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17" y="2046897"/>
            <a:ext cx="3400900" cy="2248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55F62BD-6E78-AF27-1B3E-BA7049A1A79F}"/>
              </a:ext>
            </a:extLst>
          </p:cNvPr>
          <p:cNvSpPr/>
          <p:nvPr/>
        </p:nvSpPr>
        <p:spPr>
          <a:xfrm>
            <a:off x="6782988" y="3849505"/>
            <a:ext cx="2226391" cy="2176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681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5EFFA0-0CC9-56E8-E5CF-DF02F3D95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ctr"/>
            <a:r>
              <a:rPr lang="fr-FR" dirty="0"/>
              <a:t>Matrice de confusion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3EE2A35-5224-5A74-C2C0-3EE75A0B3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963" y="805122"/>
            <a:ext cx="10671810" cy="473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6D1397-10F0-820A-725B-6D463B62E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1FF3805-3323-0443-F753-B6151E82F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A5619E-23A8-08B1-D62A-6EC273D84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3DE91D-8398-3DFB-23D3-0E46C0B3F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ctr"/>
            <a:r>
              <a:rPr lang="fr-FR" dirty="0"/>
              <a:t>Matrice de confusion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FBB40F-AE51-9DE5-5681-A1DF527D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7" y="731000"/>
            <a:ext cx="11482940" cy="508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124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BF1530-101B-6541-E18B-139A09D99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1D67233-15F8-A806-2283-DD8262B73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95879BE-FB13-471B-45F7-3E377AFF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Répartition des Valeurs</a:t>
            </a:r>
          </a:p>
        </p:txBody>
      </p:sp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 (:= 3 ou 4)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3E11-ED94-D696-49DC-D6D86359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ED92C9-18E7-2FA7-77E2-86A8DF96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AJUSTEMENTS</a:t>
            </a:r>
          </a:p>
        </p:txBody>
      </p:sp>
    </p:spTree>
    <p:extLst>
      <p:ext uri="{BB962C8B-B14F-4D97-AF65-F5344CB8AC3E}">
        <p14:creationId xmlns:p14="http://schemas.microsoft.com/office/powerpoint/2010/main" val="40381568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597975-877A-82B7-07A6-8C93B894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111E46-FEA6-2792-7AA9-5F92BBA0A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712EDB-76B2-66F1-8D1D-70703CBF7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A3588E-2787-1CCC-EA4A-500974939767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Ce qui a changé dans le </a:t>
            </a:r>
            <a:r>
              <a:rPr lang="fr-FR" sz="40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dataset</a:t>
            </a:r>
            <a:endParaRPr lang="fr-FR" sz="40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A048F830-8EF9-B728-F11D-10B64C6FCBA6}"/>
              </a:ext>
            </a:extLst>
          </p:cNvPr>
          <p:cNvGrpSpPr/>
          <p:nvPr/>
        </p:nvGrpSpPr>
        <p:grpSpPr>
          <a:xfrm>
            <a:off x="720524" y="3520381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1475EF6-9DA3-C9AB-2081-F65DCBA92B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Supprimé car inutiles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6B432FC-C71A-F510-41D4-270C9D449F74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ID et Valeurs constantes</a:t>
              </a:r>
              <a:endParaRPr lang="fr-FR" dirty="0">
                <a:solidFill>
                  <a:srgbClr val="BBBEBF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5CF545D0-CB1B-F13E-5097-481AD7106260}"/>
              </a:ext>
            </a:extLst>
          </p:cNvPr>
          <p:cNvGrpSpPr/>
          <p:nvPr/>
        </p:nvGrpSpPr>
        <p:grpSpPr>
          <a:xfrm>
            <a:off x="720524" y="2224316"/>
            <a:ext cx="9983164" cy="646331"/>
            <a:chOff x="570053" y="1046054"/>
            <a:chExt cx="9983164" cy="646331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4F3656A-A7D5-2F1C-426E-1E5C3A8A9A70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Conserver uniquement la tranche la plus représentative des salaires pour éviter un biais: salaire bas = démission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E31FF213-4A54-4341-730D-6C22147F639B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25D8B79E-B236-80BE-EE13-B6AA2CE93EA3}"/>
              </a:ext>
            </a:extLst>
          </p:cNvPr>
          <p:cNvGrpSpPr/>
          <p:nvPr/>
        </p:nvGrpSpPr>
        <p:grpSpPr>
          <a:xfrm>
            <a:off x="722453" y="1198454"/>
            <a:ext cx="9983164" cy="376128"/>
            <a:chOff x="570053" y="1046054"/>
            <a:chExt cx="9983164" cy="376128"/>
          </a:xfrm>
        </p:grpSpPr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73D93538-A197-889B-6286-CD785E8E48D1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Supprimé car non informative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EAE6C91A-29F8-AD62-12E3-5372492F79E0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 err="1">
                  <a:solidFill>
                    <a:srgbClr val="A5D6FF"/>
                  </a:solidFill>
                  <a:latin typeface="Consolas" panose="020B0609020204030204" pitchFamily="49" charset="0"/>
                </a:rPr>
                <a:t>note_evaluation_actuelle</a:t>
              </a:r>
              <a:endParaRPr lang="fr-FR" dirty="0">
                <a:solidFill>
                  <a:srgbClr val="BBBEBF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4273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5D0B1-E2B1-616D-4FA7-5573B8FF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9DE0B40-C411-FE98-F183-AA8E304C5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1623DB-45A9-6A60-EE4C-B7B2BCDD9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502124D-622B-CDB5-1B56-102A7C641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898" y="763073"/>
            <a:ext cx="7880698" cy="555821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65D229F-A2E6-827E-343A-73C70EA34DFB}"/>
              </a:ext>
            </a:extLst>
          </p:cNvPr>
          <p:cNvSpPr txBox="1"/>
          <p:nvPr/>
        </p:nvSpPr>
        <p:spPr>
          <a:xfrm rot="16200000">
            <a:off x="72158" y="2307930"/>
            <a:ext cx="3380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a_quitte_l_entreprise </a:t>
            </a: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D22F2AE-D3C8-AC03-DC9D-0DC991459875}"/>
              </a:ext>
            </a:extLst>
          </p:cNvPr>
          <p:cNvSpPr txBox="1"/>
          <p:nvPr/>
        </p:nvSpPr>
        <p:spPr>
          <a:xfrm>
            <a:off x="10033596" y="2350818"/>
            <a:ext cx="20250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0,0: Pas de relation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844A915-4D18-08C2-D50F-C6AA492CE5D7}"/>
              </a:ext>
            </a:extLst>
          </p:cNvPr>
          <p:cNvSpPr txBox="1"/>
          <p:nvPr/>
        </p:nvSpPr>
        <p:spPr>
          <a:xfrm>
            <a:off x="10033596" y="848426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1,0: Relation forte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DE8CE3A-15E2-2076-E73B-34235D28173C}"/>
              </a:ext>
            </a:extLst>
          </p:cNvPr>
          <p:cNvSpPr txBox="1"/>
          <p:nvPr/>
        </p:nvSpPr>
        <p:spPr>
          <a:xfrm>
            <a:off x="10033596" y="1599622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0,5: Relation modéré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B69950D-5E7B-1F5F-310D-8F8D9A21EFAA}"/>
              </a:ext>
            </a:extLst>
          </p:cNvPr>
          <p:cNvSpPr txBox="1"/>
          <p:nvPr/>
        </p:nvSpPr>
        <p:spPr>
          <a:xfrm>
            <a:off x="10033596" y="3853212"/>
            <a:ext cx="20250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1,0: Relation forte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33BE4DB-0718-9300-51A2-156A987D08F3}"/>
              </a:ext>
            </a:extLst>
          </p:cNvPr>
          <p:cNvSpPr txBox="1"/>
          <p:nvPr/>
        </p:nvSpPr>
        <p:spPr>
          <a:xfrm>
            <a:off x="10033596" y="3102014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0,5: Relation modéré</a:t>
            </a:r>
          </a:p>
        </p:txBody>
      </p:sp>
    </p:spTree>
    <p:extLst>
      <p:ext uri="{BB962C8B-B14F-4D97-AF65-F5344CB8AC3E}">
        <p14:creationId xmlns:p14="http://schemas.microsoft.com/office/powerpoint/2010/main" val="24691232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A5AE-DB34-F3A1-A66B-1E447C178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CDB381B-A893-3C1E-2875-08AE6CA4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3 Modèles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232812D-146C-DD71-28AC-9A2687D1AF94}"/>
              </a:ext>
            </a:extLst>
          </p:cNvPr>
          <p:cNvSpPr txBox="1"/>
          <p:nvPr/>
        </p:nvSpPr>
        <p:spPr>
          <a:xfrm>
            <a:off x="2124276" y="3097899"/>
            <a:ext cx="7943448" cy="221070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Dummy</a:t>
            </a:r>
            <a:r>
              <a:rPr lang="fr-FR" sz="3600" dirty="0">
                <a:latin typeface="Aptos" panose="020B0004020202020204" pitchFamily="34" charset="0"/>
              </a:rPr>
              <a:t> (</a:t>
            </a:r>
            <a:r>
              <a:rPr lang="fr-FR" sz="3600" dirty="0" err="1">
                <a:latin typeface="Aptos" panose="020B0004020202020204" pitchFamily="34" charset="0"/>
              </a:rPr>
              <a:t>DummyClassifier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Logistic</a:t>
            </a:r>
            <a:r>
              <a:rPr lang="fr-FR" sz="3600" kern="1200" noProof="0" dirty="0"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atin typeface="Aptos" panose="020B0004020202020204" pitchFamily="34" charset="0"/>
              </a:rPr>
              <a:t>Regression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Non-Linéaire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XGBoost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636336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FDC66FA-806C-BFEC-C438-8F5B67945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6" y="2310470"/>
            <a:ext cx="10355947" cy="359261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0EF400-D15D-A4DE-DEA7-997A5CC3B7F1}"/>
              </a:ext>
            </a:extLst>
          </p:cNvPr>
          <p:cNvSpPr txBox="1"/>
          <p:nvPr/>
        </p:nvSpPr>
        <p:spPr>
          <a:xfrm>
            <a:off x="6883062" y="5042095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20%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B06C0D0-0834-6E71-9BC2-9DCD90C70A4B}"/>
              </a:ext>
            </a:extLst>
          </p:cNvPr>
          <p:cNvSpPr txBox="1"/>
          <p:nvPr/>
        </p:nvSpPr>
        <p:spPr>
          <a:xfrm>
            <a:off x="6883062" y="3382451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B85A6-C554-B985-E218-D0648145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E19ADB-7D25-9F9D-688B-FBDD2828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Scores des prédictions</a:t>
            </a:r>
            <a:br>
              <a:rPr lang="fr-FR" dirty="0"/>
            </a:b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C0AA046-F89E-7038-3DA2-F69AD2A8C0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40" t="3994"/>
          <a:stretch>
            <a:fillRect/>
          </a:stretch>
        </p:blipFill>
        <p:spPr>
          <a:xfrm>
            <a:off x="8032831" y="1041722"/>
            <a:ext cx="3495554" cy="562320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50D4EE1-B858-8730-B3ED-351A17A1C8BF}"/>
              </a:ext>
            </a:extLst>
          </p:cNvPr>
          <p:cNvSpPr txBox="1"/>
          <p:nvPr/>
        </p:nvSpPr>
        <p:spPr>
          <a:xfrm>
            <a:off x="1333598" y="2795812"/>
            <a:ext cx="3495554" cy="278925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Accuracy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Precision</a:t>
            </a:r>
            <a:endParaRPr lang="fr-FR" sz="3600" kern="1200" noProof="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Recall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>
                <a:latin typeface="Aptos" panose="020B0004020202020204" pitchFamily="34" charset="0"/>
              </a:rPr>
              <a:t>AUC</a:t>
            </a:r>
            <a:endParaRPr lang="fr-FR" sz="3600" kern="1200" noProof="0" dirty="0">
              <a:latin typeface="Aptos" panose="020B0004020202020204" pitchFamily="34" charset="0"/>
            </a:endParaRPr>
          </a:p>
        </p:txBody>
      </p:sp>
      <p:sp>
        <p:nvSpPr>
          <p:cNvPr id="2" name="Accolade fermante 1">
            <a:extLst>
              <a:ext uri="{FF2B5EF4-FFF2-40B4-BE49-F238E27FC236}">
                <a16:creationId xmlns:a16="http://schemas.microsoft.com/office/drawing/2014/main" id="{237B8867-8A61-38DE-2028-96FBC5D9BFE7}"/>
              </a:ext>
            </a:extLst>
          </p:cNvPr>
          <p:cNvSpPr/>
          <p:nvPr/>
        </p:nvSpPr>
        <p:spPr>
          <a:xfrm>
            <a:off x="3995771" y="3476869"/>
            <a:ext cx="486136" cy="12162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B15544F-A99F-8F1E-1A3E-EB80FF503D22}"/>
              </a:ext>
            </a:extLst>
          </p:cNvPr>
          <p:cNvSpPr txBox="1"/>
          <p:nvPr/>
        </p:nvSpPr>
        <p:spPr>
          <a:xfrm>
            <a:off x="4667345" y="3704262"/>
            <a:ext cx="2857309" cy="761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800" kern="1200" noProof="0" dirty="0">
                <a:latin typeface="Aptos" panose="020B0004020202020204" pitchFamily="34" charset="0"/>
              </a:rPr>
              <a:t>F1-Score</a:t>
            </a:r>
          </a:p>
        </p:txBody>
      </p:sp>
    </p:spTree>
    <p:extLst>
      <p:ext uri="{BB962C8B-B14F-4D97-AF65-F5344CB8AC3E}">
        <p14:creationId xmlns:p14="http://schemas.microsoft.com/office/powerpoint/2010/main" val="2692932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Enchainement des entrainements / Prédictions</a:t>
            </a:r>
            <a:br>
              <a:rPr lang="fr-FR" dirty="0"/>
            </a:br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0802B0C-359D-ED3A-069D-327B85A7CC2B}"/>
              </a:ext>
            </a:extLst>
          </p:cNvPr>
          <p:cNvGrpSpPr/>
          <p:nvPr/>
        </p:nvGrpSpPr>
        <p:grpSpPr>
          <a:xfrm>
            <a:off x="4387346" y="2040296"/>
            <a:ext cx="3635953" cy="1528826"/>
            <a:chOff x="1487405" y="3074098"/>
            <a:chExt cx="3635953" cy="1528826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870C4CC7-4FA6-AF29-70EB-ECEBFD20D22F}"/>
                </a:ext>
              </a:extLst>
            </p:cNvPr>
            <p:cNvSpPr txBox="1"/>
            <p:nvPr/>
          </p:nvSpPr>
          <p:spPr>
            <a:xfrm rot="16200000">
              <a:off x="2125883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2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CBA7137-F83F-A807-F8A3-5BA3169B7A1B}"/>
                </a:ext>
              </a:extLst>
            </p:cNvPr>
            <p:cNvSpPr txBox="1"/>
            <p:nvPr/>
          </p:nvSpPr>
          <p:spPr>
            <a:xfrm rot="16200000">
              <a:off x="866172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1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54C891F-6444-8EC7-DF3E-ECF5DD1EBD77}"/>
                </a:ext>
              </a:extLst>
            </p:cNvPr>
            <p:cNvSpPr txBox="1"/>
            <p:nvPr/>
          </p:nvSpPr>
          <p:spPr>
            <a:xfrm rot="16200000">
              <a:off x="3242414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3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B792DA2-C4DF-AE3A-BF73-115532FA32FC}"/>
                </a:ext>
              </a:extLst>
            </p:cNvPr>
            <p:cNvSpPr txBox="1"/>
            <p:nvPr/>
          </p:nvSpPr>
          <p:spPr>
            <a:xfrm rot="16200000">
              <a:off x="4215765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X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68993A9D-717A-12F6-F15D-4576161A6357}"/>
              </a:ext>
            </a:extLst>
          </p:cNvPr>
          <p:cNvSpPr/>
          <p:nvPr/>
        </p:nvSpPr>
        <p:spPr>
          <a:xfrm>
            <a:off x="4305782" y="3569122"/>
            <a:ext cx="367923" cy="4472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A338320-DFC6-FFA8-302D-C94CB849C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015" y="44254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149C1B1-9D5F-17DA-9A46-BDF6CB0C3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615" y="42730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005AFF5-3C6D-FA6B-C11C-D8AF59FBC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215" y="41206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531E59A-513A-BB3B-06A5-5196AFE50910}"/>
              </a:ext>
            </a:extLst>
          </p:cNvPr>
          <p:cNvSpPr txBox="1"/>
          <p:nvPr/>
        </p:nvSpPr>
        <p:spPr>
          <a:xfrm>
            <a:off x="581193" y="4273070"/>
            <a:ext cx="19229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BaseTrain</a:t>
            </a:r>
            <a:endParaRPr lang="fr-FR" b="0" dirty="0">
              <a:solidFill>
                <a:srgbClr val="4EC9B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 #1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 #</a:t>
            </a: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Train #3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…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5D3B-0697-8881-DD44-C5B19959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D87583A-7B83-FFD0-591B-CDA40F54D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Passes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F687F8C-D650-B11B-CA56-E70ECE8917EF}"/>
              </a:ext>
            </a:extLst>
          </p:cNvPr>
          <p:cNvSpPr txBox="1"/>
          <p:nvPr/>
        </p:nvSpPr>
        <p:spPr>
          <a:xfrm>
            <a:off x="1947963" y="2663190"/>
            <a:ext cx="8753274" cy="3115463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Initial</a:t>
            </a: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Features</a:t>
            </a: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enginering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Scaling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Hyper-Paramètres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Recherche du seuil optimal (F1-Score)</a:t>
            </a:r>
          </a:p>
        </p:txBody>
      </p:sp>
    </p:spTree>
    <p:extLst>
      <p:ext uri="{BB962C8B-B14F-4D97-AF65-F5344CB8AC3E}">
        <p14:creationId xmlns:p14="http://schemas.microsoft.com/office/powerpoint/2010/main" val="10453754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FD5DA50-FE06-C4AC-01D3-5DF6FB1BF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687" y="1970111"/>
            <a:ext cx="8182626" cy="488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7A2D6-CBB2-4579-2311-CE675DCE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2003356-66FB-93DE-47CB-666EE7B4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9082FCE-0D47-E676-68D4-3769E0594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50" y="1871019"/>
            <a:ext cx="8173100" cy="48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6910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4F0A-57FF-E66A-33A8-5E5922D4C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022CBF-309D-1A58-AF11-BAD873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5E44E83-82B1-8472-570C-FA15AE994CB0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Interprétation des résultats du modèle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E22F050-3B23-2B96-FF61-CF3C6C7AB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925" y="2521057"/>
            <a:ext cx="8124585" cy="225096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A9ED9EE-78D9-AD38-5898-1B7207948B27}"/>
              </a:ext>
            </a:extLst>
          </p:cNvPr>
          <p:cNvSpPr/>
          <p:nvPr/>
        </p:nvSpPr>
        <p:spPr>
          <a:xfrm>
            <a:off x="2343150" y="3643313"/>
            <a:ext cx="228600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25A5F-63BC-3C7A-E69E-33CB93D6419A}"/>
              </a:ext>
            </a:extLst>
          </p:cNvPr>
          <p:cNvSpPr/>
          <p:nvPr/>
        </p:nvSpPr>
        <p:spPr>
          <a:xfrm>
            <a:off x="7267575" y="3636482"/>
            <a:ext cx="81915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6CC60E-B23E-2C8D-A0E0-785823DE469C}"/>
              </a:ext>
            </a:extLst>
          </p:cNvPr>
          <p:cNvSpPr/>
          <p:nvPr/>
        </p:nvSpPr>
        <p:spPr>
          <a:xfrm>
            <a:off x="9006210" y="3636482"/>
            <a:ext cx="81915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7618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DF79E957-64BC-68E8-4D7E-E470CC7A0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571" y="1813480"/>
            <a:ext cx="4679944" cy="3689695"/>
          </a:xfrm>
          <a:prstGeom prst="rect">
            <a:avLst/>
          </a:prstGeom>
        </p:spPr>
      </p:pic>
      <p:sp>
        <p:nvSpPr>
          <p:cNvPr id="8" name="Titre 3">
            <a:extLst>
              <a:ext uri="{FF2B5EF4-FFF2-40B4-BE49-F238E27FC236}">
                <a16:creationId xmlns:a16="http://schemas.microsoft.com/office/drawing/2014/main" id="{18EB53AB-FFA5-379A-BD6D-C07E34759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B23442C-8924-96D4-D2CA-ED1037924F10}"/>
              </a:ext>
            </a:extLst>
          </p:cNvPr>
          <p:cNvSpPr txBox="1"/>
          <p:nvPr/>
        </p:nvSpPr>
        <p:spPr>
          <a:xfrm>
            <a:off x="7854733" y="5600700"/>
            <a:ext cx="2023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0 = Négatif = Reste </a:t>
            </a:r>
          </a:p>
          <a:p>
            <a:pPr algn="ctr"/>
            <a:r>
              <a:rPr lang="fr-FR" dirty="0"/>
              <a:t>1 = Positif = Quitte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BD9D254-866B-4EED-77BA-236DFA7035F1}"/>
              </a:ext>
            </a:extLst>
          </p:cNvPr>
          <p:cNvSpPr txBox="1"/>
          <p:nvPr/>
        </p:nvSpPr>
        <p:spPr>
          <a:xfrm>
            <a:off x="7854732" y="5148958"/>
            <a:ext cx="2023865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fr-FR" dirty="0"/>
              <a:t>Val. Prédit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8D4581A-AF1C-A722-0BC1-54730DFD4D46}"/>
              </a:ext>
            </a:extLst>
          </p:cNvPr>
          <p:cNvSpPr txBox="1"/>
          <p:nvPr/>
        </p:nvSpPr>
        <p:spPr>
          <a:xfrm rot="16200000">
            <a:off x="6219992" y="3574812"/>
            <a:ext cx="2023865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fr-FR" dirty="0"/>
              <a:t>Val. Réelle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27E5663-589D-6D7D-D4E3-266B49667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2290603"/>
            <a:ext cx="5822990" cy="3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735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402F-471B-553A-AB43-A1D1DD523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546A46-5AAF-8FDA-AD9D-22B8418F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154B68-022E-788C-02E9-1F6A6C998B4F}"/>
              </a:ext>
            </a:extLst>
          </p:cNvPr>
          <p:cNvSpPr txBox="1"/>
          <p:nvPr/>
        </p:nvSpPr>
        <p:spPr>
          <a:xfrm>
            <a:off x="6982788" y="3429000"/>
            <a:ext cx="4812176" cy="65793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Features</a:t>
            </a:r>
            <a:r>
              <a:rPr lang="fr-FR" sz="3600" kern="1200" noProof="0" dirty="0"/>
              <a:t> Importances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A601D0E-E615-D908-58AF-46253D7D8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1527968"/>
            <a:ext cx="5937160" cy="478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221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BB5A-7956-3D8B-A575-8040EE35C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777ED1F-0C09-3194-C9FC-0D653287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2297735-EBFF-BFB5-3925-434E790ED85A}"/>
              </a:ext>
            </a:extLst>
          </p:cNvPr>
          <p:cNvSpPr txBox="1"/>
          <p:nvPr/>
        </p:nvSpPr>
        <p:spPr>
          <a:xfrm>
            <a:off x="299495" y="2000731"/>
            <a:ext cx="1159301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dirty="0"/>
          </a:p>
          <a:p>
            <a:pPr algn="ctr"/>
            <a:r>
              <a:rPr lang="fr-FR" b="1" dirty="0"/>
              <a:t>La combinaison :</a:t>
            </a:r>
          </a:p>
          <a:p>
            <a:pPr algn="ctr"/>
            <a:r>
              <a:rPr lang="fr-FR" dirty="0"/>
              <a:t>salaire bas + heures supplémentaires + distance domicile travail + nombre de participations PEE</a:t>
            </a:r>
          </a:p>
          <a:p>
            <a:pPr algn="ctr"/>
            <a:r>
              <a:rPr lang="fr-FR" dirty="0"/>
              <a:t>joue un rôle de pression au travail qui n’est pas récompensé par le salaire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  <a:p>
            <a:pPr algn="ctr"/>
            <a:r>
              <a:rPr lang="fr-FR" b="1" dirty="0"/>
              <a:t>Les postes les plus touchés sont :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Représentant Commercial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Consultant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Ressources Humaines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algn="ctr"/>
            <a:r>
              <a:rPr lang="fr-FR" dirty="0"/>
              <a:t>Le modèle est cohérent avec l’analyse préliminaire des données</a:t>
            </a:r>
          </a:p>
          <a:p>
            <a:pPr algn="ctr"/>
            <a:r>
              <a:rPr lang="fr-FR" dirty="0"/>
              <a:t>Cependant, le modèle est loin d’être parfait avec beaucoup de prédictions incorrectes</a:t>
            </a:r>
          </a:p>
          <a:p>
            <a:pPr algn="ctr"/>
            <a:r>
              <a:rPr lang="fr-FR" dirty="0"/>
              <a:t>Les données n’expliquent pas tout mais donne une tendance localisée</a:t>
            </a:r>
          </a:p>
        </p:txBody>
      </p:sp>
    </p:spTree>
    <p:extLst>
      <p:ext uri="{BB962C8B-B14F-4D97-AF65-F5344CB8AC3E}">
        <p14:creationId xmlns:p14="http://schemas.microsoft.com/office/powerpoint/2010/main" val="21475006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 rot="16200000">
            <a:off x="-1196934" y="2450379"/>
            <a:ext cx="39209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24568F-AD33-3E82-601D-70507A946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512" y="788128"/>
            <a:ext cx="9422651" cy="4626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4568</TotalTime>
  <Words>1869</Words>
  <Application>Microsoft Office PowerPoint</Application>
  <PresentationFormat>Grand écran</PresentationFormat>
  <Paragraphs>340</Paragraphs>
  <Slides>43</Slides>
  <Notes>37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43</vt:i4>
      </vt:variant>
    </vt:vector>
  </HeadingPairs>
  <TitlesOfParts>
    <vt:vector size="53" baseType="lpstr">
      <vt:lpstr>Aptos</vt:lpstr>
      <vt:lpstr>Aptos Display</vt:lpstr>
      <vt:lpstr>Arial</vt:lpstr>
      <vt:lpstr>Calibri</vt:lpstr>
      <vt:lpstr>Consolas</vt:lpstr>
      <vt:lpstr>Gill Sans MT</vt:lpstr>
      <vt:lpstr>Segoe UI Black</vt:lpstr>
      <vt:lpstr>Verdana</vt:lpstr>
      <vt:lpstr>Wingdings 2</vt:lpstr>
      <vt:lpstr>Personnalisé</vt:lpstr>
      <vt:lpstr>Tech-Nova </vt:lpstr>
      <vt:lpstr>Formation Développeur IA</vt:lpstr>
      <vt:lpstr>Le Projet</vt:lpstr>
      <vt:lpstr>Le CLIENT ESN TechNova Partners</vt:lpstr>
      <vt:lpstr>objectifs</vt:lpstr>
      <vt:lpstr>Les Données d’entrée</vt:lpstr>
      <vt:lpstr>Préparation des données</vt:lpstr>
      <vt:lpstr>Jonction des Données</vt:lpstr>
      <vt:lpstr>Vérification des erreurs</vt:lpstr>
      <vt:lpstr>Colonnes inutiles</vt:lpstr>
      <vt:lpstr>Conversion des colonnes Non-numériques</vt:lpstr>
      <vt:lpstr>DataFrame Exploitable</vt:lpstr>
      <vt:lpstr>Exploration des données</vt:lpstr>
      <vt:lpstr>Vérification des outliers</vt:lpstr>
      <vt:lpstr>Vérification des outliers</vt:lpstr>
      <vt:lpstr>Vérification des outliers</vt:lpstr>
      <vt:lpstr>Matrice de confusion</vt:lpstr>
      <vt:lpstr>Matrice de confusion</vt:lpstr>
      <vt:lpstr>Distribution des données</vt:lpstr>
      <vt:lpstr>Distribution des données</vt:lpstr>
      <vt:lpstr>Présentation PowerPoint</vt:lpstr>
      <vt:lpstr>Répartition des Valeurs</vt:lpstr>
      <vt:lpstr>Présentation PowerPoint</vt:lpstr>
      <vt:lpstr>Présentation PowerPoint</vt:lpstr>
      <vt:lpstr>Présentation PowerPoint</vt:lpstr>
      <vt:lpstr>AJUSTEMENTS</vt:lpstr>
      <vt:lpstr>Présentation PowerPoint</vt:lpstr>
      <vt:lpstr>Présentation PowerPoint</vt:lpstr>
      <vt:lpstr>MODELISATION</vt:lpstr>
      <vt:lpstr>3 Modèles </vt:lpstr>
      <vt:lpstr>séparation train/test </vt:lpstr>
      <vt:lpstr>Scores des prédictions </vt:lpstr>
      <vt:lpstr>Enchainement des entrainements / Prédictions </vt:lpstr>
      <vt:lpstr>Passes </vt:lpstr>
      <vt:lpstr>EVALUATION Finale </vt:lpstr>
      <vt:lpstr>EVALUATION Finale </vt:lpstr>
      <vt:lpstr>Bilan</vt:lpstr>
      <vt:lpstr>EVALUATION Finale </vt:lpstr>
      <vt:lpstr>EVALUATION Finale </vt:lpstr>
      <vt:lpstr>EVALUATION Finale </vt:lpstr>
      <vt:lpstr>EVALUATION Finale </vt:lpstr>
      <vt:lpstr>Ce qu’il faut changer pour réduire les démissions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227</cp:revision>
  <dcterms:created xsi:type="dcterms:W3CDTF">2026-06-01T07:45:08Z</dcterms:created>
  <dcterms:modified xsi:type="dcterms:W3CDTF">2026-06-19T06:28:51Z</dcterms:modified>
</cp:coreProperties>
</file>