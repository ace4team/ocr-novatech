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27"/>
  </p:notesMasterIdLst>
  <p:handoutMasterIdLst>
    <p:handoutMasterId r:id="rId28"/>
  </p:handoutMasterIdLst>
  <p:sldIdLst>
    <p:sldId id="256" r:id="rId2"/>
    <p:sldId id="262" r:id="rId3"/>
    <p:sldId id="263" r:id="rId4"/>
    <p:sldId id="276" r:id="rId5"/>
    <p:sldId id="264" r:id="rId6"/>
    <p:sldId id="278" r:id="rId7"/>
    <p:sldId id="277" r:id="rId8"/>
    <p:sldId id="265" r:id="rId9"/>
    <p:sldId id="266" r:id="rId10"/>
    <p:sldId id="267" r:id="rId11"/>
    <p:sldId id="275" r:id="rId12"/>
    <p:sldId id="279" r:id="rId13"/>
    <p:sldId id="269" r:id="rId14"/>
    <p:sldId id="270" r:id="rId15"/>
    <p:sldId id="271" r:id="rId16"/>
    <p:sldId id="272" r:id="rId17"/>
    <p:sldId id="273" r:id="rId18"/>
    <p:sldId id="274" r:id="rId19"/>
    <p:sldId id="281" r:id="rId20"/>
    <p:sldId id="280" r:id="rId21"/>
    <p:sldId id="282" r:id="rId22"/>
    <p:sldId id="268" r:id="rId23"/>
    <p:sldId id="258" r:id="rId24"/>
    <p:sldId id="259" r:id="rId25"/>
    <p:sldId id="260" r:id="rId26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3385" autoAdjust="0"/>
  </p:normalViewPr>
  <p:slideViewPr>
    <p:cSldViewPr snapToGrid="0">
      <p:cViewPr varScale="1">
        <p:scale>
          <a:sx n="83" d="100"/>
          <a:sy n="83" d="100"/>
        </p:scale>
        <p:origin x="16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1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fr-FR" noProof="0" dirty="0"/>
            <a:t>Cloud	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fr-FR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fr-FR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fr-FR" noProof="0" dirty="0"/>
            <a:t>Locales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fr-FR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fr-FR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fr-FR" noProof="0" dirty="0"/>
            <a:t>Hybrides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fr-FR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fr-FR" noProof="0" dirty="0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58319267-C71E-43C9-94E1-827D0616C7A7}" type="pres">
      <dgm:prSet presAssocID="{6750AC01-D39D-4F3A-9DC8-2A211EE986A2}" presName="text_1" presStyleLbl="node1" presStyleIdx="0" presStyleCnt="3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3"/>
      <dgm:spPr/>
    </dgm:pt>
    <dgm:pt modelId="{95DE6538-27BD-44AF-A1A8-CA8F6B10FDD2}" type="pres">
      <dgm:prSet presAssocID="{0BEF68B8-1228-47BB-83B5-7B9CD1E3F84E}" presName="text_2" presStyleLbl="node1" presStyleIdx="1" presStyleCnt="3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3"/>
      <dgm:spPr/>
    </dgm:pt>
    <dgm:pt modelId="{E131CE4A-9776-44F4-BC03-867682E21374}" type="pres">
      <dgm:prSet presAssocID="{5605D28D-2CE6-4513-8566-952984E21E14}" presName="text_3" presStyleLbl="node1" presStyleIdx="2" presStyleCnt="3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3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96568" y="356393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500" kern="1200" noProof="0" dirty="0"/>
            <a:t>Cloud	</a:t>
          </a:r>
        </a:p>
      </dsp:txBody>
      <dsp:txXfrm>
        <a:off x="496568" y="356393"/>
        <a:ext cx="6310391" cy="712787"/>
      </dsp:txXfrm>
    </dsp:sp>
    <dsp:sp modelId="{07CB3071-D555-47DA-A36A-69EB91531FD8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55666" y="1425575"/>
          <a:ext cx="6051292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500" kern="1200" noProof="0" dirty="0"/>
            <a:t>Locales</a:t>
          </a:r>
        </a:p>
      </dsp:txBody>
      <dsp:txXfrm>
        <a:off x="755666" y="1425575"/>
        <a:ext cx="6051292" cy="712787"/>
      </dsp:txXfrm>
    </dsp:sp>
    <dsp:sp modelId="{3F8116AC-FAC3-4E95-9865-93CCFEB191B9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496568" y="2494756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500" kern="1200" noProof="0" dirty="0"/>
            <a:t>Hybrides</a:t>
          </a:r>
        </a:p>
      </dsp:txBody>
      <dsp:txXfrm>
        <a:off x="496568" y="2494756"/>
        <a:ext cx="6310391" cy="712787"/>
      </dsp:txXfrm>
    </dsp:sp>
    <dsp:sp modelId="{A965097E-32F1-4AB8-8C4E-2814A7596B2F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367168-A7C3-4A51-ACFE-4D76B720982F}" type="datetime1">
              <a:rPr lang="fr-FR" smtClean="0"/>
              <a:t>05/06/2026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B4F1169-1988-463B-A52C-EF5C9A50040C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9A36-8469-C609-999F-77DE8916C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045A04B-830C-2D7C-426E-1F3B39AC2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04936F91-F919-E263-9BD7-F1CEDE0E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seules valeurs corrélées sont plutôt logiques:</a:t>
            </a: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annee_dans_l_entreprise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cap="none" dirty="0" err="1">
                <a:solidFill>
                  <a:srgbClr val="FF0000"/>
                </a:solidFill>
              </a:rPr>
              <a:t>annee_derniere_promotion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>
                <a:solidFill>
                  <a:srgbClr val="FF0000"/>
                </a:solidFill>
              </a:rPr>
              <a:t>Etc…</a:t>
            </a:r>
          </a:p>
          <a:p>
            <a:pPr rtl="0"/>
            <a:endParaRPr lang="fr-FR" sz="1200" cap="none" dirty="0">
              <a:solidFill>
                <a:srgbClr val="FF0000"/>
              </a:solidFill>
            </a:endParaRP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CE8220-440C-EB29-CCDF-A5DBCFE1F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61460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7DDF-1565-460D-7632-8DB4205BF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937EF3A-67B8-3982-9B6C-5AFF4168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6179351-D1B0-8933-365D-1A8449B45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B64E2C-F309-26A1-29C7-D147CB832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088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CD09-F6CE-C390-CC5F-14C307D3F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3CA679E-56D5-DA9C-3F9E-B7C4D91B8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BC1A91F-6392-4AB9-EC1C-3EF67A193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représentants commerciaux sont les plus touchés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A9B1C26-D223-45AC-1CF5-942769045A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9045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820E-D793-0CBB-DB6F-10293059F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5149BE40-1CF7-AB01-2BEB-CC6184017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147367D-4A1D-3C8D-4DC7-D360D984C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3 </a:t>
            </a:r>
            <a:r>
              <a:rPr lang="fr-FR" dirty="0" err="1"/>
              <a:t>premieres</a:t>
            </a:r>
            <a:r>
              <a:rPr lang="fr-FR" dirty="0"/>
              <a:t> catégories </a:t>
            </a:r>
            <a:r>
              <a:rPr lang="fr-FR" dirty="0" err="1"/>
              <a:t>regourpe</a:t>
            </a:r>
            <a:r>
              <a:rPr lang="fr-FR" dirty="0"/>
              <a:t> beaucoup plus de salariés que « Représentant Commerciaux 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Ce qui explique </a:t>
            </a:r>
            <a:r>
              <a:rPr lang="fr-FR" sz="1200" cap="none" dirty="0">
                <a:solidFill>
                  <a:srgbClr val="FF0000"/>
                </a:solidFill>
              </a:rPr>
              <a:t>Les postes les plus concernés (en nombres #) par rapport au (%)</a:t>
            </a: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08FE6-9145-1EF4-4E9B-12F1514B5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3551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DC83-9D73-AB47-40DE-C0FDB5D28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17736E43-4991-40CC-8448-E1CEF8AE28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ADF23F44-37DC-7CAC-BF82-6964D2418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1FAF157-9E3A-50B3-4B0E-7BA2F8D91C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76717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94FE-373D-42DF-4F35-9D7D3ED6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F3D63DA-8EBB-9954-6921-0D25ACB2B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08B0656-60A7-5E0A-BDA4-7027E836D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 err="1"/>
              <a:t>Correlation</a:t>
            </a:r>
            <a:r>
              <a:rPr lang="fr-FR" dirty="0"/>
              <a:t> forte entre le salaire et les démissions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9F29C8-0F7B-0D1C-1EE8-A0C284FB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8868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CEC01-C35C-BC0A-706F-5A32A626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A7013224-66E6-DE8C-E611-5EFBEABD8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C3AEEEE-95B4-C7F9-5D14-068E3F5AB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3F5DC3A-3C49-8F98-E524-FC9F03094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1429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C332-DDE8-BA4A-0533-7FF445DA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2B01A4C7-330E-FE92-4E17-B6C510736C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3165E82-4064-7D71-76B7-60D9F593C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07A573-158F-C57D-9B8F-8EE542959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84699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25C2F-81F7-BFBC-A925-A45C9242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82DA3824-A1C9-F303-7DA5-440A7D3E2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4AB31884-9FAC-D974-E65D-DEAD13A8D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683626-03C7-CF8C-0583-1DAA1A2D0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98141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EE5D-BBD3-A2EC-1F05-E46CF48A1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6D9FE61C-76CE-1BB9-1395-173342861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C764E2B-A845-3539-9858-36364E249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399622-8265-25D5-383D-A84B233D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9451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9636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51155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F3B20A7-A3FE-46B9-84EA-B4257BA7E60C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B34D2F-0B02-482E-ABD2-95D8C2FF2A58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26ECFBB-4871-428F-B4AE-1EF357E63674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517F14-0D9C-452E-A596-36902551AE9C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9BF800-A62B-4735-B9A7-5450007C0A78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47267E0-A979-4430-94B4-54611641D8EE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58A73B6-B077-488D-82CF-3056D5BAC73E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8F108A3-3495-404B-9869-1BA62DF0E465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B550F6-4238-41AE-B6F4-4D375745C983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5E3FBB-57D2-4FB3-B51E-0FDE8CEE6791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E9F9435-70D7-42BA-8564-5EC34B97B69E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BBB97F02-5EDD-4BF6-BE41-AB41D1FEABF8}" type="datetime1">
              <a:rPr lang="fr-FR" noProof="0" smtClean="0"/>
              <a:t>05/06/2026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 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pic>
        <p:nvPicPr>
          <p:cNvPr id="7" name="Image 6" descr="Connexions numériqu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fr-FR" sz="6000" dirty="0" err="1">
                <a:solidFill>
                  <a:schemeClr val="bg1"/>
                </a:solidFill>
              </a:rPr>
              <a:t>TechNova</a:t>
            </a:r>
            <a:r>
              <a:rPr lang="fr-FR" sz="6000" dirty="0"/>
              <a:t> </a:t>
            </a:r>
            <a:endParaRPr lang="fr-FR" sz="6000" dirty="0"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r>
              <a:rPr lang="fr-FR" dirty="0"/>
              <a:t>Analyse des causes de démission</a:t>
            </a:r>
            <a:endParaRPr lang="fr-FR" dirty="0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887ABB-4D37-F4E5-C72E-05B3951B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Formation Développeur IA</a:t>
            </a:r>
          </a:p>
        </p:txBody>
      </p:sp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A154197-7927-FA64-68F3-8463F8F0B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300" y="766902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Jupyter - Visual Studio Marketplace">
            <a:extLst>
              <a:ext uri="{FF2B5EF4-FFF2-40B4-BE49-F238E27FC236}">
                <a16:creationId xmlns:a16="http://schemas.microsoft.com/office/drawing/2014/main" id="{5BBF6CEF-1ECD-D45B-FECD-1582DE5A9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375" y="3023347"/>
            <a:ext cx="1757734" cy="1765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6F69B809-21C0-9ED3-E817-150D37D8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362" y="4694600"/>
            <a:ext cx="1353623" cy="139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2. Traitement de données avec PANDAS — Outils numériques avancés en  Mécanique">
            <a:extLst>
              <a:ext uri="{FF2B5EF4-FFF2-40B4-BE49-F238E27FC236}">
                <a16:creationId xmlns:a16="http://schemas.microsoft.com/office/drawing/2014/main" id="{0646F847-D574-9338-7260-840A3FEF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4955" y="3076482"/>
            <a:ext cx="2306277" cy="1208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UV - Python Package Manager: how to use it, comparisons, and common issues  | Pedro Medinilla Bohorquez - Pedromebo">
            <a:extLst>
              <a:ext uri="{FF2B5EF4-FFF2-40B4-BE49-F238E27FC236}">
                <a16:creationId xmlns:a16="http://schemas.microsoft.com/office/drawing/2014/main" id="{3F04E6DC-A3F1-4760-8863-86893C5A6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3" t="25873" r="21843" b="28412"/>
          <a:stretch>
            <a:fillRect/>
          </a:stretch>
        </p:blipFill>
        <p:spPr bwMode="auto">
          <a:xfrm>
            <a:off x="8534400" y="2421455"/>
            <a:ext cx="3218329" cy="1259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4922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3C07D0-0DE7-7EEF-51B0-721C25DAE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520F13-1BC0-00E5-A8FA-348EA6DC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ayant_enfants</a:t>
            </a:r>
            <a:r>
              <a:rPr lang="fr-FR" dirty="0"/>
              <a:t>, </a:t>
            </a:r>
            <a:r>
              <a:rPr lang="fr-FR" dirty="0" err="1"/>
              <a:t>nombre_heures_travailless</a:t>
            </a:r>
            <a:r>
              <a:rPr lang="fr-FR" dirty="0"/>
              <a:t>, </a:t>
            </a:r>
            <a:r>
              <a:rPr lang="fr-FR" dirty="0" err="1"/>
              <a:t>nombre_employee_sous_responsabilite</a:t>
            </a:r>
            <a:r>
              <a:rPr lang="fr-FR" dirty="0"/>
              <a:t> ne sont pas exploitables car toujours la même valeur</a:t>
            </a:r>
          </a:p>
          <a:p>
            <a:r>
              <a:rPr lang="fr-FR" dirty="0" err="1"/>
              <a:t>code_sondage</a:t>
            </a:r>
            <a:r>
              <a:rPr lang="fr-FR" dirty="0"/>
              <a:t>, </a:t>
            </a:r>
            <a:r>
              <a:rPr lang="fr-FR" dirty="0" err="1"/>
              <a:t>id_employee</a:t>
            </a:r>
            <a:r>
              <a:rPr lang="fr-FR" dirty="0"/>
              <a:t> et </a:t>
            </a:r>
            <a:r>
              <a:rPr lang="fr-FR" dirty="0" err="1"/>
              <a:t>eval_number</a:t>
            </a:r>
            <a:r>
              <a:rPr lang="fr-FR" dirty="0"/>
              <a:t> </a:t>
            </a:r>
            <a:r>
              <a:rPr lang="fr-FR" dirty="0" err="1"/>
              <a:t>répéte</a:t>
            </a:r>
            <a:r>
              <a:rPr lang="fr-FR" dirty="0"/>
              <a:t> le même schéma de codification, il est utilisé pour réaliser la jointure des données. NOTE: le nombre d’individus est identique</a:t>
            </a:r>
          </a:p>
          <a:p>
            <a:r>
              <a:rPr lang="fr-FR" dirty="0"/>
              <a:t>Le sondage indique : </a:t>
            </a:r>
            <a:r>
              <a:rPr lang="fr-FR" i="1" dirty="0">
                <a:solidFill>
                  <a:srgbClr val="00B0F0"/>
                </a:solidFill>
              </a:rPr>
              <a:t>Voici à disposition l’extrait du sondage le plus récent. Nous y avons ajouté </a:t>
            </a:r>
            <a:r>
              <a:rPr lang="fr-FR" b="1" i="1" dirty="0">
                <a:solidFill>
                  <a:srgbClr val="00B0F0"/>
                </a:solidFill>
              </a:rPr>
              <a:t>un témoin pour indiquer si l’employé a quitté l’entreprise ou non</a:t>
            </a:r>
            <a:r>
              <a:rPr lang="fr-FR" dirty="0"/>
              <a:t>. Le </a:t>
            </a:r>
            <a:r>
              <a:rPr lang="fr-FR" dirty="0" err="1"/>
              <a:t>status</a:t>
            </a:r>
            <a:r>
              <a:rPr lang="fr-FR" dirty="0"/>
              <a:t> de démission et les infos du sondage a été recueillie dans l’année en cours, peut être à la sortie ou juste après l'annonce de démission, utiliser ces informations ne présente pas un data </a:t>
            </a:r>
            <a:r>
              <a:rPr lang="fr-FR" dirty="0" err="1"/>
              <a:t>leakage</a:t>
            </a:r>
            <a:r>
              <a:rPr lang="fr-FR" dirty="0"/>
              <a:t> car l’information ne déduit pas directement de la démission. </a:t>
            </a:r>
          </a:p>
          <a:p>
            <a:r>
              <a:rPr lang="fr-FR" i="1" dirty="0">
                <a:solidFill>
                  <a:srgbClr val="00B0F0"/>
                </a:solidFill>
              </a:rPr>
              <a:t>L’évaluation annuelle : </a:t>
            </a:r>
            <a:r>
              <a:rPr lang="fr-FR" dirty="0"/>
              <a:t>Permet d’obtenir des informations sur l’année qui précède la démission</a:t>
            </a:r>
            <a:endParaRPr lang="fr-FR" i="1" dirty="0">
              <a:solidFill>
                <a:srgbClr val="00B0F0"/>
              </a:solidFill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21905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F1CB-ED84-7901-5EF7-06E01CBE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C744A-20E0-D04E-F4EA-1F8F23FBC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Nettoyage des données</a:t>
            </a:r>
          </a:p>
        </p:txBody>
      </p:sp>
    </p:spTree>
    <p:extLst>
      <p:ext uri="{BB962C8B-B14F-4D97-AF65-F5344CB8AC3E}">
        <p14:creationId xmlns:p14="http://schemas.microsoft.com/office/powerpoint/2010/main" val="1790294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1944E-D976-AFD6-A029-2AB932029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FBCABC-2343-6D2B-8B60-2CE36432E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F2BC9D-C56A-8848-61AE-D43BAE42B800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F8671AB-ACF1-DA62-0A87-0265F27AE949}"/>
              </a:ext>
            </a:extLst>
          </p:cNvPr>
          <p:cNvSpPr txBox="1"/>
          <p:nvPr/>
        </p:nvSpPr>
        <p:spPr>
          <a:xfrm>
            <a:off x="3919959" y="3517378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Jonction des </a:t>
            </a:r>
            <a:r>
              <a:rPr lang="fr-FR" sz="3600" kern="1200" noProof="0" dirty="0" err="1"/>
              <a:t>DataFrames</a:t>
            </a:r>
            <a:endParaRPr lang="fr-FR" sz="3600" kern="1200" noProof="0" dirty="0"/>
          </a:p>
        </p:txBody>
      </p:sp>
    </p:spTree>
    <p:extLst>
      <p:ext uri="{BB962C8B-B14F-4D97-AF65-F5344CB8AC3E}">
        <p14:creationId xmlns:p14="http://schemas.microsoft.com/office/powerpoint/2010/main" val="2483046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33C6-50D7-F508-BAA5-A6CE1FED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124DFC-A1C8-0B18-014B-CDD3CE045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018961-FF10-96D0-999D-F9A14B9336DB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29E2C47-194B-8338-3EEB-E39523CCF0E7}"/>
              </a:ext>
            </a:extLst>
          </p:cNvPr>
          <p:cNvSpPr txBox="1"/>
          <p:nvPr/>
        </p:nvSpPr>
        <p:spPr>
          <a:xfrm>
            <a:off x="3364374" y="3296792"/>
            <a:ext cx="5038846" cy="2250504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/>
              <a:t>Converstion</a:t>
            </a:r>
            <a:r>
              <a:rPr lang="fr-FR" sz="3600" kern="1200" noProof="0" dirty="0"/>
              <a:t> des classes en colonnes numériques</a:t>
            </a:r>
          </a:p>
        </p:txBody>
      </p:sp>
    </p:spTree>
    <p:extLst>
      <p:ext uri="{BB962C8B-B14F-4D97-AF65-F5344CB8AC3E}">
        <p14:creationId xmlns:p14="http://schemas.microsoft.com/office/powerpoint/2010/main" val="2375464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AEC5-AA74-4883-18BB-EDC83DCBF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60A8FB-D594-CF7F-64CB-850DE4143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88A2AEA-4BAF-1810-40D4-EED7630C7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17" y="2137634"/>
            <a:ext cx="3619333" cy="4362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54FA971-AF43-87C4-C8A3-12A3D9DC3215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34BE5EB-5877-6073-C9BC-88F5F6435512}"/>
              </a:ext>
            </a:extLst>
          </p:cNvPr>
          <p:cNvSpPr txBox="1"/>
          <p:nvPr/>
        </p:nvSpPr>
        <p:spPr>
          <a:xfrm>
            <a:off x="6096000" y="2510381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Vérification des </a:t>
            </a:r>
            <a:r>
              <a:rPr lang="fr-FR" sz="3600" kern="1200" noProof="0" dirty="0" err="1"/>
              <a:t>outliers</a:t>
            </a:r>
            <a:endParaRPr lang="fr-FR" sz="3600" kern="1200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13E0CBD-3F65-F931-6AD4-DE6D88E6F0BE}"/>
              </a:ext>
            </a:extLst>
          </p:cNvPr>
          <p:cNvSpPr txBox="1"/>
          <p:nvPr/>
        </p:nvSpPr>
        <p:spPr>
          <a:xfrm>
            <a:off x="6095999" y="4318895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Sondages</a:t>
            </a:r>
          </a:p>
        </p:txBody>
      </p:sp>
    </p:spTree>
    <p:extLst>
      <p:ext uri="{BB962C8B-B14F-4D97-AF65-F5344CB8AC3E}">
        <p14:creationId xmlns:p14="http://schemas.microsoft.com/office/powerpoint/2010/main" val="300440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566E3-C82F-DF66-8759-7733BF568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ACA291-9CD1-A847-9743-258B65A62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FB824A-C73C-67EA-8E29-DCF74DA8EF15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687BD56-18D9-EE09-2D7B-FF4969DC6BB6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</a:t>
            </a:r>
            <a:r>
              <a:rPr lang="fr-FR" sz="3600" kern="1200" noProof="0" dirty="0" err="1">
                <a:solidFill>
                  <a:schemeClr val="bg1"/>
                </a:solidFill>
              </a:rPr>
              <a:t>outliers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F9AAE34-936D-333F-445E-135C0D9BF84D}"/>
              </a:ext>
            </a:extLst>
          </p:cNvPr>
          <p:cNvSpPr txBox="1"/>
          <p:nvPr/>
        </p:nvSpPr>
        <p:spPr>
          <a:xfrm>
            <a:off x="5972174" y="936943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sirh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964BAB3-7C64-7797-96F1-1E1C6729B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84" y="2120220"/>
            <a:ext cx="11267451" cy="422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794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6A3C0-92CB-8C29-7135-24F70C2B0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A4323E-4134-FB1C-BE87-E5678A804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5B9582-4D22-9528-D283-4327CC401327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DCCCBF1-DDEE-4EF0-F209-1D9A007FFD5A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</a:t>
            </a:r>
            <a:r>
              <a:rPr lang="fr-FR" sz="3600" kern="1200" noProof="0" dirty="0" err="1">
                <a:solidFill>
                  <a:schemeClr val="bg1"/>
                </a:solidFill>
              </a:rPr>
              <a:t>outliers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EFA856A-AF51-55C0-9A2C-28548C5A30E7}"/>
              </a:ext>
            </a:extLst>
          </p:cNvPr>
          <p:cNvSpPr txBox="1"/>
          <p:nvPr/>
        </p:nvSpPr>
        <p:spPr>
          <a:xfrm>
            <a:off x="5972174" y="936943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>
                <a:solidFill>
                  <a:schemeClr val="bg1"/>
                </a:solidFill>
              </a:rPr>
              <a:t>evaluation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C48D5BB-E63D-DD3A-E76E-277ADD6A9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054181"/>
            <a:ext cx="11099482" cy="4101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9309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8046-2BF9-5B7C-A704-4B1650CF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B02E4-8809-9679-899B-CFFDD72BB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FF2D77-324E-B715-B171-719BB1129C12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84AD649-9B82-FC7E-CECE-2FA50AD8B7E4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erreurs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C6EEE0F-3724-2B60-9E4D-7BA17A12791C}"/>
              </a:ext>
            </a:extLst>
          </p:cNvPr>
          <p:cNvSpPr txBox="1"/>
          <p:nvPr/>
        </p:nvSpPr>
        <p:spPr>
          <a:xfrm>
            <a:off x="581192" y="2937510"/>
            <a:ext cx="47895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effectLst/>
                <a:latin typeface="Consolas" panose="020B0609020204030204" pitchFamily="49" charset="0"/>
              </a:rPr>
              <a:t>Pas de présence 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Format invalide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Valeurs aberrantes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Valeurs vides ou manquantes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Pas de doublons dans les Id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04CE598-C601-97DC-E5BA-EC500C98AF17}"/>
              </a:ext>
            </a:extLst>
          </p:cNvPr>
          <p:cNvSpPr txBox="1"/>
          <p:nvPr/>
        </p:nvSpPr>
        <p:spPr>
          <a:xfrm>
            <a:off x="4825615" y="2845177"/>
            <a:ext cx="697093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Conversions</a:t>
            </a:r>
          </a:p>
          <a:p>
            <a:r>
              <a:rPr lang="fr-FR" dirty="0">
                <a:latin typeface="Consolas" panose="020B0609020204030204" pitchFamily="49" charset="0"/>
              </a:rPr>
              <a:t>0	</a:t>
            </a:r>
            <a:r>
              <a:rPr lang="fr-FR" dirty="0" err="1">
                <a:latin typeface="Consolas" panose="020B0609020204030204" pitchFamily="49" charset="0"/>
              </a:rPr>
              <a:t>a_quitte_l_entreprise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Oui/Non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7	</a:t>
            </a:r>
            <a:r>
              <a:rPr lang="fr-FR" dirty="0" err="1">
                <a:latin typeface="Consolas" panose="020B0609020204030204" pitchFamily="49" charset="0"/>
              </a:rPr>
              <a:t>domaine_etude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8	</a:t>
            </a:r>
            <a:r>
              <a:rPr lang="fr-FR" dirty="0" err="1">
                <a:latin typeface="Consolas" panose="020B0609020204030204" pitchFamily="49" charset="0"/>
              </a:rPr>
              <a:t>ayant_enfants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9	</a:t>
            </a:r>
            <a:r>
              <a:rPr lang="fr-FR" dirty="0" err="1">
                <a:latin typeface="Consolas" panose="020B0609020204030204" pitchFamily="49" charset="0"/>
              </a:rPr>
              <a:t>frequence_deplacement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13	genre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M/F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15	</a:t>
            </a:r>
            <a:r>
              <a:rPr lang="fr-FR" dirty="0" err="1">
                <a:latin typeface="Consolas" panose="020B0609020204030204" pitchFamily="49" charset="0"/>
              </a:rPr>
              <a:t>statut_marital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16	</a:t>
            </a:r>
            <a:r>
              <a:rPr lang="fr-FR" dirty="0" err="1">
                <a:latin typeface="Consolas" panose="020B0609020204030204" pitchFamily="49" charset="0"/>
              </a:rPr>
              <a:t>departement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17	poste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30	</a:t>
            </a:r>
            <a:r>
              <a:rPr lang="fr-FR" dirty="0" err="1">
                <a:latin typeface="Consolas" panose="020B0609020204030204" pitchFamily="49" charset="0"/>
              </a:rPr>
              <a:t>heure_supplementaires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Oui/Non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31	</a:t>
            </a:r>
            <a:r>
              <a:rPr lang="fr-FR" dirty="0" err="1">
                <a:latin typeface="Consolas" panose="020B0609020204030204" pitchFamily="49" charset="0"/>
              </a:rPr>
              <a:t>augementation_salaire_precedente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% =&gt; </a:t>
            </a:r>
            <a:r>
              <a:rPr lang="fr-FR" dirty="0" err="1">
                <a:latin typeface="Consolas" panose="020B0609020204030204" pitchFamily="49" charset="0"/>
              </a:rPr>
              <a:t>int</a:t>
            </a:r>
            <a:endParaRPr lang="fr-FR" dirty="0">
              <a:latin typeface="Consolas" panose="020B0609020204030204" pitchFamily="49" charset="0"/>
            </a:endParaRPr>
          </a:p>
          <a:p>
            <a:endParaRPr lang="fr-F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430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B21C-D768-766F-9D9C-DC2D650A0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BB5EB7-CEEE-149A-1D47-CA6A1A6DE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Exploration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89806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60404-1E2B-4C69-FC0E-B021BEBBD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8356271-FEAD-6D57-80F6-B394F2C8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2C3C95-43B8-B09F-7447-E5E3BC5E3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6114803-17D7-1EEF-D626-E22245345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54" y="1010236"/>
            <a:ext cx="10918785" cy="483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009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D91BC-2A87-779E-5258-A9E8BD4A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EA4F88AF-2AF3-7515-EBBA-ACD303DCA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30508F-D7DF-F9AD-6E2B-B67CD4D31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61FF514C-3589-53E0-58F5-7F90B18B28D6}"/>
              </a:ext>
            </a:extLst>
          </p:cNvPr>
          <p:cNvSpPr txBox="1">
            <a:spLocks/>
          </p:cNvSpPr>
          <p:nvPr/>
        </p:nvSpPr>
        <p:spPr>
          <a:xfrm>
            <a:off x="5645059" y="1790769"/>
            <a:ext cx="5184866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(#)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AC1AEB7-D60E-5E65-96CE-B822593C1567}"/>
              </a:ext>
            </a:extLst>
          </p:cNvPr>
          <p:cNvSpPr txBox="1"/>
          <p:nvPr/>
        </p:nvSpPr>
        <p:spPr>
          <a:xfrm>
            <a:off x="5645059" y="832348"/>
            <a:ext cx="5336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Postes / Démissions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FC2BB6D-6F45-8FDB-F8B4-D3F38F116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19" y="832348"/>
            <a:ext cx="4721048" cy="505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737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5EA74-7877-D349-11D4-66B615A7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82FE038-CFB1-ED4A-3CB1-2AE6662F8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32C299-DC8C-0AC7-814D-1A9F4E02A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882B95FA-0BC6-96E7-DC16-92602E674F20}"/>
              </a:ext>
            </a:extLst>
          </p:cNvPr>
          <p:cNvSpPr txBox="1">
            <a:spLocks/>
          </p:cNvSpPr>
          <p:nvPr/>
        </p:nvSpPr>
        <p:spPr>
          <a:xfrm>
            <a:off x="6093247" y="1901763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(%)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F6E3307-6BEA-222D-895C-104BF22C4172}"/>
              </a:ext>
            </a:extLst>
          </p:cNvPr>
          <p:cNvSpPr txBox="1"/>
          <p:nvPr/>
        </p:nvSpPr>
        <p:spPr>
          <a:xfrm>
            <a:off x="6093246" y="943342"/>
            <a:ext cx="5284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</a:t>
            </a:r>
            <a:r>
              <a:rPr lang="fr-FR" sz="2400" dirty="0"/>
              <a:t>Postes / Démissions</a:t>
            </a:r>
            <a:r>
              <a:rPr lang="fr-FR" sz="2400" cap="none" dirty="0"/>
              <a:t>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07C98D7-2794-EAD3-534B-382F19995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97" y="710728"/>
            <a:ext cx="5172015" cy="543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120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513E50-1BEE-2F27-4373-6A5ED599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7693503A-19BC-B6DF-4472-97D4A7CD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873C457-865C-F62F-F763-C67A22BF5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702B5F-8A1F-06F5-79F7-6D50EA3AC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1" y="712136"/>
            <a:ext cx="8621138" cy="5345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97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DA5587-CA00-B3C3-224B-DC97F229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2BADD407-E3F7-95B3-7189-12A7A2BBB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6AEE4BF-71C4-F8E6-54B6-C299C0433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5866324-A825-2108-9449-6CA19E66A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768" y="1109335"/>
            <a:ext cx="3676977" cy="367697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CB7E3A3-14AC-0486-F336-84199B5BC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2288" y="1110897"/>
            <a:ext cx="3676977" cy="3728584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296B23C7-4B42-CAE0-E194-EE5BBBFA2578}"/>
              </a:ext>
            </a:extLst>
          </p:cNvPr>
          <p:cNvSpPr txBox="1"/>
          <p:nvPr/>
        </p:nvSpPr>
        <p:spPr>
          <a:xfrm>
            <a:off x="447817" y="652137"/>
            <a:ext cx="3683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cap="none" dirty="0"/>
              <a:t>Distance Travail / Domicile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DF31E44-153E-5C4C-2D4C-B61084AF7EC9}"/>
              </a:ext>
            </a:extLst>
          </p:cNvPr>
          <p:cNvSpPr txBox="1"/>
          <p:nvPr/>
        </p:nvSpPr>
        <p:spPr>
          <a:xfrm>
            <a:off x="4251671" y="592191"/>
            <a:ext cx="3683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dirty="0"/>
              <a:t>Département</a:t>
            </a:r>
            <a:endParaRPr lang="fr-FR" sz="2400" cap="none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F054155-820B-C1E5-A3FF-F8FBC3B903CD}"/>
              </a:ext>
            </a:extLst>
          </p:cNvPr>
          <p:cNvSpPr txBox="1"/>
          <p:nvPr/>
        </p:nvSpPr>
        <p:spPr>
          <a:xfrm>
            <a:off x="8055525" y="571144"/>
            <a:ext cx="3683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dirty="0"/>
              <a:t>Domaine Etudes</a:t>
            </a:r>
            <a:endParaRPr lang="fr-FR" sz="2400" cap="none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F860405-579C-9F17-C348-1081173E8102}"/>
              </a:ext>
            </a:extLst>
          </p:cNvPr>
          <p:cNvSpPr txBox="1"/>
          <p:nvPr/>
        </p:nvSpPr>
        <p:spPr>
          <a:xfrm>
            <a:off x="447816" y="5517831"/>
            <a:ext cx="112908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600" cap="none" dirty="0">
                <a:solidFill>
                  <a:schemeClr val="bg1"/>
                </a:solidFill>
              </a:rPr>
              <a:t>Pas de corrélation forte pour les autres catégories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9665794-8C52-1D01-A723-BAD2AAEAB2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16" y="1109335"/>
            <a:ext cx="3676977" cy="2796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1855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0F519-B560-056C-F452-36FC9472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B033948-FCAD-213F-153E-3FDB75757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4B1952E-FA5F-CB65-BFCC-27ABE7429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A62345E8-256A-0FAE-D7DA-9F21B91E572D}"/>
              </a:ext>
            </a:extLst>
          </p:cNvPr>
          <p:cNvSpPr txBox="1">
            <a:spLocks/>
          </p:cNvSpPr>
          <p:nvPr/>
        </p:nvSpPr>
        <p:spPr>
          <a:xfrm>
            <a:off x="7364816" y="2001776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Salaires / Poste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92CB732-6464-0024-4591-47B4BDD1D3D3}"/>
              </a:ext>
            </a:extLst>
          </p:cNvPr>
          <p:cNvSpPr txBox="1"/>
          <p:nvPr/>
        </p:nvSpPr>
        <p:spPr>
          <a:xfrm>
            <a:off x="7364816" y="1043355"/>
            <a:ext cx="4284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Corrélations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A2D8E70-23F6-C0D0-3E38-289A6CB7F1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07" y="622443"/>
            <a:ext cx="6570542" cy="540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5303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F0C515-52D5-B341-1FF8-29961238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B120996-928B-44B2-D4F1-7360F2D35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A4F233-6539-F741-3BDA-E73898352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CEF92B0-E3EA-4C2F-B6F3-E66A33841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230" y="633022"/>
            <a:ext cx="9421540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1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9C5D6-45C9-9FD2-5818-90A35C5E4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2CE558-3C7B-BEAF-2B31-59E67581F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 err="1">
                <a:solidFill>
                  <a:schemeClr val="tx1"/>
                </a:solidFill>
              </a:rPr>
              <a:t>PRéparation</a:t>
            </a:r>
            <a:r>
              <a:rPr lang="fr-FR" sz="6000" dirty="0">
                <a:solidFill>
                  <a:schemeClr val="tx1"/>
                </a:solidFill>
              </a:rPr>
              <a:t> des données</a:t>
            </a:r>
          </a:p>
        </p:txBody>
      </p:sp>
    </p:spTree>
    <p:extLst>
      <p:ext uri="{BB962C8B-B14F-4D97-AF65-F5344CB8AC3E}">
        <p14:creationId xmlns:p14="http://schemas.microsoft.com/office/powerpoint/2010/main" val="2632895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2F4D1F-C5C1-A6B0-16FD-EB21E48CE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2A2A31B-3307-B3E1-47A4-366A2F55C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D0B97D9-3116-945C-2F35-00A146E6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6E12AEA-9B5D-B10C-B937-A4370B2DF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52" y="732238"/>
            <a:ext cx="7268901" cy="5393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8184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B5D0B1-E2B1-616D-4FA7-5573B8FFE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9DE0B40-C411-FE98-F183-AA8E304C5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1623DB-45A9-6A60-EE4C-B7B2BCDD9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ADF3D16-A131-AB44-E3A3-C11FD9862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52" y="732238"/>
            <a:ext cx="7268901" cy="5393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1232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8B833-405A-98C1-A288-499D9175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093C1BDC-2C05-BF86-B68A-94D066C59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9571379-3E20-69F7-9628-23ADBCDE3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141CCC8-361F-2DEE-6A82-B39F954F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4487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fr-FR" dirty="0">
                <a:solidFill>
                  <a:srgbClr val="FFFEFF"/>
                </a:solidFill>
              </a:rPr>
              <a:t>Ce qu’il faut changer pour réduire les démissions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69AD7A6-C290-ACEC-8A86-EABD7A5787B8}"/>
              </a:ext>
            </a:extLst>
          </p:cNvPr>
          <p:cNvSpPr txBox="1"/>
          <p:nvPr/>
        </p:nvSpPr>
        <p:spPr>
          <a:xfrm>
            <a:off x="2561035" y="1716026"/>
            <a:ext cx="60936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 err="1"/>
              <a:t>Counterfactuals</a:t>
            </a:r>
            <a:endParaRPr lang="fr-FR" sz="4400" dirty="0"/>
          </a:p>
        </p:txBody>
      </p:sp>
    </p:spTree>
    <p:extLst>
      <p:ext uri="{BB962C8B-B14F-4D97-AF65-F5344CB8AC3E}">
        <p14:creationId xmlns:p14="http://schemas.microsoft.com/office/powerpoint/2010/main" val="4112041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Contexte concurrentiel</a:t>
            </a:r>
          </a:p>
        </p:txBody>
      </p:sp>
      <p:pic>
        <p:nvPicPr>
          <p:cNvPr id="11" name="Espace réservé du contenu 4" descr="Graphiques">
            <a:extLst>
              <a:ext uri="{FF2B5EF4-FFF2-40B4-BE49-F238E27FC236}">
                <a16:creationId xmlns:a16="http://schemas.microsoft.com/office/drawing/2014/main" id="{47D9BE16-119C-43B2-9AE6-18C4A150C0E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581025" y="2231480"/>
            <a:ext cx="5422900" cy="3625353"/>
          </a:xfrm>
        </p:spPr>
      </p:pic>
      <p:pic>
        <p:nvPicPr>
          <p:cNvPr id="18" name="Espace réservé du contenu 17" descr="Espace réservé au graphique">
            <a:extLst>
              <a:ext uri="{FF2B5EF4-FFF2-40B4-BE49-F238E27FC236}">
                <a16:creationId xmlns:a16="http://schemas.microsoft.com/office/drawing/2014/main" id="{BFEA8EC1-23A4-4843-A9C3-AE771D73392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rcRect/>
          <a:stretch/>
        </p:blipFill>
        <p:spPr>
          <a:xfrm>
            <a:off x="6201812" y="2571845"/>
            <a:ext cx="5395426" cy="294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 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pic>
        <p:nvPicPr>
          <p:cNvPr id="8" name="Espace réservé du contenu 4" descr="Valeurs numériques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fr-FR" dirty="0"/>
              <a:t>Communications numériques</a:t>
            </a:r>
          </a:p>
        </p:txBody>
      </p:sp>
      <p:graphicFrame>
        <p:nvGraphicFramePr>
          <p:cNvPr id="6" name="Espace réservé du contenu 5" descr="Graphique 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969185"/>
              </p:ext>
            </p:extLst>
          </p:nvPr>
        </p:nvGraphicFramePr>
        <p:xfrm>
          <a:off x="719571" y="2198254"/>
          <a:ext cx="6854248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2" name="Rectangle 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 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9CB511D-EA45-4336-847C-125266714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6275" y="3505095"/>
            <a:ext cx="3081576" cy="2629006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chemeClr val="bg2"/>
                </a:solidFill>
              </a:rPr>
              <a:t>someone@example.com</a:t>
            </a:r>
          </a:p>
          <a:p>
            <a:pPr rtl="0"/>
            <a:endParaRPr lang="fr-FR">
              <a:solidFill>
                <a:schemeClr val="bg2"/>
              </a:solidFill>
            </a:endParaRPr>
          </a:p>
          <a:p>
            <a:pPr rtl="0"/>
            <a:endParaRPr lang="fr-FR">
              <a:solidFill>
                <a:schemeClr val="bg2"/>
              </a:solidFill>
            </a:endParaRPr>
          </a:p>
        </p:txBody>
      </p:sp>
      <p:pic>
        <p:nvPicPr>
          <p:cNvPr id="5" name="Image 4" descr="Valeurs numérique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0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Conception technique</Template>
  <TotalTime>1844</TotalTime>
  <Words>564</Words>
  <Application>Microsoft Office PowerPoint</Application>
  <PresentationFormat>Grand écran</PresentationFormat>
  <Paragraphs>88</Paragraphs>
  <Slides>25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Consolas</vt:lpstr>
      <vt:lpstr>Gill Sans MT</vt:lpstr>
      <vt:lpstr>Wingdings 2</vt:lpstr>
      <vt:lpstr>Personnalisé</vt:lpstr>
      <vt:lpstr>TechNova </vt:lpstr>
      <vt:lpstr>Formation Développeur IA</vt:lpstr>
      <vt:lpstr>Analyse des données</vt:lpstr>
      <vt:lpstr>Nettoyage des données</vt:lpstr>
      <vt:lpstr>Nettoyage des données</vt:lpstr>
      <vt:lpstr>Nettoyage des données</vt:lpstr>
      <vt:lpstr>Nettoyage des données</vt:lpstr>
      <vt:lpstr>Nettoyage des données</vt:lpstr>
      <vt:lpstr>Nettoyage des données</vt:lpstr>
      <vt:lpstr>Nettoyage des données</vt:lpstr>
      <vt:lpstr>Exploration des données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PRéparation des données</vt:lpstr>
      <vt:lpstr>Présentation PowerPoint</vt:lpstr>
      <vt:lpstr>Présentation PowerPoint</vt:lpstr>
      <vt:lpstr>Ce qu’il faut changer pour réduire les démissions</vt:lpstr>
      <vt:lpstr>Contexte concurrentiel</vt:lpstr>
      <vt:lpstr>Communications numériques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54</cp:revision>
  <dcterms:created xsi:type="dcterms:W3CDTF">2026-06-01T07:45:08Z</dcterms:created>
  <dcterms:modified xsi:type="dcterms:W3CDTF">2026-06-05T10:33:03Z</dcterms:modified>
</cp:coreProperties>
</file>