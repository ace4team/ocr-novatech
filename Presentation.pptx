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72" r:id="rId1"/>
  </p:sldMasterIdLst>
  <p:notesMasterIdLst>
    <p:notesMasterId r:id="rId44"/>
  </p:notesMasterIdLst>
  <p:handoutMasterIdLst>
    <p:handoutMasterId r:id="rId45"/>
  </p:handoutMasterIdLst>
  <p:sldIdLst>
    <p:sldId id="256" r:id="rId2"/>
    <p:sldId id="262" r:id="rId3"/>
    <p:sldId id="276" r:id="rId4"/>
    <p:sldId id="298" r:id="rId5"/>
    <p:sldId id="301" r:id="rId6"/>
    <p:sldId id="297" r:id="rId7"/>
    <p:sldId id="296" r:id="rId8"/>
    <p:sldId id="295" r:id="rId9"/>
    <p:sldId id="267" r:id="rId10"/>
    <p:sldId id="287" r:id="rId11"/>
    <p:sldId id="278" r:id="rId12"/>
    <p:sldId id="302" r:id="rId13"/>
    <p:sldId id="275" r:id="rId14"/>
    <p:sldId id="277" r:id="rId15"/>
    <p:sldId id="305" r:id="rId16"/>
    <p:sldId id="306" r:id="rId17"/>
    <p:sldId id="279" r:id="rId18"/>
    <p:sldId id="269" r:id="rId19"/>
    <p:sldId id="270" r:id="rId20"/>
    <p:sldId id="271" r:id="rId21"/>
    <p:sldId id="273" r:id="rId22"/>
    <p:sldId id="274" r:id="rId23"/>
    <p:sldId id="280" r:id="rId24"/>
    <p:sldId id="288" r:id="rId25"/>
    <p:sldId id="308" r:id="rId26"/>
    <p:sldId id="311" r:id="rId27"/>
    <p:sldId id="282" r:id="rId28"/>
    <p:sldId id="283" r:id="rId29"/>
    <p:sldId id="284" r:id="rId30"/>
    <p:sldId id="294" r:id="rId31"/>
    <p:sldId id="303" r:id="rId32"/>
    <p:sldId id="285" r:id="rId33"/>
    <p:sldId id="307" r:id="rId34"/>
    <p:sldId id="286" r:id="rId35"/>
    <p:sldId id="292" r:id="rId36"/>
    <p:sldId id="290" r:id="rId37"/>
    <p:sldId id="289" r:id="rId38"/>
    <p:sldId id="304" r:id="rId39"/>
    <p:sldId id="291" r:id="rId40"/>
    <p:sldId id="293" r:id="rId41"/>
    <p:sldId id="268" r:id="rId42"/>
    <p:sldId id="260" r:id="rId43"/>
  </p:sldIdLst>
  <p:sldSz cx="12192000" cy="6858000"/>
  <p:notesSz cx="6858000" cy="9144000"/>
  <p:defaultTextStyle>
    <a:defPPr rtl="0">
      <a:defRPr lang="fr-FR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883" autoAdjust="0"/>
    <p:restoredTop sz="73790" autoAdjust="0"/>
  </p:normalViewPr>
  <p:slideViewPr>
    <p:cSldViewPr snapToGrid="0">
      <p:cViewPr varScale="1">
        <p:scale>
          <a:sx n="84" d="100"/>
          <a:sy n="84" d="100"/>
        </p:scale>
        <p:origin x="69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6" d="100"/>
          <a:sy n="86" d="100"/>
        </p:scale>
        <p:origin x="3114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 1">
            <a:extLst>
              <a:ext uri="{FF2B5EF4-FFF2-40B4-BE49-F238E27FC236}">
                <a16:creationId xmlns:a16="http://schemas.microsoft.com/office/drawing/2014/main" id="{FF81CEA5-62FD-4C83-BDE3-91DFB9827D8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fr-FR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3FA1CBFD-6AD0-48C4-B91B-58830F6F4C3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3367168-A7C3-4A51-ACFE-4D76B720982F}" type="datetime1">
              <a:rPr lang="fr-FR" smtClean="0"/>
              <a:t>18/06/2026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A9E55D22-46A3-4B8C-AD40-252FE7896C3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E70DCEF-9071-4B17-801B-37B4465C8E1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8D90168E-626C-4E60-93C0-A00D2560946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4934770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fr-FR" noProof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CB4F1169-1988-463B-A52C-EF5C9A50040C}" type="datetime1">
              <a:rPr lang="fr-FR" noProof="0" smtClean="0"/>
              <a:t>18/06/2026</a:t>
            </a:fld>
            <a:endParaRPr lang="fr-FR" noProof="0"/>
          </a:p>
        </p:txBody>
      </p:sp>
      <p:sp>
        <p:nvSpPr>
          <p:cNvPr id="4" name="Espace réservé de l’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fr-FR" noProof="0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fr-FR" noProof="0"/>
              <a:t>Modifiez les styles du texte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C6B3AB32-59DF-41F1-9618-EDFBF5049629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66180564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r>
              <a:rPr lang="fr-FR" dirty="0"/>
              <a:t>Bonjour</a:t>
            </a:r>
          </a:p>
          <a:p>
            <a:pPr rtl="0"/>
            <a:r>
              <a:rPr lang="fr-FR" dirty="0"/>
              <a:t>Thomas AUGUEY</a:t>
            </a:r>
          </a:p>
          <a:p>
            <a:pPr rtl="0"/>
            <a:r>
              <a:rPr lang="fr-FR" dirty="0"/>
              <a:t>Projet Tech Nova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900470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Technova</a:t>
            </a:r>
            <a:endParaRPr lang="fr-FR" dirty="0"/>
          </a:p>
          <a:p>
            <a:r>
              <a:rPr lang="fr-FR" dirty="0"/>
              <a:t>Projet </a:t>
            </a:r>
            <a:r>
              <a:rPr lang="fr-FR" dirty="0" err="1"/>
              <a:t>Openclassrooms</a:t>
            </a:r>
            <a:r>
              <a:rPr lang="fr-FR" dirty="0"/>
              <a:t> =&gt; </a:t>
            </a:r>
            <a:r>
              <a:rPr lang="fr-FR" dirty="0" err="1"/>
              <a:t>Developpeur</a:t>
            </a:r>
            <a:r>
              <a:rPr lang="fr-FR" dirty="0"/>
              <a:t> IA</a:t>
            </a:r>
          </a:p>
          <a:p>
            <a:r>
              <a:rPr lang="fr-FR" dirty="0"/>
              <a:t>Stack : </a:t>
            </a:r>
            <a:r>
              <a:rPr lang="fr-FR" dirty="0" err="1"/>
              <a:t>Jupyter</a:t>
            </a:r>
            <a:r>
              <a:rPr lang="fr-FR" dirty="0"/>
              <a:t> + Python, UV Package, Excel</a:t>
            </a:r>
          </a:p>
          <a:p>
            <a:endParaRPr lang="fr-FR" dirty="0"/>
          </a:p>
          <a:p>
            <a:r>
              <a:rPr lang="fr-FR" dirty="0"/>
              <a:t>Machine Learning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2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3080328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mandaté en tant que Consultant Data </a:t>
            </a:r>
            <a:r>
              <a:rPr lang="fr-FR" dirty="0" err="1"/>
              <a:t>Scientist</a:t>
            </a:r>
            <a:r>
              <a:rPr lang="fr-FR" dirty="0"/>
              <a:t> par le département RH du client</a:t>
            </a:r>
          </a:p>
          <a:p>
            <a:endParaRPr lang="fr-FR" dirty="0"/>
          </a:p>
          <a:p>
            <a:r>
              <a:rPr lang="fr-FR" i="1" dirty="0"/>
              <a:t>ESN = Entreprise de Services du Numérique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4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7661234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5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9478687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6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62701844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8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24104100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Globalement le </a:t>
            </a:r>
            <a:r>
              <a:rPr lang="fr-FR" dirty="0" err="1"/>
              <a:t>dataset</a:t>
            </a:r>
            <a:r>
              <a:rPr lang="fr-FR" dirty="0"/>
              <a:t> est propre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9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48306736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Ces informations sont soit incorrecte soit inutile dans notre  cas</a:t>
            </a:r>
          </a:p>
          <a:p>
            <a:r>
              <a:rPr lang="fr-FR" dirty="0"/>
              <a:t>Impossible de les retravailler car cela introduirait trop de valeur fictives =&gt; donc suppression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10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36321682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DB9793-939C-9ED6-1873-A265EF828C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232ACA2F-97E3-4662-606D-BD06BE23C9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170703E3-EFD9-09E8-636A-87D376D0EA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Résumé:</a:t>
            </a:r>
          </a:p>
          <a:p>
            <a:endParaRPr lang="fr-FR" dirty="0"/>
          </a:p>
          <a:p>
            <a:r>
              <a:rPr lang="fr-FR" dirty="0" err="1"/>
              <a:t>ayant_enfants</a:t>
            </a:r>
            <a:r>
              <a:rPr lang="fr-FR" dirty="0"/>
              <a:t>, </a:t>
            </a:r>
            <a:r>
              <a:rPr lang="fr-FR" dirty="0" err="1"/>
              <a:t>nombre_heures_travailless</a:t>
            </a:r>
            <a:r>
              <a:rPr lang="fr-FR" dirty="0"/>
              <a:t>, </a:t>
            </a:r>
            <a:r>
              <a:rPr lang="fr-FR" dirty="0" err="1"/>
              <a:t>nombre_employee_sous_responsabilite</a:t>
            </a:r>
            <a:r>
              <a:rPr lang="fr-FR" dirty="0"/>
              <a:t> ne sont pas exploitables car toujours la même valeur</a:t>
            </a:r>
          </a:p>
          <a:p>
            <a:endParaRPr lang="fr-FR" dirty="0"/>
          </a:p>
          <a:p>
            <a:r>
              <a:rPr lang="fr-FR" dirty="0" err="1"/>
              <a:t>code_sondage</a:t>
            </a:r>
            <a:r>
              <a:rPr lang="fr-FR" dirty="0"/>
              <a:t>, </a:t>
            </a:r>
            <a:r>
              <a:rPr lang="fr-FR" dirty="0" err="1"/>
              <a:t>id_employee</a:t>
            </a:r>
            <a:r>
              <a:rPr lang="fr-FR" dirty="0"/>
              <a:t> et </a:t>
            </a:r>
            <a:r>
              <a:rPr lang="fr-FR" dirty="0" err="1"/>
              <a:t>eval_number</a:t>
            </a:r>
            <a:r>
              <a:rPr lang="fr-FR" dirty="0"/>
              <a:t> </a:t>
            </a:r>
            <a:r>
              <a:rPr lang="fr-FR" dirty="0" err="1"/>
              <a:t>répéte</a:t>
            </a:r>
            <a:r>
              <a:rPr lang="fr-FR" dirty="0"/>
              <a:t> le même schéma de codification, il est utilisé pour réaliser la jointure des données. NOTE: le nombre d’individus est identique</a:t>
            </a:r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1468EBC-400A-43AB-9A35-311BA4E584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12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87395005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Les </a:t>
            </a:r>
            <a:r>
              <a:rPr lang="fr-FR" dirty="0" err="1"/>
              <a:t>outliers</a:t>
            </a:r>
            <a:r>
              <a:rPr lang="fr-FR" dirty="0"/>
              <a:t> peuvent fortement perturber les modèles de </a:t>
            </a:r>
            <a:r>
              <a:rPr lang="fr-FR" dirty="0" err="1"/>
              <a:t>MachineLearning</a:t>
            </a:r>
            <a:endParaRPr lang="fr-FR" dirty="0"/>
          </a:p>
          <a:p>
            <a:endParaRPr lang="fr-FR" dirty="0"/>
          </a:p>
          <a:p>
            <a:r>
              <a:rPr lang="fr-FR" dirty="0"/>
              <a:t>Pas de </a:t>
            </a:r>
            <a:r>
              <a:rPr lang="fr-FR" dirty="0" err="1"/>
              <a:t>outliers</a:t>
            </a:r>
            <a:r>
              <a:rPr lang="fr-FR" dirty="0"/>
              <a:t> choquant dans Sondages (erreurs) ou </a:t>
            </a:r>
            <a:r>
              <a:rPr lang="fr-FR" dirty="0" err="1"/>
              <a:t>evaluations</a:t>
            </a:r>
            <a:endParaRPr lang="fr-FR" dirty="0"/>
          </a:p>
          <a:p>
            <a:endParaRPr lang="fr-FR" dirty="0"/>
          </a:p>
          <a:p>
            <a:r>
              <a:rPr lang="fr-FR" dirty="0"/>
              <a:t>Voyons SIRH en détail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14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91144840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08022-CB32-98F2-4A09-A01DF59E0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6EF4670C-B126-C596-268A-8C557E6514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9DFF4E63-FA31-2EED-200D-E28DC04624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  <a:p>
            <a:r>
              <a:rPr lang="fr-FR" dirty="0"/>
              <a:t>Revenu mensuel possèdes des </a:t>
            </a:r>
            <a:r>
              <a:rPr lang="fr-FR" dirty="0" err="1"/>
              <a:t>outliers</a:t>
            </a:r>
            <a:r>
              <a:rPr lang="fr-FR" dirty="0"/>
              <a:t> mais doivent être prit en compte tout de </a:t>
            </a:r>
            <a:r>
              <a:rPr lang="fr-FR" dirty="0" err="1"/>
              <a:t>meme</a:t>
            </a:r>
            <a:r>
              <a:rPr lang="fr-FR" dirty="0"/>
              <a:t> dans le </a:t>
            </a:r>
            <a:r>
              <a:rPr lang="fr-FR" dirty="0" err="1"/>
              <a:t>modele</a:t>
            </a:r>
            <a:endParaRPr lang="fr-FR" dirty="0"/>
          </a:p>
          <a:p>
            <a:endParaRPr lang="fr-FR" dirty="0"/>
          </a:p>
          <a:p>
            <a:r>
              <a:rPr lang="fr-FR" dirty="0"/>
              <a:t>le min/max du salaire est de 1009 à 19,999 €/mois</a:t>
            </a:r>
            <a:br>
              <a:rPr lang="fr-FR" dirty="0"/>
            </a:br>
            <a:br>
              <a:rPr lang="fr-FR" dirty="0"/>
            </a:br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EA5C0C2-CFB4-7FDA-ABA4-737183B053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15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43900437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9631E4-8150-EED0-5F21-89DED617C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409F272B-95E6-91B8-BBFA-E91F16E00F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08BED5DB-37D6-DF16-DF58-6F117C9098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  <a:p>
            <a:r>
              <a:rPr lang="fr-FR" dirty="0"/>
              <a:t>Si on regarde la </a:t>
            </a:r>
            <a:r>
              <a:rPr lang="fr-FR" b="1" dirty="0"/>
              <a:t>DISTIBUTION DES SALAIRES</a:t>
            </a:r>
          </a:p>
          <a:p>
            <a:endParaRPr lang="fr-FR" dirty="0"/>
          </a:p>
          <a:p>
            <a:r>
              <a:rPr lang="fr-FR" dirty="0"/>
              <a:t>le min/max du salaire est de 1009 à 19,999 €/mois</a:t>
            </a:r>
            <a:br>
              <a:rPr lang="fr-FR" dirty="0"/>
            </a:br>
            <a:br>
              <a:rPr lang="fr-FR" dirty="0"/>
            </a:br>
            <a:r>
              <a:rPr lang="fr-FR" dirty="0"/>
              <a:t>Le maximum de 19 999 n'est pas isolé mais risque de faire apprendre au modèle salaire bas = démission</a:t>
            </a:r>
          </a:p>
          <a:p>
            <a:endParaRPr lang="fr-F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fr-FR" dirty="0"/>
              <a:t>Je décide de supprimer les </a:t>
            </a:r>
            <a:r>
              <a:rPr lang="fr-FR" dirty="0" err="1"/>
              <a:t>outliers</a:t>
            </a:r>
            <a:r>
              <a:rPr lang="fr-FR" dirty="0"/>
              <a:t> pour éviter de biaiser le modèle et de garder que la tranche significative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0E02D0F-634D-1135-4F02-927961105F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16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69652501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489A36-8469-C609-999F-77DE8916C0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7045A04B-830C-2D7C-426E-1F3B39AC2B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04936F91-F919-E263-9BD7-F1CEDE0EF9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r>
              <a:rPr lang="fr-FR" dirty="0"/>
              <a:t>Les seules valeurs corrélées sont plutôt logiques:</a:t>
            </a:r>
          </a:p>
          <a:p>
            <a:pPr rtl="0"/>
            <a:r>
              <a:rPr lang="fr-FR" sz="1200" cap="none" dirty="0" err="1">
                <a:solidFill>
                  <a:srgbClr val="FF0000"/>
                </a:solidFill>
              </a:rPr>
              <a:t>annee_experience_totale</a:t>
            </a:r>
            <a:r>
              <a:rPr lang="fr-FR" sz="1200" cap="none" dirty="0">
                <a:solidFill>
                  <a:srgbClr val="FF0000"/>
                </a:solidFill>
              </a:rPr>
              <a:t> &lt;&gt; </a:t>
            </a:r>
            <a:r>
              <a:rPr lang="fr-FR" sz="1200" cap="none" dirty="0" err="1">
                <a:solidFill>
                  <a:srgbClr val="FF0000"/>
                </a:solidFill>
              </a:rPr>
              <a:t>annee_dans_l_entreprise</a:t>
            </a:r>
            <a:endParaRPr lang="fr-FR" sz="1200" cap="none" dirty="0">
              <a:solidFill>
                <a:srgbClr val="FF0000"/>
              </a:solidFill>
            </a:endParaRPr>
          </a:p>
          <a:p>
            <a:pPr rtl="0"/>
            <a:r>
              <a:rPr lang="fr-FR" sz="1200" cap="none" dirty="0" err="1">
                <a:solidFill>
                  <a:srgbClr val="FF0000"/>
                </a:solidFill>
              </a:rPr>
              <a:t>annee_experience_totale</a:t>
            </a:r>
            <a:r>
              <a:rPr lang="fr-FR" sz="1200" cap="none" dirty="0">
                <a:solidFill>
                  <a:srgbClr val="FF0000"/>
                </a:solidFill>
              </a:rPr>
              <a:t> &lt;&gt; </a:t>
            </a:r>
            <a:r>
              <a:rPr lang="fr-FR" sz="1200" cap="none" dirty="0" err="1">
                <a:solidFill>
                  <a:srgbClr val="FF0000"/>
                </a:solidFill>
              </a:rPr>
              <a:t>age</a:t>
            </a:r>
            <a:endParaRPr lang="fr-FR" sz="1200" cap="none" dirty="0">
              <a:solidFill>
                <a:srgbClr val="FF0000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cap="none" dirty="0" err="1">
                <a:solidFill>
                  <a:srgbClr val="FF0000"/>
                </a:solidFill>
              </a:rPr>
              <a:t>annee_derniere_promotion</a:t>
            </a:r>
            <a:r>
              <a:rPr lang="fr-FR" sz="1200" cap="none" dirty="0">
                <a:solidFill>
                  <a:srgbClr val="FF0000"/>
                </a:solidFill>
              </a:rPr>
              <a:t> &lt;&gt; </a:t>
            </a:r>
            <a:r>
              <a:rPr lang="fr-FR" sz="1200" cap="none" dirty="0" err="1">
                <a:solidFill>
                  <a:srgbClr val="FF0000"/>
                </a:solidFill>
              </a:rPr>
              <a:t>age</a:t>
            </a:r>
            <a:endParaRPr lang="fr-FR" sz="1200" cap="none" dirty="0">
              <a:solidFill>
                <a:srgbClr val="FF0000"/>
              </a:solidFill>
            </a:endParaRPr>
          </a:p>
          <a:p>
            <a:pPr rtl="0"/>
            <a:r>
              <a:rPr lang="fr-FR" sz="1200" cap="none" dirty="0">
                <a:solidFill>
                  <a:srgbClr val="FF0000"/>
                </a:solidFill>
              </a:rPr>
              <a:t>Etc…</a:t>
            </a:r>
          </a:p>
          <a:p>
            <a:pPr rtl="0"/>
            <a:endParaRPr lang="fr-FR" sz="1200" cap="none" dirty="0">
              <a:solidFill>
                <a:srgbClr val="FF0000"/>
              </a:solidFill>
            </a:endParaRPr>
          </a:p>
          <a:p>
            <a:pPr rtl="0"/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FCE8220-440C-EB29-CCDF-A5DBCFE1FF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7614609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47DDF-1565-460D-7632-8DB4205BF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4937EF3A-67B8-3982-9B6C-5AFF4168C6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C6179351-D1B0-8933-365D-1A8449B455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FB64E2C-F309-26A1-29C7-D147CB8322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008873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97CD09-F6CE-C390-CC5F-14C307D3F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73CA679E-56D5-DA9C-3F9E-B7C4D91B89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3BC1A91F-6392-4AB9-EC1C-3EF67A1937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r>
              <a:rPr lang="fr-FR" dirty="0"/>
              <a:t>Les représentants commerciaux sont les plus touchés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A9B1C26-D223-45AC-1CF5-942769045A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6590454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4C820E-D793-0CBB-DB6F-10293059F7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5149BE40-1CF7-AB01-2BEB-CC61840177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B147367D-4A1D-3C8D-4DC7-D360D984C7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r>
              <a:rPr lang="fr-FR" dirty="0"/>
              <a:t>A mettre en </a:t>
            </a:r>
            <a:r>
              <a:rPr lang="fr-FR" dirty="0" err="1"/>
              <a:t>lumiere</a:t>
            </a:r>
            <a:r>
              <a:rPr lang="fr-FR" dirty="0"/>
              <a:t> avec le nombre de salarié pour être </a:t>
            </a:r>
            <a:r>
              <a:rPr lang="fr-FR" dirty="0" err="1"/>
              <a:t>ojectif</a:t>
            </a:r>
            <a:endParaRPr lang="fr-FR" dirty="0"/>
          </a:p>
          <a:p>
            <a:pPr rtl="0"/>
            <a:endParaRPr lang="fr-FR" dirty="0"/>
          </a:p>
          <a:p>
            <a:pPr rtl="0"/>
            <a:r>
              <a:rPr lang="fr-FR" dirty="0"/>
              <a:t>Les 3 </a:t>
            </a:r>
            <a:r>
              <a:rPr lang="fr-FR" dirty="0" err="1"/>
              <a:t>premieres</a:t>
            </a:r>
            <a:r>
              <a:rPr lang="fr-FR" dirty="0"/>
              <a:t> catégories regroupe beaucoup plus de salariés que « Représentant Commerciaux »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Ce qui explique </a:t>
            </a:r>
            <a:r>
              <a:rPr lang="fr-FR" sz="1200" cap="none" dirty="0">
                <a:solidFill>
                  <a:srgbClr val="FF0000"/>
                </a:solidFill>
              </a:rPr>
              <a:t>Les postes les plus concernés (en nombres #) par rapport au (%)</a:t>
            </a:r>
          </a:p>
          <a:p>
            <a:pPr rtl="0"/>
            <a:endParaRPr lang="fr-FR" dirty="0"/>
          </a:p>
          <a:p>
            <a:pPr rtl="0"/>
            <a:r>
              <a:rPr lang="fr-FR" dirty="0"/>
              <a:t>Carde commercial, Assistant </a:t>
            </a:r>
            <a:r>
              <a:rPr lang="fr-FR" dirty="0" err="1"/>
              <a:t>Dir</a:t>
            </a:r>
            <a:r>
              <a:rPr lang="fr-FR" dirty="0"/>
              <a:t> et Consultant =&gt; plus nombreux =&gt; plus de démissions (en nombre)</a:t>
            </a:r>
          </a:p>
          <a:p>
            <a:pPr rtl="0"/>
            <a:r>
              <a:rPr lang="fr-FR" dirty="0"/>
              <a:t>MAIS</a:t>
            </a:r>
          </a:p>
          <a:p>
            <a:pPr rtl="0"/>
            <a:r>
              <a:rPr lang="fr-FR" dirty="0"/>
              <a:t>Représentant Commerciaux =&gt; plus de démissions (en %)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4008FE6-9145-1EF4-4E9B-12F1514B54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8835516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194FE-373D-42DF-4F35-9D7D3ED61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EF3D63DA-8EBB-9954-6921-0D25ACB2B0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B08B0656-60A7-5E0A-BDA4-7027E836D2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r>
              <a:rPr lang="fr-FR" dirty="0"/>
              <a:t>Corrélation forte entre le salaire et démissions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89F29C8-0F7B-0D1C-1EE8-A0C284FB28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21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2886847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9CEC01-C35C-BC0A-706F-5A32A6263C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A7013224-66E6-DE8C-E611-5EFBEABD8C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9C3AEEEE-95B4-C7F9-5D14-068E3F5AB8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r>
              <a:rPr lang="fr-FR" dirty="0"/>
              <a:t>Si on regarde le taux de démissions par rapport à l moyenne des salaires on voit clairement une courbe qui se croise !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3F5DC3A-3C49-8F98-E524-FC9F030943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22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1142990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F2C332-DDE8-BA4A-0533-7FF445DAD6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2B01A4C7-330E-FE92-4E17-B6C510736C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B3165E82-4064-7D71-76B7-60D9F593C9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r>
              <a:rPr lang="fr-FR" dirty="0"/>
              <a:t>Si on regarde le taux de démissions par rapport à l moyenne des salaires on voit clairement une courbe qui se croise !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807A573-158F-C57D-9B8F-8EE5429597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23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2846998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50681A-1336-4AD5-6AB2-7F9AD3EB8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0801B0E8-CBA5-EF00-A394-2C78CC3EBD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D636E031-7D2B-1AD3-AEC0-FA54AE4816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r>
              <a:rPr lang="fr-FR" dirty="0"/>
              <a:t>Si on regarde le taux de démissions par rapport à l moyenne des salaires on voit clairement une courbe qui se croise !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87CD18C-2986-E493-9DDE-78F8426C62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1788049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B325B4-FE81-12AC-D760-14B44E7C5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F9166934-A7C6-B319-4D0F-C73CEA177A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DF9DC6CA-C40F-E5E6-0846-BAD0B50D03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r>
              <a:rPr lang="fr-FR" dirty="0"/>
              <a:t>Si on regarde le taux de démissions par rapport à l moyenne des salaires on voit clairement une courbe qui se croise !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5D38D7A-9FF4-BF3A-3A2B-8FC0DF89BB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26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2832693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B25C2F-81F7-BFBC-A925-A45C924260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82DA3824-A1C9-F303-7DA5-440A7D3E23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4AB31884-9FAC-D974-E65D-DEAD13A8D1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r>
              <a:rPr lang="fr-FR" dirty="0"/>
              <a:t>Effectivement nous retrouvons certaines données dans la représentation de la corrélation de Pearson</a:t>
            </a:r>
          </a:p>
          <a:p>
            <a:pPr rtl="0"/>
            <a:endParaRPr lang="fr-FR" dirty="0"/>
          </a:p>
          <a:p>
            <a:pPr rtl="0"/>
            <a:r>
              <a:rPr lang="fr-FR" dirty="0"/>
              <a:t>Mais cette corrélation ne donne pas les raisons, juste une valeur entre -1 et 1 de relation entre 2 variables</a:t>
            </a:r>
          </a:p>
          <a:p>
            <a:pPr rtl="0"/>
            <a:endParaRPr lang="fr-FR" dirty="0"/>
          </a:p>
          <a:p>
            <a:pPr rtl="0"/>
            <a:r>
              <a:rPr lang="fr-FR" dirty="0"/>
              <a:t>La </a:t>
            </a:r>
            <a:r>
              <a:rPr lang="fr-FR" b="1" dirty="0"/>
              <a:t>corrélation de Pearson</a:t>
            </a:r>
            <a:r>
              <a:rPr lang="fr-FR" dirty="0"/>
              <a:t> mesure </a:t>
            </a:r>
            <a:r>
              <a:rPr lang="fr-FR" b="1" dirty="0"/>
              <a:t>la relation linéaire </a:t>
            </a:r>
            <a:r>
              <a:rPr lang="fr-FR" dirty="0"/>
              <a:t>entre deux variables quantitatives</a:t>
            </a:r>
          </a:p>
          <a:p>
            <a:pPr rtl="0"/>
            <a:endParaRPr lang="fr-FR" dirty="0"/>
          </a:p>
          <a:p>
            <a:pPr rtl="0"/>
            <a:r>
              <a:rPr lang="fr-FR" b="1" dirty="0"/>
              <a:t>Corrélation proche de +1</a:t>
            </a:r>
            <a:r>
              <a:rPr lang="fr-FR" dirty="0"/>
              <a:t> → forte relation positive</a:t>
            </a:r>
            <a:br>
              <a:rPr lang="fr-FR" dirty="0"/>
            </a:br>
            <a:r>
              <a:rPr lang="fr-FR" dirty="0"/>
              <a:t>→ quand la variable augmente, 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a_quitte_l_entreprise</a:t>
            </a:r>
            <a:r>
              <a:rPr lang="fr-FR" dirty="0"/>
              <a:t> a tendance à augmenter. </a:t>
            </a:r>
          </a:p>
          <a:p>
            <a:pPr rtl="0"/>
            <a:r>
              <a:rPr lang="fr-FR" b="1" dirty="0"/>
              <a:t>Corrélation proche de -1</a:t>
            </a:r>
            <a:r>
              <a:rPr lang="fr-FR" dirty="0"/>
              <a:t> → forte relation négative</a:t>
            </a:r>
            <a:br>
              <a:rPr lang="fr-FR" dirty="0"/>
            </a:br>
            <a:r>
              <a:rPr lang="fr-FR" dirty="0"/>
              <a:t>→ quand la variable augmente, 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a_quitte_l_entreprise</a:t>
            </a:r>
            <a:r>
              <a:rPr lang="fr-FR" dirty="0"/>
              <a:t> a tendance à diminuer. </a:t>
            </a:r>
          </a:p>
          <a:p>
            <a:pPr rtl="0"/>
            <a:r>
              <a:rPr lang="fr-FR" b="1" dirty="0"/>
              <a:t>Corrélation proche de 0</a:t>
            </a:r>
            <a:r>
              <a:rPr lang="fr-FR" dirty="0"/>
              <a:t> → pas de relation linéaire détectable.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1683626-03C7-CF8C-0583-1DAA1A2D0B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27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1981415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J’utilise un jeu de données global pour tous les modèles et entrainements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29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91026877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63BE42-7496-DBF9-1BD7-375DFB214D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312D5055-B3E3-AC5C-BA6B-F7E5C4F41E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E3554EF-908A-C0A2-EA8B-E7B9759B9B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Nous utiliserons 3 modèles pour comparer nos </a:t>
            </a:r>
            <a:r>
              <a:rPr lang="fr-FR" dirty="0" err="1"/>
              <a:t>resultats</a:t>
            </a:r>
            <a:endParaRPr lang="fr-FR" dirty="0"/>
          </a:p>
          <a:p>
            <a:endParaRPr lang="fr-FR" dirty="0"/>
          </a:p>
          <a:p>
            <a:r>
              <a:rPr lang="fr-FR" dirty="0"/>
              <a:t>Le </a:t>
            </a:r>
            <a:r>
              <a:rPr lang="fr-FR" dirty="0" err="1"/>
              <a:t>dummy</a:t>
            </a:r>
            <a:r>
              <a:rPr lang="fr-FR" dirty="0"/>
              <a:t> qui est une simple moyenne comme base de comparaison</a:t>
            </a:r>
          </a:p>
          <a:p>
            <a:r>
              <a:rPr lang="fr-FR" dirty="0"/>
              <a:t>Le </a:t>
            </a:r>
            <a:r>
              <a:rPr lang="fr-FR" dirty="0" err="1"/>
              <a:t>LogisicRegression</a:t>
            </a:r>
            <a:r>
              <a:rPr lang="fr-FR" dirty="0"/>
              <a:t> qui se base sur une comparaison linéaire</a:t>
            </a:r>
          </a:p>
          <a:p>
            <a:r>
              <a:rPr lang="fr-FR" dirty="0"/>
              <a:t>Le </a:t>
            </a:r>
            <a:r>
              <a:rPr lang="fr-FR" dirty="0" err="1"/>
              <a:t>XGBoost</a:t>
            </a:r>
            <a:r>
              <a:rPr lang="fr-FR" dirty="0"/>
              <a:t> qui utilise des sous-modèles à base de forêts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18C4275-4F49-EF25-F89A-C4F510F6C4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30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48610545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062F96-68F8-EA71-BCFB-5B3F1E9AE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D51F77F-DEBD-5C8F-BC23-DDFE9E4C5B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89B96818-68E6-3449-95F7-F792ED2A5C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Toutes les prédictions du modèle sont mesurées avec des scores</a:t>
            </a:r>
          </a:p>
          <a:p>
            <a:endParaRPr lang="fr-FR" dirty="0"/>
          </a:p>
          <a:p>
            <a:endParaRPr lang="fr-F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b="1" dirty="0"/>
              <a:t>distribution des probabilités </a:t>
            </a:r>
            <a:r>
              <a:rPr lang="fr-FR" dirty="0"/>
              <a:t>=&gt; pertinence des choix</a:t>
            </a:r>
          </a:p>
          <a:p>
            <a:r>
              <a:rPr lang="fr-FR" b="1" dirty="0"/>
              <a:t>Matrice de confusion </a:t>
            </a:r>
            <a:r>
              <a:rPr lang="fr-FR" dirty="0"/>
              <a:t>=&gt; les réussites et les loupés</a:t>
            </a:r>
          </a:p>
          <a:p>
            <a:r>
              <a:rPr lang="fr-FR" b="1" dirty="0"/>
              <a:t>Courbe ROC </a:t>
            </a:r>
            <a:r>
              <a:rPr lang="fr-FR" dirty="0"/>
              <a:t>=&gt; la courbe qui montre le compromis entre détection et faux positifs, </a:t>
            </a:r>
            <a:r>
              <a:rPr lang="fr-FR" b="1" dirty="0"/>
              <a:t>AUC </a:t>
            </a:r>
            <a:r>
              <a:rPr lang="fr-FR" dirty="0"/>
              <a:t>= aire de la courbe ROC (un nombre qui résume cette courbe)</a:t>
            </a:r>
          </a:p>
          <a:p>
            <a:endParaRPr lang="fr-F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Accuracy</a:t>
            </a:r>
            <a:r>
              <a:rPr lang="fr-FR" dirty="0"/>
              <a:t> =&gt; proportion de correctes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Precision</a:t>
            </a:r>
            <a:r>
              <a:rPr lang="fr-F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=&gt; </a:t>
            </a:r>
            <a:r>
              <a:rPr lang="fr-F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fiabilité des prédictions positives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Recall</a:t>
            </a:r>
            <a:r>
              <a:rPr lang="fr-F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=&gt; </a:t>
            </a:r>
            <a:r>
              <a:rPr lang="fr-F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capacité à retrouver les vrais positifs (ne pas louper des faux positif)</a:t>
            </a:r>
          </a:p>
          <a:p>
            <a:endParaRPr lang="fr-FR" dirty="0"/>
          </a:p>
          <a:p>
            <a:r>
              <a:rPr lang="fr-FR" dirty="0"/>
              <a:t>Pour un modèle d'attrition RH, on peut lire la ROC ainsi :</a:t>
            </a:r>
          </a:p>
          <a:p>
            <a:r>
              <a:rPr lang="fr-FR" dirty="0"/>
              <a:t>Si on choisit un seuil bas : </a:t>
            </a:r>
          </a:p>
          <a:p>
            <a:pPr lvl="1"/>
            <a:r>
              <a:rPr lang="fr-FR" dirty="0"/>
              <a:t>on détecte beaucoup de départs (</a:t>
            </a:r>
            <a:r>
              <a:rPr lang="fr-FR" dirty="0" err="1"/>
              <a:t>Recall</a:t>
            </a:r>
            <a:r>
              <a:rPr lang="fr-FR" dirty="0"/>
              <a:t> élevé) </a:t>
            </a:r>
          </a:p>
          <a:p>
            <a:pPr lvl="1"/>
            <a:r>
              <a:rPr lang="fr-FR" dirty="0"/>
              <a:t>mais on alerte beaucoup de personnes qui ne partiront pas (FPR élevé) </a:t>
            </a:r>
          </a:p>
          <a:p>
            <a:r>
              <a:rPr lang="fr-FR" dirty="0"/>
              <a:t>Si on choisit un seuil haut : </a:t>
            </a:r>
          </a:p>
          <a:p>
            <a:pPr lvl="1"/>
            <a:r>
              <a:rPr lang="fr-FR" dirty="0"/>
              <a:t>on alerte peu de personnes à tort </a:t>
            </a:r>
          </a:p>
          <a:p>
            <a:pPr lvl="1"/>
            <a:r>
              <a:rPr lang="fr-FR" dirty="0"/>
              <a:t>mais on rate davantage de départs</a:t>
            </a:r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AA8F910-7E0B-B0F0-D8B3-C9A2A11158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31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46327124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Je réalise des entrainements successifs et conserve l’intégralité des scores pour chaque passe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32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78131893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1FD80B-689B-E988-0FDA-CB6CDDB17B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40C3ED86-FF5F-BEDF-EC9C-22FCAD11A2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6ACF4989-E90C-6332-7003-BE3CE0D249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defTabSz="16002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Font typeface="Arial" panose="020B0604020202020204" pitchFamily="34" charset="0"/>
              <a:buNone/>
            </a:pPr>
            <a:endParaRPr lang="fr-FR" sz="1200" kern="1200" noProof="0" dirty="0">
              <a:latin typeface="Aptos" panose="020B0004020202020204" pitchFamily="34" charset="0"/>
            </a:endParaRPr>
          </a:p>
          <a:p>
            <a:pPr marL="0" lvl="0" indent="0" defTabSz="16002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Font typeface="Arial" panose="020B0604020202020204" pitchFamily="34" charset="0"/>
              <a:buNone/>
            </a:pPr>
            <a:r>
              <a:rPr lang="fr-FR" sz="1200" kern="1200" noProof="0" dirty="0" err="1">
                <a:latin typeface="Aptos" panose="020B0004020202020204" pitchFamily="34" charset="0"/>
              </a:rPr>
              <a:t>Features</a:t>
            </a:r>
            <a:r>
              <a:rPr lang="fr-FR" sz="1200" kern="1200" noProof="0" dirty="0">
                <a:latin typeface="Aptos" panose="020B0004020202020204" pitchFamily="34" charset="0"/>
              </a:rPr>
              <a:t> </a:t>
            </a:r>
            <a:r>
              <a:rPr lang="fr-FR" sz="1200" kern="1200" noProof="0" dirty="0" err="1">
                <a:latin typeface="Aptos" panose="020B0004020202020204" pitchFamily="34" charset="0"/>
              </a:rPr>
              <a:t>enginering</a:t>
            </a:r>
            <a:r>
              <a:rPr lang="fr-FR" sz="1200" kern="1200" noProof="0" dirty="0">
                <a:latin typeface="Aptos" panose="020B0004020202020204" pitchFamily="34" charset="0"/>
              </a:rPr>
              <a:t> = Recherche de nouveaux paramètres</a:t>
            </a:r>
          </a:p>
          <a:p>
            <a:pPr marL="0" lvl="0" indent="0" defTabSz="16002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Font typeface="Arial" panose="020B0604020202020204" pitchFamily="34" charset="0"/>
              <a:buNone/>
            </a:pPr>
            <a:r>
              <a:rPr lang="fr-FR" sz="1200" dirty="0" err="1">
                <a:latin typeface="Aptos" panose="020B0004020202020204" pitchFamily="34" charset="0"/>
              </a:rPr>
              <a:t>Scaling</a:t>
            </a:r>
            <a:r>
              <a:rPr lang="fr-FR" sz="1200" dirty="0">
                <a:latin typeface="Aptos" panose="020B0004020202020204" pitchFamily="34" charset="0"/>
              </a:rPr>
              <a:t> = Compense le déséquilibrage du modèle par les </a:t>
            </a:r>
            <a:r>
              <a:rPr lang="fr-FR" sz="1200" dirty="0" err="1">
                <a:latin typeface="Aptos" panose="020B0004020202020204" pitchFamily="34" charset="0"/>
              </a:rPr>
              <a:t>Hyper-paramètres</a:t>
            </a:r>
            <a:endParaRPr lang="fr-FR" sz="1200" kern="1200" noProof="0" dirty="0">
              <a:latin typeface="Aptos" panose="020B0004020202020204" pitchFamily="34" charset="0"/>
            </a:endParaRPr>
          </a:p>
          <a:p>
            <a:pPr marL="0" marR="0" lvl="0" indent="0" algn="l" defTabSz="16002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 sz="1200" kern="1200" noProof="0" dirty="0" err="1">
                <a:latin typeface="Aptos" panose="020B0004020202020204" pitchFamily="34" charset="0"/>
              </a:rPr>
              <a:t>Hyper-Paramètres</a:t>
            </a:r>
            <a:r>
              <a:rPr lang="fr-FR" sz="1200" kern="1200" noProof="0" dirty="0">
                <a:latin typeface="Aptos" panose="020B0004020202020204" pitchFamily="34" charset="0"/>
              </a:rPr>
              <a:t> = </a:t>
            </a:r>
            <a:r>
              <a:rPr lang="fr-FR" sz="1200" kern="1200" noProof="0" dirty="0" err="1">
                <a:latin typeface="Aptos" panose="020B0004020202020204" pitchFamily="34" charset="0"/>
              </a:rPr>
              <a:t>Parametrage</a:t>
            </a:r>
            <a:r>
              <a:rPr lang="fr-FR" sz="1200" kern="1200" noProof="0" dirty="0">
                <a:latin typeface="Aptos" panose="020B0004020202020204" pitchFamily="34" charset="0"/>
              </a:rPr>
              <a:t> des modèles</a:t>
            </a:r>
          </a:p>
          <a:p>
            <a:pPr marL="0" marR="0" lvl="0" indent="0" algn="l" defTabSz="16002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 sz="1200" kern="1200" noProof="0" dirty="0">
                <a:latin typeface="Aptos" panose="020B0004020202020204" pitchFamily="34" charset="0"/>
              </a:rPr>
              <a:t>Recherche du seuil optimal (F1-Score) = test avec différents seuils pour la meilleur note F1</a:t>
            </a:r>
          </a:p>
          <a:p>
            <a:pPr marL="0" lvl="0" indent="0" defTabSz="16002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Font typeface="Arial" panose="020B0604020202020204" pitchFamily="34" charset="0"/>
              <a:buNone/>
            </a:pPr>
            <a:endParaRPr lang="fr-FR" sz="1200" kern="1200" noProof="0" dirty="0">
              <a:latin typeface="Aptos" panose="020B0004020202020204" pitchFamily="34" charset="0"/>
            </a:endParaRP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852158A-4F6E-3C78-40DD-1BCBF78EEB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33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43149496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F1-Score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34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48008075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Recall</a:t>
            </a:r>
            <a:endParaRPr lang="fr-FR" dirty="0"/>
          </a:p>
          <a:p>
            <a:endParaRPr lang="fr-FR" dirty="0"/>
          </a:p>
          <a:p>
            <a:r>
              <a:rPr lang="fr-FR" dirty="0"/>
              <a:t>Pour ne pas louper de faux-positifs</a:t>
            </a:r>
          </a:p>
          <a:p>
            <a:endParaRPr lang="fr-FR" dirty="0"/>
          </a:p>
          <a:p>
            <a:r>
              <a:rPr lang="fr-FR" dirty="0"/>
              <a:t>objectif semble être de </a:t>
            </a:r>
            <a:r>
              <a:rPr lang="fr-FR" b="1" dirty="0"/>
              <a:t>ne pas manquer les employés susceptibles de partir</a:t>
            </a:r>
            <a:r>
              <a:rPr lang="fr-FR" dirty="0"/>
              <a:t>, il serait intéressant de rechercher un seuil qui maximise le </a:t>
            </a:r>
            <a:r>
              <a:rPr lang="fr-FR" dirty="0" err="1"/>
              <a:t>recall</a:t>
            </a:r>
            <a:r>
              <a:rPr lang="fr-FR" dirty="0"/>
              <a:t> tout en gardant un nombre raisonnable de faux positifs.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35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30266430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Dans notre cas nous pouvons dire que: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 meilleur modèle est la </a:t>
            </a:r>
            <a:r>
              <a:rPr lang="fr-FR" dirty="0" err="1"/>
              <a:t>LogisticRegression</a:t>
            </a:r>
            <a:r>
              <a:rPr lang="fr-FR" dirty="0"/>
              <a:t> qui affiche un meilleur taux de </a:t>
            </a:r>
            <a:r>
              <a:rPr lang="fr-FR" dirty="0" err="1"/>
              <a:t>recall</a:t>
            </a:r>
            <a:r>
              <a:rPr lang="fr-FR" dirty="0"/>
              <a:t> (Idéal dans notre </a:t>
            </a:r>
            <a:r>
              <a:rPr lang="fr-FR" dirty="0" err="1"/>
              <a:t>problèmatique</a:t>
            </a:r>
            <a:r>
              <a:rPr lang="fr-FR" dirty="0"/>
              <a:t> métier)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 err="1"/>
              <a:t>XGBoost</a:t>
            </a:r>
            <a:r>
              <a:rPr lang="fr-FR" dirty="0"/>
              <a:t> affiche des résultats similaires mais inversement proportionnel </a:t>
            </a:r>
            <a:r>
              <a:rPr lang="fr-FR" dirty="0" err="1"/>
              <a:t>precision</a:t>
            </a:r>
            <a:r>
              <a:rPr lang="fr-FR" dirty="0"/>
              <a:t>/</a:t>
            </a:r>
            <a:r>
              <a:rPr lang="fr-FR" dirty="0" err="1"/>
              <a:t>recall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37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57117051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Le modèle le tranche pas idéalement entre 0 ou 1 mais hésite dans la distribution des probabilités.</a:t>
            </a:r>
          </a:p>
          <a:p>
            <a:endParaRPr lang="fr-FR" dirty="0"/>
          </a:p>
          <a:p>
            <a:r>
              <a:rPr lang="fr-FR" dirty="0"/>
              <a:t>Le modèle est </a:t>
            </a:r>
            <a:r>
              <a:rPr lang="fr-FR" b="1" dirty="0"/>
              <a:t>bon pour détecter les départs</a:t>
            </a:r>
            <a:r>
              <a:rPr lang="fr-FR" dirty="0"/>
              <a:t> : seulement 9 départs manqués sur 39. (</a:t>
            </a:r>
            <a:r>
              <a:rPr lang="fr-FR" dirty="0" err="1"/>
              <a:t>Recall</a:t>
            </a:r>
            <a:r>
              <a:rPr lang="fr-FR" dirty="0"/>
              <a:t> proche de 77 %.)</a:t>
            </a:r>
          </a:p>
          <a:p>
            <a:r>
              <a:rPr lang="fr-FR" dirty="0"/>
              <a:t>Le modèle est </a:t>
            </a:r>
            <a:r>
              <a:rPr lang="fr-FR" b="1" dirty="0"/>
              <a:t>moins bon pour cibler précisément les personnes à risque</a:t>
            </a:r>
            <a:r>
              <a:rPr lang="fr-FR" dirty="0"/>
              <a:t> : 52 alertes sur 82 sont des faux positifs.</a:t>
            </a:r>
          </a:p>
          <a:p>
            <a:endParaRPr lang="fr-FR" dirty="0"/>
          </a:p>
          <a:p>
            <a:endParaRPr lang="fr-FR" dirty="0"/>
          </a:p>
          <a:p>
            <a:r>
              <a:rPr lang="fr-FR" dirty="0"/>
              <a:t>TP = 28  , les employés qui ont réellement quitté l'entreprise et que le modèle a correctement identifiés.</a:t>
            </a:r>
          </a:p>
          <a:p>
            <a:endParaRPr lang="fr-FR" dirty="0"/>
          </a:p>
          <a:p>
            <a:r>
              <a:rPr lang="fr-FR" dirty="0"/>
              <a:t>FN = 11 , les employés qui ont quitté l'entreprise mais que le modèle avait classés comme restant.</a:t>
            </a:r>
          </a:p>
          <a:p>
            <a:endParaRPr lang="fr-FR" dirty="0"/>
          </a:p>
          <a:p>
            <a:r>
              <a:rPr lang="fr-FR" dirty="0"/>
              <a:t>FP = 26  , les employés prédits comme partants alors qu'ils sont finalement restés.</a:t>
            </a:r>
          </a:p>
          <a:p>
            <a:endParaRPr lang="fr-FR" dirty="0"/>
          </a:p>
          <a:p>
            <a:r>
              <a:rPr lang="fr-FR" dirty="0"/>
              <a:t>TN = 153 , les employés restés dans l'entreprise et correctement identifiés.</a:t>
            </a:r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r>
              <a:rPr lang="fr-FR" dirty="0"/>
              <a:t>Cette courbe ROC permet d'évaluer la capacité de ton modèle à </a:t>
            </a:r>
            <a:r>
              <a:rPr lang="fr-FR" b="1" dirty="0"/>
              <a:t>séparer les employés qui quittent l'entreprise (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</a:t>
            </a:r>
            <a:r>
              <a:rPr lang="fr-FR" b="1" dirty="0"/>
              <a:t>) de ceux qui restent (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0</a:t>
            </a:r>
            <a:r>
              <a:rPr lang="fr-FR" b="1" dirty="0"/>
              <a:t>)</a:t>
            </a:r>
            <a:r>
              <a:rPr lang="fr-FR" dirty="0"/>
              <a:t>, indépendamment du seuil de décision choisi.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38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18638009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Les heures supplémentaire marquent très nettement les départs liés, 100% des départs réalisés des heures sup.</a:t>
            </a:r>
          </a:p>
          <a:p>
            <a:r>
              <a:rPr lang="fr-FR" dirty="0"/>
              <a:t>Les revenus mensuels sont plus contrastés mais joue un rôle important</a:t>
            </a:r>
          </a:p>
          <a:p>
            <a:endParaRPr lang="fr-FR" dirty="0"/>
          </a:p>
          <a:p>
            <a:r>
              <a:rPr lang="fr-FR" dirty="0"/>
              <a:t>Bleu = valeur basse</a:t>
            </a:r>
          </a:p>
          <a:p>
            <a:r>
              <a:rPr lang="fr-FR" dirty="0"/>
              <a:t>Rouge = valeur haute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39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96809359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165B04-F66D-DCED-B6D2-4CA699C3DA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E43D558A-C96B-1EDB-3468-AE294F5A0D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8FA87FC6-1571-34A5-CA93-2BB7AC0E32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Les heures supplémentaire marquent très nettement les départs liés, 100% des départs réalisés des heures sup.</a:t>
            </a:r>
          </a:p>
          <a:p>
            <a:r>
              <a:rPr lang="fr-FR" dirty="0"/>
              <a:t>Les revenus mensuels sont plus contrastés mais joue un rôle important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12FF07F-D2E4-57F1-EEB2-0E9BD461BA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40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93282795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DCEE5D-BBD3-A2EC-1F05-E46CF48A1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6D9FE61C-76CE-1BB9-1395-1733428615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EC764E2B-A845-3539-9858-36364E2492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r>
              <a:rPr lang="fr-FR" dirty="0"/>
              <a:t>Calcule des </a:t>
            </a:r>
            <a:r>
              <a:rPr lang="fr-FR" dirty="0" err="1"/>
              <a:t>counterfactuals</a:t>
            </a:r>
            <a:r>
              <a:rPr lang="fr-FR" dirty="0"/>
              <a:t> sur un échantillon de 20 salariés à risque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7399622-8265-25D5-383D-A84B233D5A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41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2945174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42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467141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rtlCol="0"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fr-FR" noProof="0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3F3B20A7-A3FE-46B9-84EA-B4257BA7E60C}" type="datetime1">
              <a:rPr lang="fr-FR" noProof="0" smtClean="0"/>
              <a:t>18/06/2026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1030186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 rtlCol="0"/>
          <a:lstStyle/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 hasCustomPrompt="1"/>
          </p:nvPr>
        </p:nvSpPr>
        <p:spPr>
          <a:xfrm>
            <a:off x="581192" y="2180496"/>
            <a:ext cx="11029615" cy="3678303"/>
          </a:xfrm>
        </p:spPr>
        <p:txBody>
          <a:bodyPr rtlCol="0"/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29B34D2F-0B02-482E-ABD2-95D8C2FF2A58}" type="datetime1">
              <a:rPr lang="fr-FR" noProof="0" smtClean="0"/>
              <a:t>18/06/2026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 rtlCol="0"/>
          <a:lstStyle/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739981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-têt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rtlCol="0"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 hasCustomPrompt="1"/>
          </p:nvPr>
        </p:nvSpPr>
        <p:spPr>
          <a:xfrm>
            <a:off x="581192" y="4541417"/>
            <a:ext cx="11029615" cy="600556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126ECFBB-4871-428F-B4AE-1EF357E63674}" type="datetime1">
              <a:rPr lang="fr-FR" noProof="0" smtClean="0"/>
              <a:t>18/06/2026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9092908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 rtlCol="0"/>
          <a:lstStyle/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 hasCustomPrompt="1"/>
          </p:nvPr>
        </p:nvSpPr>
        <p:spPr>
          <a:xfrm>
            <a:off x="581193" y="2228003"/>
            <a:ext cx="5422390" cy="3633047"/>
          </a:xfrm>
        </p:spPr>
        <p:txBody>
          <a:bodyPr rtlCol="0">
            <a:normAutofit/>
          </a:bodyPr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 hasCustomPrompt="1"/>
          </p:nvPr>
        </p:nvSpPr>
        <p:spPr>
          <a:xfrm>
            <a:off x="6188417" y="2228003"/>
            <a:ext cx="5422392" cy="3633047"/>
          </a:xfrm>
        </p:spPr>
        <p:txBody>
          <a:bodyPr rtlCol="0">
            <a:normAutofit/>
          </a:bodyPr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5517F14-0D9C-452E-A596-36902551AE9C}" type="datetime1">
              <a:rPr lang="fr-FR" noProof="0" smtClean="0"/>
              <a:t>18/06/2026</a:t>
            </a:fld>
            <a:endParaRPr lang="fr-FR" noProof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6871674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 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2" name="Titr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 rtlCol="0"/>
          <a:lstStyle/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 hasCustomPrompt="1"/>
          </p:nvPr>
        </p:nvSpPr>
        <p:spPr>
          <a:xfrm>
            <a:off x="887219" y="2250892"/>
            <a:ext cx="5087075" cy="536005"/>
          </a:xfrm>
        </p:spPr>
        <p:txBody>
          <a:bodyPr rtlCol="0"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 hasCustomPrompt="1"/>
          </p:nvPr>
        </p:nvSpPr>
        <p:spPr>
          <a:xfrm>
            <a:off x="581194" y="2926052"/>
            <a:ext cx="5393100" cy="2934999"/>
          </a:xfrm>
        </p:spPr>
        <p:txBody>
          <a:bodyPr rtlCol="0" anchor="t">
            <a:normAutofit/>
          </a:bodyPr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 hasCustomPrompt="1"/>
          </p:nvPr>
        </p:nvSpPr>
        <p:spPr>
          <a:xfrm>
            <a:off x="6523735" y="2250892"/>
            <a:ext cx="5087073" cy="553373"/>
          </a:xfrm>
        </p:spPr>
        <p:txBody>
          <a:bodyPr rtlCol="0"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 hasCustomPrompt="1"/>
          </p:nvPr>
        </p:nvSpPr>
        <p:spPr>
          <a:xfrm>
            <a:off x="6217709" y="2926052"/>
            <a:ext cx="5393100" cy="2934999"/>
          </a:xfrm>
        </p:spPr>
        <p:txBody>
          <a:bodyPr rtlCol="0" anchor="t">
            <a:normAutofit/>
          </a:bodyPr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FA9BF800-A62B-4735-B9A7-5450007C0A78}" type="datetime1">
              <a:rPr lang="fr-FR" noProof="0" smtClean="0"/>
              <a:t>18/06/2026</a:t>
            </a:fld>
            <a:endParaRPr lang="fr-FR" noProof="0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4285740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uniqu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F47267E0-A979-4430-94B4-54611641D8EE}" type="datetime1">
              <a:rPr lang="fr-FR" noProof="0" smtClean="0"/>
              <a:t>18/06/2026</a:t>
            </a:fld>
            <a:endParaRPr lang="fr-FR" noProof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Titr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 rtlCol="0"/>
          <a:lstStyle/>
          <a:p>
            <a:pPr rtl="0"/>
            <a:r>
              <a:rPr lang="fr-FR" noProof="0"/>
              <a:t>Modifiez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11643182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58A73B6-B077-488D-82CF-3056D5BAC73E}" type="datetime1">
              <a:rPr lang="fr-FR" noProof="0" smtClean="0"/>
              <a:t>18/06/2026</a:t>
            </a:fld>
            <a:endParaRPr lang="fr-FR" noProof="0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4126904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rtlCol="0"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 hasCustomPrompt="1"/>
          </p:nvPr>
        </p:nvSpPr>
        <p:spPr>
          <a:xfrm>
            <a:off x="447816" y="601200"/>
            <a:ext cx="11292840" cy="4204800"/>
          </a:xfrm>
        </p:spPr>
        <p:txBody>
          <a:bodyPr rtlCol="0"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 hasCustomPrompt="1"/>
          </p:nvPr>
        </p:nvSpPr>
        <p:spPr>
          <a:xfrm>
            <a:off x="5740823" y="5262296"/>
            <a:ext cx="5869987" cy="689515"/>
          </a:xfrm>
        </p:spPr>
        <p:txBody>
          <a:bodyPr rtlCol="0"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98F108A3-3495-404B-9869-1BA62DF0E465}" type="datetime1">
              <a:rPr lang="fr-FR" noProof="0" smtClean="0"/>
              <a:t>18/06/2026</a:t>
            </a:fld>
            <a:endParaRPr lang="fr-FR" noProof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9232962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rtlCol="0"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’image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447817" y="599725"/>
            <a:ext cx="11290859" cy="3557252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rtl="0"/>
            <a:r>
              <a:rPr lang="fr-FR" noProof="0"/>
              <a:t>Cliquez sur l’icône pour ajouter une image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 hasCustomPrompt="1"/>
          </p:nvPr>
        </p:nvSpPr>
        <p:spPr>
          <a:xfrm>
            <a:off x="581192" y="5260127"/>
            <a:ext cx="11029617" cy="598671"/>
          </a:xfrm>
        </p:spPr>
        <p:txBody>
          <a:bodyPr rtlCol="0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4B550F6-4238-41AE-B6F4-4D375745C983}" type="datetime1">
              <a:rPr lang="fr-FR" noProof="0" smtClean="0"/>
              <a:t>18/06/2026</a:t>
            </a:fld>
            <a:endParaRPr lang="fr-FR" noProof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2808037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Titr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 rtlCol="0"/>
          <a:lstStyle/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texte vertical 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 rtlCol="0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E5E3FBB-57D2-4FB3-B51E-0FDE8CEE6791}" type="datetime1">
              <a:rPr lang="fr-FR" noProof="0" smtClean="0"/>
              <a:t>18/06/2026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4547011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vertical 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 rtlCol="0"/>
          <a:lstStyle/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texte vertical 2"/>
          <p:cNvSpPr>
            <a:spLocks noGrp="1"/>
          </p:cNvSpPr>
          <p:nvPr>
            <p:ph type="body" orient="vert" idx="1" hasCustomPrompt="1"/>
          </p:nvPr>
        </p:nvSpPr>
        <p:spPr>
          <a:xfrm>
            <a:off x="774923" y="675726"/>
            <a:ext cx="7896279" cy="5183073"/>
          </a:xfrm>
        </p:spPr>
        <p:txBody>
          <a:bodyPr vert="eaVert" rtlCol="0" anchor="t"/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BE9F9435-70D7-42BA-8564-5EC34B97B69E}" type="datetime1">
              <a:rPr lang="fr-FR" noProof="0" smtClean="0"/>
              <a:t>18/06/2026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42915268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pPr rtl="0"/>
            <a:fld id="{BBB97F02-5EDD-4BF6-BE41-AB41D1FEABF8}" type="datetime1">
              <a:rPr lang="fr-FR" noProof="0" smtClean="0"/>
              <a:t>18/06/2026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1" name="Rectangle 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28555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eg"/><Relationship Id="rId3" Type="http://schemas.openxmlformats.org/officeDocument/2006/relationships/image" Target="../media/image2.png"/><Relationship Id="rId7" Type="http://schemas.openxmlformats.org/officeDocument/2006/relationships/image" Target="../media/image6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eg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4.jpe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e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 14">
            <a:extLst>
              <a:ext uri="{FF2B5EF4-FFF2-40B4-BE49-F238E27FC236}">
                <a16:creationId xmlns:a16="http://schemas.microsoft.com/office/drawing/2014/main" id="{493D4EDA-58E0-40CC-B3CA-14CDEB349D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pic>
        <p:nvPicPr>
          <p:cNvPr id="7" name="Image 6" descr="Connexions numériques">
            <a:extLst>
              <a:ext uri="{FF2B5EF4-FFF2-40B4-BE49-F238E27FC236}">
                <a16:creationId xmlns:a16="http://schemas.microsoft.com/office/drawing/2014/main" id="{3840F91C-EDD0-4D4E-A4AB-E6C77856C88C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3265" t="9091" r="3502" b="-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grpSp>
        <p:nvGrpSpPr>
          <p:cNvPr id="17" name="Groupe 16">
            <a:extLst>
              <a:ext uri="{FF2B5EF4-FFF2-40B4-BE49-F238E27FC236}">
                <a16:creationId xmlns:a16="http://schemas.microsoft.com/office/drawing/2014/main" id="{AA9EB0BC-A85E-4C26-B355-5DFCEF6CCB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46534" y="453643"/>
            <a:ext cx="11298933" cy="98554"/>
            <a:chOff x="446534" y="453643"/>
            <a:chExt cx="11298933" cy="98554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3643E56B-BD42-413D-B17D-7958270F5D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6534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96C04F74-9467-4FA5-95DC-8D481A2974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042147" y="453643"/>
              <a:ext cx="3703320" cy="98554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D73DE1C3-5C37-42E9-A3F0-256F193832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4A2E7EC3-E07C-46CE-9B25-41865A5068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8732" y="4428067"/>
            <a:ext cx="11260667" cy="1962497"/>
          </a:xfrm>
          <a:prstGeom prst="rect">
            <a:avLst/>
          </a:prstGeom>
          <a:solidFill>
            <a:schemeClr val="accent1">
              <a:alpha val="97000"/>
            </a:schemeClr>
          </a:solidFill>
          <a:ln w="635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C02C5318-1A1E-49D0-B2E2-A4B0FA9E8A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1191" y="4572000"/>
            <a:ext cx="10993549" cy="895244"/>
          </a:xfrm>
        </p:spPr>
        <p:txBody>
          <a:bodyPr rtlCol="0">
            <a:noAutofit/>
          </a:bodyPr>
          <a:lstStyle/>
          <a:p>
            <a:r>
              <a:rPr lang="fr-FR" sz="6000" dirty="0">
                <a:solidFill>
                  <a:schemeClr val="bg1"/>
                </a:solidFill>
              </a:rPr>
              <a:t>Tech-Nova</a:t>
            </a:r>
            <a:r>
              <a:rPr lang="fr-FR" sz="6000" dirty="0"/>
              <a:t> </a:t>
            </a:r>
            <a:endParaRPr lang="fr-FR" sz="6000" dirty="0">
              <a:solidFill>
                <a:schemeClr val="bg1"/>
              </a:solidFill>
            </a:endParaRP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48B6CF59-4E5B-494D-A2F7-97ADD01E64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1194" y="5467246"/>
            <a:ext cx="10993546" cy="484822"/>
          </a:xfrm>
        </p:spPr>
        <p:txBody>
          <a:bodyPr rtlCol="0">
            <a:normAutofit/>
          </a:bodyPr>
          <a:lstStyle/>
          <a:p>
            <a:r>
              <a:rPr lang="fr-FR" dirty="0"/>
              <a:t>Analyse des causes de démission</a:t>
            </a:r>
            <a:endParaRPr lang="fr-FR" dirty="0">
              <a:solidFill>
                <a:srgbClr val="7CEB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877007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A887ABB-4D37-F4E5-C72E-05B3951BCC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Formation Développeur IA</a:t>
            </a:r>
          </a:p>
        </p:txBody>
      </p:sp>
      <p:pic>
        <p:nvPicPr>
          <p:cNvPr id="4" name="Picture 6" descr="OpenClassrooms | Spreadshop">
            <a:extLst>
              <a:ext uri="{FF2B5EF4-FFF2-40B4-BE49-F238E27FC236}">
                <a16:creationId xmlns:a16="http://schemas.microsoft.com/office/drawing/2014/main" id="{7A154197-7927-FA64-68F3-8463F8F0BE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77300" y="766902"/>
            <a:ext cx="4933507" cy="8843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Jupyter - Visual Studio Marketplace">
            <a:extLst>
              <a:ext uri="{FF2B5EF4-FFF2-40B4-BE49-F238E27FC236}">
                <a16:creationId xmlns:a16="http://schemas.microsoft.com/office/drawing/2014/main" id="{5BBF6CEF-1ECD-D45B-FECD-1582DE5A93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8026" y="2191487"/>
            <a:ext cx="1757734" cy="176558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6" name="Picture 4" descr="Microsoft Excel — Wikipédia">
            <a:extLst>
              <a:ext uri="{FF2B5EF4-FFF2-40B4-BE49-F238E27FC236}">
                <a16:creationId xmlns:a16="http://schemas.microsoft.com/office/drawing/2014/main" id="{6F69B809-21C0-9ED3-E817-150D37D803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32990" y="4555704"/>
            <a:ext cx="1353623" cy="1396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Picture 6" descr="2. Traitement de données avec PANDAS — Outils numériques avancés en  Mécanique">
            <a:extLst>
              <a:ext uri="{FF2B5EF4-FFF2-40B4-BE49-F238E27FC236}">
                <a16:creationId xmlns:a16="http://schemas.microsoft.com/office/drawing/2014/main" id="{0646F847-D574-9338-7260-840A3FEF8A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5249" y="4864253"/>
            <a:ext cx="2306277" cy="120863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026" name="Picture 2" descr="UV - Python Package Manager: how to use it, comparisons, and common issues  | Pedro Medinilla Bohorquez - Pedromebo">
            <a:extLst>
              <a:ext uri="{FF2B5EF4-FFF2-40B4-BE49-F238E27FC236}">
                <a16:creationId xmlns:a16="http://schemas.microsoft.com/office/drawing/2014/main" id="{3F04E6DC-A3F1-4760-8863-86893C5A638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823" t="25873" r="21843" b="28412"/>
          <a:stretch>
            <a:fillRect/>
          </a:stretch>
        </p:blipFill>
        <p:spPr bwMode="auto">
          <a:xfrm>
            <a:off x="8534400" y="2421455"/>
            <a:ext cx="3218329" cy="125934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050" name="Picture 2" descr="Image vectorielle Stock Machine learning icon. Artificial intelligence,  smart machine logo template. Vector illustration. | Adobe Stock">
            <a:extLst>
              <a:ext uri="{FF2B5EF4-FFF2-40B4-BE49-F238E27FC236}">
                <a16:creationId xmlns:a16="http://schemas.microsoft.com/office/drawing/2014/main" id="{EC838F59-608E-2E37-2BB3-753A43C19F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81500" y="2523202"/>
            <a:ext cx="3429000" cy="3429000"/>
          </a:xfrm>
          <a:prstGeom prst="rect">
            <a:avLst/>
          </a:prstGeom>
          <a:ln w="228600" cap="sq" cmpd="thickThin">
            <a:solidFill>
              <a:srgbClr val="000000"/>
            </a:solidFill>
            <a:prstDash val="solid"/>
            <a:miter lim="800000"/>
          </a:ln>
          <a:effectLst>
            <a:innerShdw blurRad="76200">
              <a:srgbClr val="000000"/>
            </a:inn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itre 1">
            <a:extLst>
              <a:ext uri="{FF2B5EF4-FFF2-40B4-BE49-F238E27FC236}">
                <a16:creationId xmlns:a16="http://schemas.microsoft.com/office/drawing/2014/main" id="{E540BF55-66A1-AEB9-0C84-37F0833436B0}"/>
              </a:ext>
            </a:extLst>
          </p:cNvPr>
          <p:cNvSpPr txBox="1">
            <a:spLocks/>
          </p:cNvSpPr>
          <p:nvPr/>
        </p:nvSpPr>
        <p:spPr>
          <a:xfrm>
            <a:off x="4978343" y="5648944"/>
            <a:ext cx="2235314" cy="101380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vert="horz" lIns="91440" tIns="45720" rIns="91440" bIns="45720" rtlCol="0" anchor="b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2800" b="0" kern="1200" cap="all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fr-FR" sz="6000" dirty="0">
                <a:solidFill>
                  <a:schemeClr val="tx1"/>
                </a:solidFill>
              </a:rPr>
              <a:t>2026</a:t>
            </a:r>
          </a:p>
        </p:txBody>
      </p:sp>
    </p:spTree>
    <p:extLst>
      <p:ext uri="{BB962C8B-B14F-4D97-AF65-F5344CB8AC3E}">
        <p14:creationId xmlns:p14="http://schemas.microsoft.com/office/powerpoint/2010/main" val="30949220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EBF1CB-ED84-7901-5EF7-06E01CBE2F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D5C744A-20E0-D04E-F4EA-1F8F23FBC1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3213862"/>
            <a:ext cx="11029616" cy="1013800"/>
          </a:xfrm>
        </p:spPr>
        <p:txBody>
          <a:bodyPr>
            <a:normAutofit/>
          </a:bodyPr>
          <a:lstStyle/>
          <a:p>
            <a:pPr algn="ctr"/>
            <a:r>
              <a:rPr lang="fr-FR" sz="6000" dirty="0">
                <a:solidFill>
                  <a:schemeClr val="tx1"/>
                </a:solidFill>
              </a:rPr>
              <a:t>Le Projet</a:t>
            </a:r>
          </a:p>
        </p:txBody>
      </p:sp>
    </p:spTree>
    <p:extLst>
      <p:ext uri="{BB962C8B-B14F-4D97-AF65-F5344CB8AC3E}">
        <p14:creationId xmlns:p14="http://schemas.microsoft.com/office/powerpoint/2010/main" val="17902946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0DD231E-6BC7-5409-B17C-F97858C1A7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Le CLIENT</a:t>
            </a:r>
            <a:br>
              <a:rPr lang="fr-FR" dirty="0"/>
            </a:br>
            <a:r>
              <a:rPr lang="fr-FR" sz="2000" dirty="0"/>
              <a:t>ESN </a:t>
            </a:r>
            <a:r>
              <a:rPr lang="fr-FR" sz="2000" dirty="0" err="1"/>
              <a:t>TechNova</a:t>
            </a:r>
            <a:r>
              <a:rPr lang="fr-FR" sz="2000" dirty="0"/>
              <a:t> </a:t>
            </a:r>
            <a:r>
              <a:rPr lang="fr-FR" sz="2000" dirty="0" err="1"/>
              <a:t>Partners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05A31AB-4ABD-834A-DA20-9B709688FC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FR" sz="2800" dirty="0"/>
              <a:t>Spécialisée dans le conseil en transformation digitale et la vente d’applications en SaaS.</a:t>
            </a:r>
          </a:p>
          <a:p>
            <a:endParaRPr lang="fr-FR" sz="2800" dirty="0"/>
          </a:p>
          <a:p>
            <a:r>
              <a:rPr lang="fr-FR" sz="2800" dirty="0"/>
              <a:t>Turnover élevé</a:t>
            </a:r>
          </a:p>
          <a:p>
            <a:endParaRPr lang="fr-FR" sz="2800" dirty="0"/>
          </a:p>
          <a:p>
            <a:r>
              <a:rPr lang="fr-FR" sz="2800" dirty="0"/>
              <a:t>Identifier les causes racines des démissions.</a:t>
            </a:r>
          </a:p>
        </p:txBody>
      </p:sp>
    </p:spTree>
    <p:extLst>
      <p:ext uri="{BB962C8B-B14F-4D97-AF65-F5344CB8AC3E}">
        <p14:creationId xmlns:p14="http://schemas.microsoft.com/office/powerpoint/2010/main" val="41690816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1BFD14-57F0-79C4-00C5-7F01836BA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E92C8EE-0A54-B2A4-2ED6-628262FC71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objectifs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D1001FF-76C3-E532-2793-4CD75E5466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FR" sz="2800" dirty="0"/>
              <a:t>Préparer et Analyser les données d’entrée</a:t>
            </a:r>
          </a:p>
          <a:p>
            <a:endParaRPr lang="fr-FR" sz="2800" dirty="0"/>
          </a:p>
          <a:p>
            <a:r>
              <a:rPr lang="fr-FR" sz="2800" dirty="0"/>
              <a:t>Réaliser un modèle de prédiction de Machine Learning</a:t>
            </a:r>
          </a:p>
          <a:p>
            <a:endParaRPr lang="fr-FR" sz="2800" dirty="0"/>
          </a:p>
          <a:p>
            <a:r>
              <a:rPr lang="fr-FR" sz="2800" dirty="0"/>
              <a:t>Présenter les conclusions de nos résultats</a:t>
            </a:r>
          </a:p>
        </p:txBody>
      </p:sp>
    </p:spTree>
    <p:extLst>
      <p:ext uri="{BB962C8B-B14F-4D97-AF65-F5344CB8AC3E}">
        <p14:creationId xmlns:p14="http://schemas.microsoft.com/office/powerpoint/2010/main" val="32440185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115D40F-A33F-F56F-2E3F-0D2B12B18D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Les Données d’entrée</a:t>
            </a:r>
          </a:p>
        </p:txBody>
      </p:sp>
      <p:pic>
        <p:nvPicPr>
          <p:cNvPr id="4" name="Picture 4" descr="Microsoft Excel — Wikipédia">
            <a:extLst>
              <a:ext uri="{FF2B5EF4-FFF2-40B4-BE49-F238E27FC236}">
                <a16:creationId xmlns:a16="http://schemas.microsoft.com/office/drawing/2014/main" id="{6F604B7A-1DEF-9038-F66D-0CE1153DCB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9622" y="3658177"/>
            <a:ext cx="791174" cy="81623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5" name="Picture 4" descr="Microsoft Excel — Wikipédia">
            <a:extLst>
              <a:ext uri="{FF2B5EF4-FFF2-40B4-BE49-F238E27FC236}">
                <a16:creationId xmlns:a16="http://schemas.microsoft.com/office/drawing/2014/main" id="{DFFBD9B2-9352-B994-A86D-732AD2E2B5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0188" y="2107170"/>
            <a:ext cx="791174" cy="81623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6" name="Picture 4" descr="Microsoft Excel — Wikipédia">
            <a:extLst>
              <a:ext uri="{FF2B5EF4-FFF2-40B4-BE49-F238E27FC236}">
                <a16:creationId xmlns:a16="http://schemas.microsoft.com/office/drawing/2014/main" id="{8AEF5D28-0F0E-C92C-B8CC-58FCC55012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0188" y="5247381"/>
            <a:ext cx="791174" cy="81623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71605D77-0F9C-18D0-07A7-ADA1AADF4FE2}"/>
              </a:ext>
            </a:extLst>
          </p:cNvPr>
          <p:cNvSpPr txBox="1"/>
          <p:nvPr/>
        </p:nvSpPr>
        <p:spPr>
          <a:xfrm>
            <a:off x="552076" y="4528674"/>
            <a:ext cx="16462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extrait_eval.csv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132D200A-2631-7FD2-C62D-3019D9B55BB2}"/>
              </a:ext>
            </a:extLst>
          </p:cNvPr>
          <p:cNvSpPr txBox="1"/>
          <p:nvPr/>
        </p:nvSpPr>
        <p:spPr>
          <a:xfrm>
            <a:off x="592642" y="3004944"/>
            <a:ext cx="16462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dirty="0">
                <a:solidFill>
                  <a:srgbClr val="C00000"/>
                </a:solidFill>
              </a:rPr>
              <a:t>extrait_sirh.csv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9FB313CA-647D-B41F-2892-9FCD370AD68B}"/>
              </a:ext>
            </a:extLst>
          </p:cNvPr>
          <p:cNvSpPr txBox="1"/>
          <p:nvPr/>
        </p:nvSpPr>
        <p:spPr>
          <a:xfrm>
            <a:off x="361273" y="6262085"/>
            <a:ext cx="21090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dirty="0">
                <a:solidFill>
                  <a:schemeClr val="accent6">
                    <a:lumMod val="75000"/>
                  </a:schemeClr>
                </a:solidFill>
              </a:rPr>
              <a:t>extrait_sondage.csv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9932F998-FE93-157B-19CD-C21D3AA96942}"/>
              </a:ext>
            </a:extLst>
          </p:cNvPr>
          <p:cNvSpPr txBox="1"/>
          <p:nvPr/>
        </p:nvSpPr>
        <p:spPr>
          <a:xfrm>
            <a:off x="2470278" y="2192121"/>
            <a:ext cx="93474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>
                <a:solidFill>
                  <a:srgbClr val="C00000"/>
                </a:solidFill>
              </a:rPr>
              <a:t>Un extrait de notre système SIRH</a:t>
            </a:r>
          </a:p>
          <a:p>
            <a:r>
              <a:rPr lang="fr-FR" sz="2000" dirty="0"/>
              <a:t>Fonction de l’employé, âge, salaire, ancienneté etc... / Informations sociodémographiques.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0A37E39E-E3FA-B41E-6958-927E579F1893}"/>
              </a:ext>
            </a:extLst>
          </p:cNvPr>
          <p:cNvSpPr txBox="1"/>
          <p:nvPr/>
        </p:nvSpPr>
        <p:spPr>
          <a:xfrm>
            <a:off x="2470278" y="3743128"/>
            <a:ext cx="845787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Un extrait des évaluations annuelles de performance.</a:t>
            </a:r>
          </a:p>
          <a:p>
            <a:r>
              <a:rPr lang="fr-FR" sz="2000" dirty="0"/>
              <a:t>Notes des évaluations et notes de satisfaction données par les employés.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20374D29-576F-4401-68F6-8641E0156AC2}"/>
              </a:ext>
            </a:extLst>
          </p:cNvPr>
          <p:cNvSpPr txBox="1"/>
          <p:nvPr/>
        </p:nvSpPr>
        <p:spPr>
          <a:xfrm>
            <a:off x="2470278" y="5192159"/>
            <a:ext cx="902338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>
                <a:solidFill>
                  <a:schemeClr val="accent6">
                    <a:lumMod val="75000"/>
                  </a:schemeClr>
                </a:solidFill>
              </a:rPr>
              <a:t>Sondage annuel des employés</a:t>
            </a:r>
          </a:p>
          <a:p>
            <a:r>
              <a:rPr lang="fr-FR" sz="2000" dirty="0"/>
              <a:t>Aide à mettre en place des actions pour le bien-être des employés.</a:t>
            </a:r>
          </a:p>
          <a:p>
            <a:r>
              <a:rPr lang="fr-FR" sz="2000" dirty="0"/>
              <a:t>+ Témoin pour indiquer si l’employé a quitté l’entreprise ou non.</a:t>
            </a:r>
          </a:p>
        </p:txBody>
      </p:sp>
    </p:spTree>
    <p:extLst>
      <p:ext uri="{BB962C8B-B14F-4D97-AF65-F5344CB8AC3E}">
        <p14:creationId xmlns:p14="http://schemas.microsoft.com/office/powerpoint/2010/main" val="40543395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BC5D48-1FC5-0A32-4C4C-EECEACC58E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F632967-CAE6-E6EE-17DA-3304CBCA71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3179137"/>
            <a:ext cx="11029616" cy="1013800"/>
          </a:xfrm>
        </p:spPr>
        <p:txBody>
          <a:bodyPr>
            <a:normAutofit/>
          </a:bodyPr>
          <a:lstStyle/>
          <a:p>
            <a:pPr algn="ctr"/>
            <a:r>
              <a:rPr lang="fr-FR" sz="6000" dirty="0">
                <a:solidFill>
                  <a:schemeClr val="tx1"/>
                </a:solidFill>
              </a:rPr>
              <a:t>Préparation des données</a:t>
            </a:r>
          </a:p>
        </p:txBody>
      </p:sp>
    </p:spTree>
    <p:extLst>
      <p:ext uri="{BB962C8B-B14F-4D97-AF65-F5344CB8AC3E}">
        <p14:creationId xmlns:p14="http://schemas.microsoft.com/office/powerpoint/2010/main" val="19609942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FB871A-6B20-1A70-020B-978DE8C683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ED2DA52-6ED2-6207-14B7-F51F5E5BCA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algn="ctr" defTabSz="1600200">
              <a:lnSpc>
                <a:spcPct val="90000"/>
              </a:lnSpc>
              <a:spcAft>
                <a:spcPct val="35000"/>
              </a:spcAft>
            </a:pPr>
            <a:r>
              <a:rPr lang="fr-FR" dirty="0"/>
              <a:t>Jonction des Données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6FAAE93-9F46-D0FC-F0AE-7B4BFDC437E5}"/>
              </a:ext>
            </a:extLst>
          </p:cNvPr>
          <p:cNvSpPr/>
          <p:nvPr/>
        </p:nvSpPr>
        <p:spPr>
          <a:xfrm>
            <a:off x="3876550" y="2779633"/>
            <a:ext cx="3945041" cy="1345838"/>
          </a:xfrm>
          <a:prstGeom prst="rect">
            <a:avLst/>
          </a:pr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A852E63-D843-F726-5C58-0C3114BA8E03}"/>
              </a:ext>
            </a:extLst>
          </p:cNvPr>
          <p:cNvSpPr txBox="1"/>
          <p:nvPr/>
        </p:nvSpPr>
        <p:spPr>
          <a:xfrm>
            <a:off x="418887" y="3715949"/>
            <a:ext cx="190668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dirty="0" err="1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eval_number</a:t>
            </a:r>
            <a:br>
              <a:rPr lang="en-US" dirty="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en-US" dirty="0" err="1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id_employee</a:t>
            </a:r>
            <a:br>
              <a:rPr lang="en-US" dirty="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en-US" dirty="0" err="1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code_sondage</a:t>
            </a:r>
            <a:endParaRPr lang="fr-FR" dirty="0">
              <a:solidFill>
                <a:schemeClr val="tx2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5" name="Accolade fermante 4">
            <a:extLst>
              <a:ext uri="{FF2B5EF4-FFF2-40B4-BE49-F238E27FC236}">
                <a16:creationId xmlns:a16="http://schemas.microsoft.com/office/drawing/2014/main" id="{01BF1C81-BA45-B1A3-D247-82034EE29130}"/>
              </a:ext>
            </a:extLst>
          </p:cNvPr>
          <p:cNvSpPr/>
          <p:nvPr/>
        </p:nvSpPr>
        <p:spPr>
          <a:xfrm flipH="1">
            <a:off x="4458865" y="1956700"/>
            <a:ext cx="882241" cy="4524247"/>
          </a:xfrm>
          <a:prstGeom prst="rightBrace">
            <a:avLst>
              <a:gd name="adj1" fmla="val 32143"/>
              <a:gd name="adj2" fmla="val 50000"/>
            </a:avLst>
          </a:prstGeom>
          <a:ln w="666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1FBE0BCA-3474-A5F3-F4D6-D63A906E3BC8}"/>
              </a:ext>
            </a:extLst>
          </p:cNvPr>
          <p:cNvSpPr txBox="1"/>
          <p:nvPr/>
        </p:nvSpPr>
        <p:spPr>
          <a:xfrm>
            <a:off x="3247622" y="3803324"/>
            <a:ext cx="104683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800" dirty="0"/>
              <a:t>ID</a:t>
            </a:r>
            <a:endParaRPr lang="fr-FR" sz="4800" dirty="0"/>
          </a:p>
        </p:txBody>
      </p:sp>
      <p:pic>
        <p:nvPicPr>
          <p:cNvPr id="1026" name="Picture 2" descr="Croix Rouge Stock Illustrations, Vecteurs, &amp; Clipart – (106,646 Stock  Illustrations)">
            <a:extLst>
              <a:ext uri="{FF2B5EF4-FFF2-40B4-BE49-F238E27FC236}">
                <a16:creationId xmlns:a16="http://schemas.microsoft.com/office/drawing/2014/main" id="{CB58A5BB-C25F-0FE6-666F-5CB8ED572B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38250" y="5834947"/>
            <a:ext cx="922668" cy="9226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Microsoft Excel — Wikipédia">
            <a:extLst>
              <a:ext uri="{FF2B5EF4-FFF2-40B4-BE49-F238E27FC236}">
                <a16:creationId xmlns:a16="http://schemas.microsoft.com/office/drawing/2014/main" id="{472E0447-52B9-C185-4646-EB126B0D13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38291" y="3507707"/>
            <a:ext cx="791174" cy="81623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1" name="Picture 4" descr="Microsoft Excel — Wikipédia">
            <a:extLst>
              <a:ext uri="{FF2B5EF4-FFF2-40B4-BE49-F238E27FC236}">
                <a16:creationId xmlns:a16="http://schemas.microsoft.com/office/drawing/2014/main" id="{25E746B1-165C-0064-528D-CBEFCCF42A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78857" y="1956700"/>
            <a:ext cx="791174" cy="81623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2" name="Picture 4" descr="Microsoft Excel — Wikipédia">
            <a:extLst>
              <a:ext uri="{FF2B5EF4-FFF2-40B4-BE49-F238E27FC236}">
                <a16:creationId xmlns:a16="http://schemas.microsoft.com/office/drawing/2014/main" id="{CE7B75CD-B6AE-FE17-706D-76E85ED7C6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78857" y="5096911"/>
            <a:ext cx="791174" cy="81623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4" name="ZoneTexte 13">
            <a:extLst>
              <a:ext uri="{FF2B5EF4-FFF2-40B4-BE49-F238E27FC236}">
                <a16:creationId xmlns:a16="http://schemas.microsoft.com/office/drawing/2014/main" id="{D3EB20A5-3FBF-AF03-3B8A-E34B24949570}"/>
              </a:ext>
            </a:extLst>
          </p:cNvPr>
          <p:cNvSpPr txBox="1"/>
          <p:nvPr/>
        </p:nvSpPr>
        <p:spPr>
          <a:xfrm>
            <a:off x="5451311" y="2974753"/>
            <a:ext cx="16462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dirty="0"/>
              <a:t>extrait_eval.csv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14FFA27A-E068-8EDF-F942-C6DB5EB6B501}"/>
              </a:ext>
            </a:extLst>
          </p:cNvPr>
          <p:cNvSpPr txBox="1"/>
          <p:nvPr/>
        </p:nvSpPr>
        <p:spPr>
          <a:xfrm>
            <a:off x="5440531" y="4525760"/>
            <a:ext cx="16462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dirty="0"/>
              <a:t>extrait_sirh.csv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99950FDA-57FE-35B9-FD03-EDA40A8D76BB}"/>
              </a:ext>
            </a:extLst>
          </p:cNvPr>
          <p:cNvSpPr txBox="1"/>
          <p:nvPr/>
        </p:nvSpPr>
        <p:spPr>
          <a:xfrm>
            <a:off x="5219942" y="6111615"/>
            <a:ext cx="21090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dirty="0"/>
              <a:t>extrait_sondage.csv</a:t>
            </a:r>
          </a:p>
        </p:txBody>
      </p:sp>
      <p:sp>
        <p:nvSpPr>
          <p:cNvPr id="10" name="Accolade fermante 9">
            <a:extLst>
              <a:ext uri="{FF2B5EF4-FFF2-40B4-BE49-F238E27FC236}">
                <a16:creationId xmlns:a16="http://schemas.microsoft.com/office/drawing/2014/main" id="{BE0B4983-937F-2819-03F7-4CFCDDC260E2}"/>
              </a:ext>
            </a:extLst>
          </p:cNvPr>
          <p:cNvSpPr/>
          <p:nvPr/>
        </p:nvSpPr>
        <p:spPr>
          <a:xfrm>
            <a:off x="2472171" y="3660204"/>
            <a:ext cx="486136" cy="1117238"/>
          </a:xfrm>
          <a:prstGeom prst="rightBrace">
            <a:avLst>
              <a:gd name="adj1" fmla="val 32143"/>
              <a:gd name="adj2" fmla="val 50000"/>
            </a:avLst>
          </a:prstGeom>
          <a:ln w="666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3" name="Accolade fermante 12">
            <a:extLst>
              <a:ext uri="{FF2B5EF4-FFF2-40B4-BE49-F238E27FC236}">
                <a16:creationId xmlns:a16="http://schemas.microsoft.com/office/drawing/2014/main" id="{AEB94E49-D196-2A08-139B-87249C788876}"/>
              </a:ext>
            </a:extLst>
          </p:cNvPr>
          <p:cNvSpPr/>
          <p:nvPr/>
        </p:nvSpPr>
        <p:spPr>
          <a:xfrm>
            <a:off x="7241200" y="1990426"/>
            <a:ext cx="985542" cy="4524247"/>
          </a:xfrm>
          <a:prstGeom prst="rightBrace">
            <a:avLst>
              <a:gd name="adj1" fmla="val 32143"/>
              <a:gd name="adj2" fmla="val 50000"/>
            </a:avLst>
          </a:prstGeom>
          <a:ln w="666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050" name="Picture 2" descr="Update Details - Python: Styled DataFrame Viewer 0.12.0 | JetBrains  Marketplace">
            <a:extLst>
              <a:ext uri="{FF2B5EF4-FFF2-40B4-BE49-F238E27FC236}">
                <a16:creationId xmlns:a16="http://schemas.microsoft.com/office/drawing/2014/main" id="{7BB78091-4BC7-B781-64F3-D97DDD9DF9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78009" y="2903178"/>
            <a:ext cx="2698741" cy="26987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Flèche : droite 16">
            <a:extLst>
              <a:ext uri="{FF2B5EF4-FFF2-40B4-BE49-F238E27FC236}">
                <a16:creationId xmlns:a16="http://schemas.microsoft.com/office/drawing/2014/main" id="{3E728435-61C8-0A5B-C2E0-8EE04BF3F8E3}"/>
              </a:ext>
            </a:extLst>
          </p:cNvPr>
          <p:cNvSpPr/>
          <p:nvPr/>
        </p:nvSpPr>
        <p:spPr>
          <a:xfrm rot="3076958">
            <a:off x="1699013" y="5146846"/>
            <a:ext cx="1020661" cy="312517"/>
          </a:xfrm>
          <a:prstGeom prst="right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Flèche : droite 17">
            <a:extLst>
              <a:ext uri="{FF2B5EF4-FFF2-40B4-BE49-F238E27FC236}">
                <a16:creationId xmlns:a16="http://schemas.microsoft.com/office/drawing/2014/main" id="{B8BAD0B0-26CD-E2B3-9E84-D81DFC6A8286}"/>
              </a:ext>
            </a:extLst>
          </p:cNvPr>
          <p:cNvSpPr/>
          <p:nvPr/>
        </p:nvSpPr>
        <p:spPr>
          <a:xfrm rot="18523042" flipH="1">
            <a:off x="2751868" y="5146847"/>
            <a:ext cx="1020661" cy="312517"/>
          </a:xfrm>
          <a:prstGeom prst="right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95769421-52AF-D437-7A9B-938BC8BCB7FE}"/>
              </a:ext>
            </a:extLst>
          </p:cNvPr>
          <p:cNvSpPr txBox="1"/>
          <p:nvPr/>
        </p:nvSpPr>
        <p:spPr>
          <a:xfrm rot="16200000">
            <a:off x="9331584" y="3855009"/>
            <a:ext cx="405154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DataFrame</a:t>
            </a:r>
            <a:endParaRPr lang="fr-FR" sz="4800" dirty="0">
              <a:solidFill>
                <a:schemeClr val="tx1">
                  <a:lumMod val="65000"/>
                  <a:lumOff val="35000"/>
                </a:scheme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065849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F98046-2BF9-5B7C-A704-4B1650CF47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C0B02E4-8809-9679-899B-CFFDD72BB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algn="ctr" defTabSz="1600200">
              <a:lnSpc>
                <a:spcPct val="90000"/>
              </a:lnSpc>
              <a:spcAft>
                <a:spcPct val="35000"/>
              </a:spcAft>
            </a:pPr>
            <a:r>
              <a:rPr lang="fr-FR" dirty="0"/>
              <a:t>Vérification des erreurs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7FF2D77-324E-B715-B171-719BB1129C12}"/>
              </a:ext>
            </a:extLst>
          </p:cNvPr>
          <p:cNvSpPr/>
          <p:nvPr/>
        </p:nvSpPr>
        <p:spPr>
          <a:xfrm>
            <a:off x="5427558" y="3069000"/>
            <a:ext cx="3945041" cy="1345838"/>
          </a:xfrm>
          <a:prstGeom prst="rect">
            <a:avLst/>
          </a:pr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fr-FR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FC6EEE0F-3724-2B60-9E4D-7BA17A12791C}"/>
              </a:ext>
            </a:extLst>
          </p:cNvPr>
          <p:cNvSpPr txBox="1"/>
          <p:nvPr/>
        </p:nvSpPr>
        <p:spPr>
          <a:xfrm>
            <a:off x="2610538" y="2821762"/>
            <a:ext cx="7760378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800" dirty="0">
                <a:latin typeface="Consolas" panose="020B0609020204030204" pitchFamily="49" charset="0"/>
              </a:rPr>
              <a:t>Format invalide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800" dirty="0">
                <a:latin typeface="Consolas" panose="020B0609020204030204" pitchFamily="49" charset="0"/>
              </a:rPr>
              <a:t>Valeurs aberrantes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800" dirty="0">
                <a:latin typeface="Consolas" panose="020B0609020204030204" pitchFamily="49" charset="0"/>
              </a:rPr>
              <a:t>Valeurs vides ou manquantes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800" dirty="0">
                <a:latin typeface="Consolas" panose="020B0609020204030204" pitchFamily="49" charset="0"/>
              </a:rPr>
              <a:t>Pas de doublons dans les Id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800" dirty="0">
                <a:latin typeface="Consolas" panose="020B0609020204030204" pitchFamily="49" charset="0"/>
              </a:rPr>
              <a:t>Pas d'incohérences</a:t>
            </a:r>
            <a:endParaRPr lang="fr-FR" sz="2800" dirty="0"/>
          </a:p>
        </p:txBody>
      </p:sp>
    </p:spTree>
    <p:extLst>
      <p:ext uri="{BB962C8B-B14F-4D97-AF65-F5344CB8AC3E}">
        <p14:creationId xmlns:p14="http://schemas.microsoft.com/office/powerpoint/2010/main" val="554302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6C0450-3551-48DC-6735-C73E4BC7C1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B772FFA-9D94-885B-5A7E-6820016E5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algn="ctr" defTabSz="1600200">
              <a:lnSpc>
                <a:spcPct val="90000"/>
              </a:lnSpc>
              <a:spcAft>
                <a:spcPct val="35000"/>
              </a:spcAft>
            </a:pPr>
            <a:r>
              <a:rPr lang="fr-FR" dirty="0"/>
              <a:t>Colonnes inutiles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AA98176-BC8E-61C8-79C8-3A0E504CFCB1}"/>
              </a:ext>
            </a:extLst>
          </p:cNvPr>
          <p:cNvSpPr/>
          <p:nvPr/>
        </p:nvSpPr>
        <p:spPr>
          <a:xfrm>
            <a:off x="5427558" y="3069000"/>
            <a:ext cx="3945041" cy="1345838"/>
          </a:xfrm>
          <a:prstGeom prst="rect">
            <a:avLst/>
          </a:pr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5FD5A1CC-84CF-0682-D7C6-5370FFC9E55F}"/>
              </a:ext>
            </a:extLst>
          </p:cNvPr>
          <p:cNvSpPr txBox="1"/>
          <p:nvPr/>
        </p:nvSpPr>
        <p:spPr>
          <a:xfrm>
            <a:off x="782676" y="3109294"/>
            <a:ext cx="5700108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rtl="0">
              <a:defRPr lang="fr-FR"/>
            </a:defPPr>
            <a:lvl1pPr>
              <a:defRPr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</a:lstStyle>
          <a:p>
            <a:pPr algn="r"/>
            <a:r>
              <a:rPr lang="en-US" dirty="0" err="1"/>
              <a:t>eval_number</a:t>
            </a:r>
            <a:br>
              <a:rPr lang="en-US" dirty="0"/>
            </a:br>
            <a:r>
              <a:rPr lang="en-US" dirty="0" err="1"/>
              <a:t>id_employee</a:t>
            </a:r>
            <a:br>
              <a:rPr lang="en-US" dirty="0"/>
            </a:br>
            <a:r>
              <a:rPr lang="en-US" dirty="0" err="1"/>
              <a:t>code_sondage</a:t>
            </a:r>
            <a:endParaRPr lang="fr-FR" dirty="0"/>
          </a:p>
          <a:p>
            <a:pPr algn="r"/>
            <a:endParaRPr lang="fr-FR" dirty="0"/>
          </a:p>
          <a:p>
            <a:pPr algn="r"/>
            <a:endParaRPr lang="fr-FR" dirty="0"/>
          </a:p>
          <a:p>
            <a:pPr algn="r"/>
            <a:r>
              <a:rPr lang="fr-FR" dirty="0" err="1"/>
              <a:t>nombre_heures_travailless</a:t>
            </a:r>
            <a:r>
              <a:rPr lang="fr-FR" dirty="0"/>
              <a:t> = 80</a:t>
            </a:r>
            <a:br>
              <a:rPr lang="fr-FR" dirty="0"/>
            </a:br>
            <a:r>
              <a:rPr lang="fr-FR" dirty="0" err="1"/>
              <a:t>nombre_employee_sous_responsabilite</a:t>
            </a:r>
            <a:r>
              <a:rPr lang="fr-FR" dirty="0"/>
              <a:t> = 1</a:t>
            </a:r>
          </a:p>
          <a:p>
            <a:pPr algn="r"/>
            <a:r>
              <a:rPr lang="fr-FR" dirty="0" err="1"/>
              <a:t>ayant_enfants</a:t>
            </a:r>
            <a:r>
              <a:rPr lang="fr-FR" dirty="0"/>
              <a:t> = Y</a:t>
            </a:r>
          </a:p>
        </p:txBody>
      </p:sp>
      <p:sp>
        <p:nvSpPr>
          <p:cNvPr id="5" name="Accolade fermante 4">
            <a:extLst>
              <a:ext uri="{FF2B5EF4-FFF2-40B4-BE49-F238E27FC236}">
                <a16:creationId xmlns:a16="http://schemas.microsoft.com/office/drawing/2014/main" id="{000FC64B-A81C-4EA5-8530-3A5CAFD4D9E8}"/>
              </a:ext>
            </a:extLst>
          </p:cNvPr>
          <p:cNvSpPr/>
          <p:nvPr/>
        </p:nvSpPr>
        <p:spPr>
          <a:xfrm>
            <a:off x="6631325" y="2789500"/>
            <a:ext cx="486136" cy="2947914"/>
          </a:xfrm>
          <a:prstGeom prst="rightBrace">
            <a:avLst>
              <a:gd name="adj1" fmla="val 32143"/>
              <a:gd name="adj2" fmla="val 50000"/>
            </a:avLst>
          </a:prstGeom>
          <a:ln w="666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026" name="Picture 2" descr="Croix Rouge Stock Illustrations, Vecteurs, &amp; Clipart – (106,646 Stock  Illustrations)">
            <a:extLst>
              <a:ext uri="{FF2B5EF4-FFF2-40B4-BE49-F238E27FC236}">
                <a16:creationId xmlns:a16="http://schemas.microsoft.com/office/drawing/2014/main" id="{562EC9F6-5BDE-823D-343B-C3679BF5A7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0348" y="3382331"/>
            <a:ext cx="1762251" cy="17622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586567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833C6-50D7-F508-BAA5-A6CE1FEDE1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2124DFC-A1C8-0B18-014B-CDD3CE045A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algn="ctr" defTabSz="1600200">
              <a:lnSpc>
                <a:spcPct val="90000"/>
              </a:lnSpc>
              <a:spcAft>
                <a:spcPct val="35000"/>
              </a:spcAft>
            </a:pPr>
            <a:r>
              <a:rPr lang="fr-FR" dirty="0"/>
              <a:t>Conversion des colonnes Non-numériques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B29E2C47-194B-8338-3EEB-E39523CCF0E7}"/>
              </a:ext>
            </a:extLst>
          </p:cNvPr>
          <p:cNvSpPr txBox="1"/>
          <p:nvPr/>
        </p:nvSpPr>
        <p:spPr>
          <a:xfrm>
            <a:off x="3576577" y="5292524"/>
            <a:ext cx="5038846" cy="1166149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rtlCol="0" anchor="t" anchorCtr="0">
            <a:noAutofit/>
          </a:bodyPr>
          <a:lstStyle/>
          <a:p>
            <a:pPr marL="0" lvl="0" indent="0" algn="ctr" defTabSz="1600200" rtl="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3600" kern="1200" noProof="0" dirty="0"/>
              <a:t>Conversion des classes en colonnes numériques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88D596B1-8347-FE17-116F-EA19276E991D}"/>
              </a:ext>
            </a:extLst>
          </p:cNvPr>
          <p:cNvSpPr txBox="1"/>
          <p:nvPr/>
        </p:nvSpPr>
        <p:spPr>
          <a:xfrm>
            <a:off x="390645" y="2486977"/>
            <a:ext cx="2549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rtl="0">
              <a:defRPr lang="fr-FR"/>
            </a:defPPr>
            <a:lvl1pPr>
              <a:defRPr b="1"/>
            </a:lvl1pPr>
          </a:lstStyle>
          <a:p>
            <a:pPr algn="ctr"/>
            <a:r>
              <a:rPr lang="fr-FR" dirty="0"/>
              <a:t>Qualitative ordinal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CA7D7C41-7B70-9C68-85F1-D1076EAB1943}"/>
              </a:ext>
            </a:extLst>
          </p:cNvPr>
          <p:cNvSpPr txBox="1"/>
          <p:nvPr/>
        </p:nvSpPr>
        <p:spPr>
          <a:xfrm>
            <a:off x="3347495" y="2473824"/>
            <a:ext cx="2549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b="1" dirty="0"/>
              <a:t>Qualitative binaire</a:t>
            </a:r>
            <a:endParaRPr lang="fr-FR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640FB24C-A5E4-48F0-09BD-099DC2470CED}"/>
              </a:ext>
            </a:extLst>
          </p:cNvPr>
          <p:cNvSpPr txBox="1"/>
          <p:nvPr/>
        </p:nvSpPr>
        <p:spPr>
          <a:xfrm>
            <a:off x="6295180" y="2473823"/>
            <a:ext cx="2549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b="1" dirty="0"/>
              <a:t>Qualitative nominale</a:t>
            </a:r>
            <a:endParaRPr lang="fr-FR" dirty="0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95E7C4AB-14CD-61EC-FACF-96DD8DDD96FC}"/>
              </a:ext>
            </a:extLst>
          </p:cNvPr>
          <p:cNvSpPr txBox="1"/>
          <p:nvPr/>
        </p:nvSpPr>
        <p:spPr>
          <a:xfrm>
            <a:off x="442295" y="3188363"/>
            <a:ext cx="2497674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rtl="0">
              <a:defRPr lang="fr-FR"/>
            </a:defPPr>
            <a:lvl1pPr algn="ctr">
              <a:defRPr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</a:lstStyle>
          <a:p>
            <a:r>
              <a:rPr lang="fr-FR" dirty="0"/>
              <a:t>Fréquence déplacement</a:t>
            </a:r>
          </a:p>
          <a:p>
            <a:endParaRPr lang="en-US" dirty="0"/>
          </a:p>
          <a:p>
            <a:r>
              <a:rPr lang="fr-FR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Aucun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&lt;</a:t>
            </a:r>
          </a:p>
          <a:p>
            <a:r>
              <a:rPr lang="fr-FR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Occasionnel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&lt;</a:t>
            </a:r>
          </a:p>
          <a:p>
            <a:r>
              <a:rPr lang="fr-FR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Frequent</a:t>
            </a:r>
            <a:endParaRPr lang="fr-FR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C0097B7E-23E6-3983-6650-1DD55BF325C2}"/>
              </a:ext>
            </a:extLst>
          </p:cNvPr>
          <p:cNvSpPr txBox="1"/>
          <p:nvPr/>
        </p:nvSpPr>
        <p:spPr>
          <a:xfrm>
            <a:off x="3373320" y="3175210"/>
            <a:ext cx="249767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Quitté</a:t>
            </a:r>
            <a:r>
              <a:rPr lang="en-US" dirty="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dirty="0" err="1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l’entreprise</a:t>
            </a:r>
            <a:r>
              <a:rPr lang="en-US" dirty="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?</a:t>
            </a:r>
          </a:p>
          <a:p>
            <a:pPr algn="ctr"/>
            <a:endParaRPr lang="en-US" dirty="0">
              <a:solidFill>
                <a:schemeClr val="tx2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algn="ctr"/>
            <a:r>
              <a:rPr lang="fr-FR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Oui / Non</a:t>
            </a:r>
          </a:p>
          <a:p>
            <a:pPr algn="ctr"/>
            <a:endParaRPr lang="fr-FR" dirty="0">
              <a:solidFill>
                <a:schemeClr val="tx2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16CB81AF-8951-C670-D196-E72F4CEBDFAC}"/>
              </a:ext>
            </a:extLst>
          </p:cNvPr>
          <p:cNvSpPr txBox="1"/>
          <p:nvPr/>
        </p:nvSpPr>
        <p:spPr>
          <a:xfrm>
            <a:off x="6321005" y="3120155"/>
            <a:ext cx="249767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Poste</a:t>
            </a:r>
          </a:p>
          <a:p>
            <a:pPr algn="ctr"/>
            <a:endParaRPr lang="en-US" dirty="0">
              <a:solidFill>
                <a:schemeClr val="tx2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algn="ctr"/>
            <a:r>
              <a:rPr lang="en-US" dirty="0" err="1">
                <a:solidFill>
                  <a:schemeClr val="accent1">
                    <a:lumMod val="60000"/>
                    <a:lumOff val="4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Poste_X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, </a:t>
            </a:r>
            <a:r>
              <a:rPr lang="en-US" dirty="0" err="1">
                <a:solidFill>
                  <a:schemeClr val="accent1">
                    <a:lumMod val="60000"/>
                    <a:lumOff val="4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Poste_Y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, </a:t>
            </a:r>
            <a:r>
              <a:rPr lang="en-US" dirty="0" err="1">
                <a:solidFill>
                  <a:schemeClr val="accent1">
                    <a:lumMod val="60000"/>
                    <a:lumOff val="4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Poste_Z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, …</a:t>
            </a:r>
            <a:endParaRPr lang="fr-FR" dirty="0">
              <a:solidFill>
                <a:schemeClr val="accent1">
                  <a:lumMod val="60000"/>
                  <a:lumOff val="40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8804D32F-2E36-1E9C-8738-7FBF11671F10}"/>
              </a:ext>
            </a:extLst>
          </p:cNvPr>
          <p:cNvSpPr txBox="1"/>
          <p:nvPr/>
        </p:nvSpPr>
        <p:spPr>
          <a:xfrm>
            <a:off x="9252030" y="2473823"/>
            <a:ext cx="25493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b="1" dirty="0"/>
              <a:t>Quantitative discrète / continue</a:t>
            </a:r>
            <a:endParaRPr lang="fr-FR" dirty="0"/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9449C0B1-D17E-E7EA-7C35-BB52E2B1B2DA}"/>
              </a:ext>
            </a:extLst>
          </p:cNvPr>
          <p:cNvSpPr txBox="1"/>
          <p:nvPr/>
        </p:nvSpPr>
        <p:spPr>
          <a:xfrm>
            <a:off x="9252031" y="3175209"/>
            <a:ext cx="25493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% augmentation </a:t>
            </a:r>
            <a:r>
              <a:rPr lang="en-US" dirty="0" err="1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salaire</a:t>
            </a:r>
            <a:endParaRPr lang="fr-FR" dirty="0">
              <a:solidFill>
                <a:schemeClr val="tx2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54640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17CDB8-06B4-26A6-9C29-55AFA9C3E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4B186BD-35A8-C0C0-14E7-916A3EEBF2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algn="ctr" defTabSz="1600200">
              <a:lnSpc>
                <a:spcPct val="90000"/>
              </a:lnSpc>
              <a:spcAft>
                <a:spcPct val="35000"/>
              </a:spcAft>
            </a:pPr>
            <a:r>
              <a:rPr lang="fr-FR" dirty="0" err="1"/>
              <a:t>DataFrame</a:t>
            </a:r>
            <a:r>
              <a:rPr lang="fr-FR" dirty="0"/>
              <a:t> Exploitable</a:t>
            </a:r>
          </a:p>
        </p:txBody>
      </p:sp>
      <p:pic>
        <p:nvPicPr>
          <p:cNvPr id="2050" name="Picture 2" descr="Update Details - Python: Styled DataFrame Viewer 0.12.0 | JetBrains  Marketplace">
            <a:extLst>
              <a:ext uri="{FF2B5EF4-FFF2-40B4-BE49-F238E27FC236}">
                <a16:creationId xmlns:a16="http://schemas.microsoft.com/office/drawing/2014/main" id="{3A7B0C41-3BCF-DFD4-65C6-EF7158DD13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23639" y="2443304"/>
            <a:ext cx="2698741" cy="26987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E90CD0C4-1001-37F8-2EE5-FA148ED29642}"/>
              </a:ext>
            </a:extLst>
          </p:cNvPr>
          <p:cNvSpPr txBox="1"/>
          <p:nvPr/>
        </p:nvSpPr>
        <p:spPr>
          <a:xfrm>
            <a:off x="3847236" y="4847015"/>
            <a:ext cx="405154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DataFrame</a:t>
            </a:r>
            <a:endParaRPr lang="fr-FR" sz="4800" dirty="0">
              <a:solidFill>
                <a:schemeClr val="tx1">
                  <a:lumMod val="65000"/>
                  <a:lumOff val="35000"/>
                </a:scheme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75872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9FB21C-D768-766F-9D9C-DC2D650A0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1BB5EB7-CEEE-149A-1D47-CA6A1A6DE9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3213862"/>
            <a:ext cx="11029616" cy="1013800"/>
          </a:xfrm>
        </p:spPr>
        <p:txBody>
          <a:bodyPr>
            <a:normAutofit/>
          </a:bodyPr>
          <a:lstStyle/>
          <a:p>
            <a:pPr algn="ctr"/>
            <a:r>
              <a:rPr lang="fr-FR" sz="6000" dirty="0">
                <a:solidFill>
                  <a:schemeClr val="tx1"/>
                </a:solidFill>
              </a:rPr>
              <a:t>Exploration des données</a:t>
            </a:r>
          </a:p>
        </p:txBody>
      </p:sp>
    </p:spTree>
    <p:extLst>
      <p:ext uri="{BB962C8B-B14F-4D97-AF65-F5344CB8AC3E}">
        <p14:creationId xmlns:p14="http://schemas.microsoft.com/office/powerpoint/2010/main" val="2898063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18AEC5-AA74-4883-18BB-EDC83DCBF3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B60A8FB-D594-CF7F-64CB-850DE41431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algn="ctr" defTabSz="1600200">
              <a:lnSpc>
                <a:spcPct val="90000"/>
              </a:lnSpc>
              <a:spcAft>
                <a:spcPct val="35000"/>
              </a:spcAft>
            </a:pPr>
            <a:r>
              <a:rPr lang="fr-FR" dirty="0"/>
              <a:t>Vérification des </a:t>
            </a:r>
            <a:r>
              <a:rPr lang="fr-FR" dirty="0" err="1"/>
              <a:t>outliers</a:t>
            </a:r>
            <a:endParaRPr lang="fr-FR" dirty="0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588A2AEA-4BAF-1810-40D4-EED7630C77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997" y="2175734"/>
            <a:ext cx="3619333" cy="436252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454FA971-AF43-87C4-C8A3-12A3D9DC3215}"/>
              </a:ext>
            </a:extLst>
          </p:cNvPr>
          <p:cNvSpPr/>
          <p:nvPr/>
        </p:nvSpPr>
        <p:spPr>
          <a:xfrm>
            <a:off x="5064338" y="3107100"/>
            <a:ext cx="3945041" cy="1345838"/>
          </a:xfrm>
          <a:prstGeom prst="rect">
            <a:avLst/>
          </a:pr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fr-FR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513E0CBD-3F65-F931-6AD4-DE6D88E6F0BE}"/>
              </a:ext>
            </a:extLst>
          </p:cNvPr>
          <p:cNvSpPr txBox="1"/>
          <p:nvPr/>
        </p:nvSpPr>
        <p:spPr>
          <a:xfrm rot="16200000">
            <a:off x="3440337" y="2954223"/>
            <a:ext cx="2090921" cy="565135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rtlCol="0" anchor="t" anchorCtr="0">
            <a:noAutofit/>
          </a:bodyPr>
          <a:lstStyle/>
          <a:p>
            <a:pPr marL="0" lvl="0" indent="0" algn="ctr" defTabSz="1600200" rtl="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2400" kern="1200" noProof="0" dirty="0"/>
              <a:t>Sondages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99DE5AE4-79BC-80D5-9DBA-9458FB6D7A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8438" y="2110784"/>
            <a:ext cx="5992541" cy="2246211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2CF3E418-9D9A-8E1B-79BB-8F2A7E95311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98438" y="4524040"/>
            <a:ext cx="5992541" cy="2214462"/>
          </a:xfrm>
          <a:prstGeom prst="rect">
            <a:avLst/>
          </a:prstGeom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BA46EA0F-D37C-FB35-A854-EAFB3329934A}"/>
              </a:ext>
            </a:extLst>
          </p:cNvPr>
          <p:cNvSpPr txBox="1"/>
          <p:nvPr/>
        </p:nvSpPr>
        <p:spPr>
          <a:xfrm rot="16200000">
            <a:off x="10389520" y="2952266"/>
            <a:ext cx="1879331" cy="563245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rtlCol="0" anchor="t" anchorCtr="0">
            <a:noAutofit/>
          </a:bodyPr>
          <a:lstStyle/>
          <a:p>
            <a:pPr marL="0" lvl="0" indent="0" algn="ctr" defTabSz="1600200" rtl="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3600" kern="1200" noProof="0" dirty="0">
                <a:solidFill>
                  <a:schemeClr val="tx1"/>
                </a:solidFill>
              </a:rPr>
              <a:t>SIRH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74CB09BE-FE69-BDE7-96D2-EA0B63299C67}"/>
              </a:ext>
            </a:extLst>
          </p:cNvPr>
          <p:cNvSpPr txBox="1"/>
          <p:nvPr/>
        </p:nvSpPr>
        <p:spPr>
          <a:xfrm rot="16200000">
            <a:off x="10389520" y="5349648"/>
            <a:ext cx="1879331" cy="563245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rtlCol="0" anchor="t" anchorCtr="0">
            <a:noAutofit/>
          </a:bodyPr>
          <a:lstStyle/>
          <a:p>
            <a:pPr marL="0" lvl="0" indent="0" algn="ctr" defTabSz="1600200" rtl="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3600" kern="1200" noProof="0" dirty="0" err="1">
                <a:solidFill>
                  <a:schemeClr val="tx1"/>
                </a:solidFill>
              </a:rPr>
              <a:t>evaluation</a:t>
            </a:r>
            <a:endParaRPr lang="fr-FR" sz="3600" kern="1200" noProof="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04400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E8A005-461D-E1A5-334B-DB48910C5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0824C46-0D06-C121-905C-7A99B6D897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algn="ctr" defTabSz="1600200">
              <a:lnSpc>
                <a:spcPct val="90000"/>
              </a:lnSpc>
              <a:spcAft>
                <a:spcPct val="35000"/>
              </a:spcAft>
            </a:pPr>
            <a:r>
              <a:rPr lang="fr-FR" dirty="0"/>
              <a:t>Vérification des </a:t>
            </a:r>
            <a:r>
              <a:rPr lang="fr-FR" dirty="0" err="1"/>
              <a:t>outliers</a:t>
            </a:r>
            <a:endParaRPr lang="fr-FR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FE9AD9E-3C60-DEFE-D8DF-6D71C9418D70}"/>
              </a:ext>
            </a:extLst>
          </p:cNvPr>
          <p:cNvSpPr/>
          <p:nvPr/>
        </p:nvSpPr>
        <p:spPr>
          <a:xfrm>
            <a:off x="5064338" y="3107100"/>
            <a:ext cx="3945041" cy="1345838"/>
          </a:xfrm>
          <a:prstGeom prst="rect">
            <a:avLst/>
          </a:pr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fr-FR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66846D11-1474-2A22-F649-230BD5ECCB0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5325"/>
          <a:stretch>
            <a:fillRect/>
          </a:stretch>
        </p:blipFill>
        <p:spPr>
          <a:xfrm>
            <a:off x="618973" y="2110783"/>
            <a:ext cx="9656597" cy="4274715"/>
          </a:xfrm>
          <a:prstGeom prst="rect">
            <a:avLst/>
          </a:prstGeom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11D6BCF6-296E-BEAE-4DB2-936EB0BA391D}"/>
              </a:ext>
            </a:extLst>
          </p:cNvPr>
          <p:cNvSpPr txBox="1"/>
          <p:nvPr/>
        </p:nvSpPr>
        <p:spPr>
          <a:xfrm rot="16200000">
            <a:off x="9827545" y="3920757"/>
            <a:ext cx="1879331" cy="563245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rtlCol="0" anchor="t" anchorCtr="0">
            <a:noAutofit/>
          </a:bodyPr>
          <a:lstStyle/>
          <a:p>
            <a:pPr marL="0" lvl="0" indent="0" algn="ctr" defTabSz="1600200" rtl="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3600" kern="1200" noProof="0" dirty="0">
                <a:solidFill>
                  <a:schemeClr val="tx1"/>
                </a:solidFill>
              </a:rPr>
              <a:t>SIRH</a:t>
            </a:r>
          </a:p>
        </p:txBody>
      </p:sp>
    </p:spTree>
    <p:extLst>
      <p:ext uri="{BB962C8B-B14F-4D97-AF65-F5344CB8AC3E}">
        <p14:creationId xmlns:p14="http://schemas.microsoft.com/office/powerpoint/2010/main" val="28836483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ABF741-6637-02A5-2AC2-3680284CBA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4841F55-2D68-2F89-4FCA-D4DE6B084A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algn="ctr" defTabSz="1600200">
              <a:lnSpc>
                <a:spcPct val="90000"/>
              </a:lnSpc>
              <a:spcAft>
                <a:spcPct val="35000"/>
              </a:spcAft>
            </a:pPr>
            <a:r>
              <a:rPr lang="fr-FR" dirty="0"/>
              <a:t>Vérification des </a:t>
            </a:r>
            <a:r>
              <a:rPr lang="fr-FR" dirty="0" err="1"/>
              <a:t>outliers</a:t>
            </a:r>
            <a:endParaRPr lang="fr-FR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EE1D330-6C53-60F1-EBA8-46C7686C06BD}"/>
              </a:ext>
            </a:extLst>
          </p:cNvPr>
          <p:cNvSpPr/>
          <p:nvPr/>
        </p:nvSpPr>
        <p:spPr>
          <a:xfrm>
            <a:off x="5064338" y="3107100"/>
            <a:ext cx="3945041" cy="1345838"/>
          </a:xfrm>
          <a:prstGeom prst="rect">
            <a:avLst/>
          </a:pr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fr-FR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4AF6B27F-0949-000D-09C3-D3A66FEA1E1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5325" r="66049"/>
          <a:stretch>
            <a:fillRect/>
          </a:stretch>
        </p:blipFill>
        <p:spPr>
          <a:xfrm>
            <a:off x="618973" y="2110783"/>
            <a:ext cx="2124227" cy="4274715"/>
          </a:xfrm>
          <a:prstGeom prst="rect">
            <a:avLst/>
          </a:prstGeom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3AC6146A-43ED-EDC9-1BD6-29D778AF8EF7}"/>
              </a:ext>
            </a:extLst>
          </p:cNvPr>
          <p:cNvSpPr txBox="1"/>
          <p:nvPr/>
        </p:nvSpPr>
        <p:spPr>
          <a:xfrm rot="16200000">
            <a:off x="10528153" y="3920757"/>
            <a:ext cx="1879331" cy="563245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rtlCol="0" anchor="t" anchorCtr="0">
            <a:noAutofit/>
          </a:bodyPr>
          <a:lstStyle/>
          <a:p>
            <a:pPr marL="0" lvl="0" indent="0" algn="ctr" defTabSz="1600200" rtl="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3600" kern="1200" noProof="0" dirty="0">
                <a:solidFill>
                  <a:schemeClr val="tx1"/>
                </a:solidFill>
              </a:rPr>
              <a:t>SIRH</a:t>
            </a: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293CBA4B-E563-F937-0596-B21681D710D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4" t="823"/>
          <a:stretch>
            <a:fillRect/>
          </a:stretch>
        </p:blipFill>
        <p:spPr>
          <a:xfrm>
            <a:off x="2743200" y="4009673"/>
            <a:ext cx="7598458" cy="2375825"/>
          </a:xfrm>
          <a:prstGeom prst="rect">
            <a:avLst/>
          </a:prstGeom>
        </p:spPr>
      </p:pic>
      <p:sp>
        <p:nvSpPr>
          <p:cNvPr id="12" name="Titre 1">
            <a:extLst>
              <a:ext uri="{FF2B5EF4-FFF2-40B4-BE49-F238E27FC236}">
                <a16:creationId xmlns:a16="http://schemas.microsoft.com/office/drawing/2014/main" id="{662DB05B-D02A-A458-495D-39F31D1F4DE7}"/>
              </a:ext>
            </a:extLst>
          </p:cNvPr>
          <p:cNvSpPr txBox="1">
            <a:spLocks/>
          </p:cNvSpPr>
          <p:nvPr/>
        </p:nvSpPr>
        <p:spPr>
          <a:xfrm>
            <a:off x="2805475" y="2314673"/>
            <a:ext cx="3649846" cy="792427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2800" b="0" kern="1200" cap="all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fr-FR" sz="4800" cap="none" dirty="0">
                <a:solidFill>
                  <a:srgbClr val="FF0000"/>
                </a:solidFill>
              </a:rPr>
              <a:t>5% &gt; 17,821€</a:t>
            </a:r>
          </a:p>
        </p:txBody>
      </p:sp>
      <p:cxnSp>
        <p:nvCxnSpPr>
          <p:cNvPr id="6" name="Connecteur droit 5">
            <a:extLst>
              <a:ext uri="{FF2B5EF4-FFF2-40B4-BE49-F238E27FC236}">
                <a16:creationId xmlns:a16="http://schemas.microsoft.com/office/drawing/2014/main" id="{B38E7912-8B3C-328D-F40B-F55D2FC191CC}"/>
              </a:ext>
            </a:extLst>
          </p:cNvPr>
          <p:cNvCxnSpPr/>
          <p:nvPr/>
        </p:nvCxnSpPr>
        <p:spPr>
          <a:xfrm>
            <a:off x="976313" y="3567113"/>
            <a:ext cx="1540791" cy="0"/>
          </a:xfrm>
          <a:prstGeom prst="line">
            <a:avLst/>
          </a:prstGeom>
          <a:ln w="889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Image 9">
            <a:extLst>
              <a:ext uri="{FF2B5EF4-FFF2-40B4-BE49-F238E27FC236}">
                <a16:creationId xmlns:a16="http://schemas.microsoft.com/office/drawing/2014/main" id="{ABB0244B-D360-7A5B-8321-6825E75C4D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1417" y="2046897"/>
            <a:ext cx="3400900" cy="2248214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455F62BD-6E78-AF27-1B3E-BA7049A1A79F}"/>
              </a:ext>
            </a:extLst>
          </p:cNvPr>
          <p:cNvSpPr/>
          <p:nvPr/>
        </p:nvSpPr>
        <p:spPr>
          <a:xfrm>
            <a:off x="6782988" y="3849505"/>
            <a:ext cx="2226391" cy="21767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5768158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360404-1E2B-4C69-FC0E-B021BEBBD6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 28">
            <a:extLst>
              <a:ext uri="{FF2B5EF4-FFF2-40B4-BE49-F238E27FC236}">
                <a16:creationId xmlns:a16="http://schemas.microsoft.com/office/drawing/2014/main" id="{F8356271-FEAD-6D57-80F6-B394F2C897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6712"/>
            <a:ext cx="12192000" cy="632128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62C3C95-43B8-B09F-7447-E5E3BC5E3D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F6114803-17D7-1EEF-D626-E22245345D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854" y="1010236"/>
            <a:ext cx="10918785" cy="4837528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095EFFA0-0CC9-56E8-E5CF-DF02F3D95A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060" y="5307488"/>
            <a:ext cx="11029616" cy="1013800"/>
          </a:xfrm>
        </p:spPr>
        <p:txBody>
          <a:bodyPr/>
          <a:lstStyle/>
          <a:p>
            <a:pPr algn="ctr"/>
            <a:r>
              <a:rPr lang="fr-FR" dirty="0"/>
              <a:t>Matrice de confusion</a:t>
            </a:r>
          </a:p>
        </p:txBody>
      </p:sp>
    </p:spTree>
    <p:extLst>
      <p:ext uri="{BB962C8B-B14F-4D97-AF65-F5344CB8AC3E}">
        <p14:creationId xmlns:p14="http://schemas.microsoft.com/office/powerpoint/2010/main" val="20400099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37D91BC-2A87-779E-5258-A9E8BD4A10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 28">
            <a:extLst>
              <a:ext uri="{FF2B5EF4-FFF2-40B4-BE49-F238E27FC236}">
                <a16:creationId xmlns:a16="http://schemas.microsoft.com/office/drawing/2014/main" id="{EA4F88AF-2AF3-7515-EBBA-ACD303DCAD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6712"/>
            <a:ext cx="12192000" cy="632128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B30508F-D7DF-F9AD-6E2B-B67CD4D31C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6" name="Titre 1">
            <a:extLst>
              <a:ext uri="{FF2B5EF4-FFF2-40B4-BE49-F238E27FC236}">
                <a16:creationId xmlns:a16="http://schemas.microsoft.com/office/drawing/2014/main" id="{61FF514C-3589-53E0-58F5-7F90B18B28D6}"/>
              </a:ext>
            </a:extLst>
          </p:cNvPr>
          <p:cNvSpPr txBox="1">
            <a:spLocks/>
          </p:cNvSpPr>
          <p:nvPr/>
        </p:nvSpPr>
        <p:spPr>
          <a:xfrm>
            <a:off x="5645059" y="1790769"/>
            <a:ext cx="5184866" cy="142722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2500" lnSpcReduction="100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2800" b="0" kern="1200" cap="all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fr-FR" sz="4800" cap="none" dirty="0">
                <a:solidFill>
                  <a:srgbClr val="FF0000"/>
                </a:solidFill>
              </a:rPr>
              <a:t>Les postes les plus concernés (#)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5AC1AEB7-D60E-5E65-96CE-B822593C1567}"/>
              </a:ext>
            </a:extLst>
          </p:cNvPr>
          <p:cNvSpPr txBox="1"/>
          <p:nvPr/>
        </p:nvSpPr>
        <p:spPr>
          <a:xfrm>
            <a:off x="5645059" y="832348"/>
            <a:ext cx="53361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cap="none" dirty="0"/>
              <a:t>Exploration : Postes / Démissions 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3FC2BB6D-6F45-8FDB-F8B4-D3F38F116A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819" y="832348"/>
            <a:ext cx="4721048" cy="5054102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03BF1530-101B-6541-E18B-139A09D996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060" y="5307488"/>
            <a:ext cx="11029616" cy="1013800"/>
          </a:xfrm>
        </p:spPr>
        <p:txBody>
          <a:bodyPr/>
          <a:lstStyle/>
          <a:p>
            <a:pPr algn="r"/>
            <a:r>
              <a:rPr lang="fr-FR" dirty="0"/>
              <a:t>Distribution des données</a:t>
            </a:r>
          </a:p>
        </p:txBody>
      </p:sp>
    </p:spTree>
    <p:extLst>
      <p:ext uri="{BB962C8B-B14F-4D97-AF65-F5344CB8AC3E}">
        <p14:creationId xmlns:p14="http://schemas.microsoft.com/office/powerpoint/2010/main" val="38727379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D5EA74-7877-D349-11D4-66B615A71F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 28">
            <a:extLst>
              <a:ext uri="{FF2B5EF4-FFF2-40B4-BE49-F238E27FC236}">
                <a16:creationId xmlns:a16="http://schemas.microsoft.com/office/drawing/2014/main" id="{982FE038-CFB1-ED4A-3CB1-2AE6662F86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6712"/>
            <a:ext cx="12192000" cy="632128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332C299-DC8C-0AC7-814D-1A9F4E02A7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6" name="Titre 1">
            <a:extLst>
              <a:ext uri="{FF2B5EF4-FFF2-40B4-BE49-F238E27FC236}">
                <a16:creationId xmlns:a16="http://schemas.microsoft.com/office/drawing/2014/main" id="{882B95FA-0BC6-96E7-DC16-92602E674F20}"/>
              </a:ext>
            </a:extLst>
          </p:cNvPr>
          <p:cNvSpPr txBox="1">
            <a:spLocks/>
          </p:cNvSpPr>
          <p:nvPr/>
        </p:nvSpPr>
        <p:spPr>
          <a:xfrm>
            <a:off x="6093247" y="1901763"/>
            <a:ext cx="4493418" cy="142722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2500" lnSpcReduction="100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2800" b="0" kern="1200" cap="all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fr-FR" sz="4800" cap="none" dirty="0">
                <a:solidFill>
                  <a:srgbClr val="FF0000"/>
                </a:solidFill>
              </a:rPr>
              <a:t>Les postes les plus concernés (%)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DF6E3307-6BEA-222D-895C-104BF22C4172}"/>
              </a:ext>
            </a:extLst>
          </p:cNvPr>
          <p:cNvSpPr txBox="1"/>
          <p:nvPr/>
        </p:nvSpPr>
        <p:spPr>
          <a:xfrm>
            <a:off x="6093246" y="943342"/>
            <a:ext cx="528466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cap="none" dirty="0"/>
              <a:t>Exploration : </a:t>
            </a:r>
            <a:r>
              <a:rPr lang="fr-FR" sz="2400" dirty="0"/>
              <a:t>Postes / Démissions</a:t>
            </a:r>
            <a:r>
              <a:rPr lang="fr-FR" sz="2400" cap="none" dirty="0"/>
              <a:t> </a:t>
            </a: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707C98D7-2794-EAD3-534B-382F199955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797" y="710728"/>
            <a:ext cx="5172015" cy="5436544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01D67233-15F8-A806-2283-DD8262B73F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060" y="5307488"/>
            <a:ext cx="11029616" cy="1013800"/>
          </a:xfrm>
        </p:spPr>
        <p:txBody>
          <a:bodyPr/>
          <a:lstStyle/>
          <a:p>
            <a:pPr algn="r"/>
            <a:r>
              <a:rPr lang="fr-FR" dirty="0"/>
              <a:t>Distribution des données</a:t>
            </a:r>
          </a:p>
        </p:txBody>
      </p:sp>
    </p:spTree>
    <p:extLst>
      <p:ext uri="{BB962C8B-B14F-4D97-AF65-F5344CB8AC3E}">
        <p14:creationId xmlns:p14="http://schemas.microsoft.com/office/powerpoint/2010/main" val="39901208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0513E50-1BEE-2F27-4373-6A5ED599C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 28">
            <a:extLst>
              <a:ext uri="{FF2B5EF4-FFF2-40B4-BE49-F238E27FC236}">
                <a16:creationId xmlns:a16="http://schemas.microsoft.com/office/drawing/2014/main" id="{7693503A-19BC-B6DF-4472-97D4A7CD71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6712"/>
            <a:ext cx="12192000" cy="632128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873C457-865C-F62F-F763-C67A22BF56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ED702B5F-8A1F-06F5-79F7-6D50EA3ACE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4501" y="712136"/>
            <a:ext cx="8621138" cy="5345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229705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B60F519-B560-056C-F452-36FC94728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 28">
            <a:extLst>
              <a:ext uri="{FF2B5EF4-FFF2-40B4-BE49-F238E27FC236}">
                <a16:creationId xmlns:a16="http://schemas.microsoft.com/office/drawing/2014/main" id="{9B033948-FCAD-213F-153E-3FDB757579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6712"/>
            <a:ext cx="12192000" cy="632128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4B1952E-FA5F-CB65-BFCC-27ABE74295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6" name="Titre 1">
            <a:extLst>
              <a:ext uri="{FF2B5EF4-FFF2-40B4-BE49-F238E27FC236}">
                <a16:creationId xmlns:a16="http://schemas.microsoft.com/office/drawing/2014/main" id="{A62345E8-256A-0FAE-D7DA-9F21B91E572D}"/>
              </a:ext>
            </a:extLst>
          </p:cNvPr>
          <p:cNvSpPr txBox="1">
            <a:spLocks/>
          </p:cNvSpPr>
          <p:nvPr/>
        </p:nvSpPr>
        <p:spPr>
          <a:xfrm>
            <a:off x="7364816" y="2001776"/>
            <a:ext cx="4493418" cy="142722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2800" b="0" kern="1200" cap="all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fr-FR" sz="4800" cap="none" dirty="0">
                <a:solidFill>
                  <a:srgbClr val="FF0000"/>
                </a:solidFill>
              </a:rPr>
              <a:t>Salaires / Poste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F92CB732-6464-0024-4591-47B4BDD1D3D3}"/>
              </a:ext>
            </a:extLst>
          </p:cNvPr>
          <p:cNvSpPr txBox="1"/>
          <p:nvPr/>
        </p:nvSpPr>
        <p:spPr>
          <a:xfrm>
            <a:off x="7364816" y="1043355"/>
            <a:ext cx="42847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cap="none" dirty="0"/>
              <a:t>Exploration : Corrélations 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1D1B9221-AA44-2678-6E37-5A1F33965F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304" y="738006"/>
            <a:ext cx="6446163" cy="5292404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695879BE-FB13-471B-45F7-3E377AFFA7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060" y="5307488"/>
            <a:ext cx="11029616" cy="1013800"/>
          </a:xfrm>
        </p:spPr>
        <p:txBody>
          <a:bodyPr/>
          <a:lstStyle/>
          <a:p>
            <a:pPr algn="r"/>
            <a:r>
              <a:rPr lang="fr-FR" dirty="0"/>
              <a:t>Répartition des Valeurs</a:t>
            </a:r>
          </a:p>
        </p:txBody>
      </p:sp>
    </p:spTree>
    <p:extLst>
      <p:ext uri="{BB962C8B-B14F-4D97-AF65-F5344CB8AC3E}">
        <p14:creationId xmlns:p14="http://schemas.microsoft.com/office/powerpoint/2010/main" val="150253033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FF0C515-52D5-B341-1FF8-299612386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 28">
            <a:extLst>
              <a:ext uri="{FF2B5EF4-FFF2-40B4-BE49-F238E27FC236}">
                <a16:creationId xmlns:a16="http://schemas.microsoft.com/office/drawing/2014/main" id="{6B120996-928B-44B2-D4F1-7360F2D357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6712"/>
            <a:ext cx="12192000" cy="632128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8A4F233-6539-F741-3BDA-E738983529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0CEF92B0-E3EA-4C2F-B6F3-E66A338413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5230" y="633022"/>
            <a:ext cx="9421540" cy="5591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49615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C2F4D1F-C5C1-A6B0-16FD-EB21E48CED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 28">
            <a:extLst>
              <a:ext uri="{FF2B5EF4-FFF2-40B4-BE49-F238E27FC236}">
                <a16:creationId xmlns:a16="http://schemas.microsoft.com/office/drawing/2014/main" id="{92A2A31B-3307-B3E1-47A4-366A2F55CD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6712"/>
            <a:ext cx="12192000" cy="632128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D0B97D9-3116-945C-2F35-00A146E6E2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AF49EBF9-1153-EFE4-BEC4-52DDC21899BD}"/>
              </a:ext>
            </a:extLst>
          </p:cNvPr>
          <p:cNvSpPr txBox="1"/>
          <p:nvPr/>
        </p:nvSpPr>
        <p:spPr>
          <a:xfrm>
            <a:off x="720524" y="5722178"/>
            <a:ext cx="10414322" cy="358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fr-FR" sz="40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Résumé : Ce qui est informationnel</a:t>
            </a:r>
          </a:p>
        </p:txBody>
      </p:sp>
      <p:grpSp>
        <p:nvGrpSpPr>
          <p:cNvPr id="9" name="Groupe 8">
            <a:extLst>
              <a:ext uri="{FF2B5EF4-FFF2-40B4-BE49-F238E27FC236}">
                <a16:creationId xmlns:a16="http://schemas.microsoft.com/office/drawing/2014/main" id="{6F005866-F32E-86A0-D5B5-FFEF2553915D}"/>
              </a:ext>
            </a:extLst>
          </p:cNvPr>
          <p:cNvGrpSpPr/>
          <p:nvPr/>
        </p:nvGrpSpPr>
        <p:grpSpPr>
          <a:xfrm>
            <a:off x="570053" y="1046054"/>
            <a:ext cx="9983164" cy="646331"/>
            <a:chOff x="570053" y="1046054"/>
            <a:chExt cx="9983164" cy="646331"/>
          </a:xfrm>
        </p:grpSpPr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3D6DB1AB-A9B0-FE13-262C-74D1AAA5481B}"/>
                </a:ext>
              </a:extLst>
            </p:cNvPr>
            <p:cNvSpPr txBox="1"/>
            <p:nvPr/>
          </p:nvSpPr>
          <p:spPr>
            <a:xfrm>
              <a:off x="4459147" y="1046054"/>
              <a:ext cx="6094070" cy="4658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 rtl="0">
                <a:defRPr lang="fr-FR"/>
              </a:defPPr>
              <a:lvl1pPr>
                <a:spcAft>
                  <a:spcPts val="600"/>
                </a:spcAft>
                <a:buNone/>
                <a:defRPr>
                  <a:solidFill>
                    <a:srgbClr val="8B949E"/>
                  </a:solidFill>
                  <a:latin typeface="Aptos Display" panose="020B0004020202020204" pitchFamily="34" charset="0"/>
                </a:defRPr>
              </a:lvl1pPr>
            </a:lstStyle>
            <a:p>
              <a:pPr algn="just"/>
              <a:r>
                <a:rPr lang="fr-FR" dirty="0"/>
                <a:t>Plus la note d’évaluation précédente est basse, plus le risque de départ est élevé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75074E18-6AAA-D8FE-2D72-0D03DEB0C6FF}"/>
                </a:ext>
              </a:extLst>
            </p:cNvPr>
            <p:cNvSpPr txBox="1"/>
            <p:nvPr/>
          </p:nvSpPr>
          <p:spPr>
            <a:xfrm>
              <a:off x="570053" y="1135822"/>
              <a:ext cx="3538960" cy="2863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425"/>
                </a:lnSpc>
                <a:buNone/>
              </a:pPr>
              <a:r>
                <a:rPr lang="fr-FR" b="0" dirty="0" err="1">
                  <a:solidFill>
                    <a:srgbClr val="A5D6FF"/>
                  </a:solidFill>
                  <a:effectLst/>
                  <a:latin typeface="Consolas" panose="020B0609020204030204" pitchFamily="49" charset="0"/>
                </a:rPr>
                <a:t>note_evaluation_precedente</a:t>
              </a:r>
              <a:endParaRPr lang="fr-FR" b="0" dirty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</p:txBody>
        </p:sp>
      </p:grpSp>
      <p:grpSp>
        <p:nvGrpSpPr>
          <p:cNvPr id="10" name="Groupe 9">
            <a:extLst>
              <a:ext uri="{FF2B5EF4-FFF2-40B4-BE49-F238E27FC236}">
                <a16:creationId xmlns:a16="http://schemas.microsoft.com/office/drawing/2014/main" id="{F4687695-3E2B-0C2F-B77E-61B40E60B899}"/>
              </a:ext>
            </a:extLst>
          </p:cNvPr>
          <p:cNvGrpSpPr/>
          <p:nvPr/>
        </p:nvGrpSpPr>
        <p:grpSpPr>
          <a:xfrm>
            <a:off x="570053" y="3175224"/>
            <a:ext cx="9983164" cy="723275"/>
            <a:chOff x="570053" y="1046054"/>
            <a:chExt cx="9983164" cy="723275"/>
          </a:xfrm>
        </p:grpSpPr>
        <p:sp>
          <p:nvSpPr>
            <p:cNvPr id="11" name="ZoneTexte 10">
              <a:extLst>
                <a:ext uri="{FF2B5EF4-FFF2-40B4-BE49-F238E27FC236}">
                  <a16:creationId xmlns:a16="http://schemas.microsoft.com/office/drawing/2014/main" id="{54E8E62A-CBEE-BA1D-035D-024EAF15873E}"/>
                </a:ext>
              </a:extLst>
            </p:cNvPr>
            <p:cNvSpPr txBox="1"/>
            <p:nvPr/>
          </p:nvSpPr>
          <p:spPr>
            <a:xfrm>
              <a:off x="4459147" y="1046054"/>
              <a:ext cx="6094070" cy="7232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>
                <a:spcAft>
                  <a:spcPts val="600"/>
                </a:spcAft>
                <a:buNone/>
              </a:pPr>
              <a:r>
                <a:rPr lang="fr-FR" dirty="0">
                  <a:solidFill>
                    <a:srgbClr val="8B949E"/>
                  </a:solidFill>
                  <a:latin typeface="Aptos Display" panose="020B0004020202020204" pitchFamily="34" charset="0"/>
                </a:rPr>
                <a:t>Les postes les plus touchés sont dans l’ordre:</a:t>
              </a:r>
            </a:p>
            <a:p>
              <a:pPr algn="just">
                <a:spcAft>
                  <a:spcPts val="600"/>
                </a:spcAft>
                <a:buNone/>
              </a:pPr>
              <a:r>
                <a:rPr lang="fr-FR" dirty="0">
                  <a:solidFill>
                    <a:srgbClr val="8B949E"/>
                  </a:solidFill>
                  <a:latin typeface="Aptos Display" panose="020B0004020202020204" pitchFamily="34" charset="0"/>
                </a:rPr>
                <a:t>Représentant Commercial &gt; Consultant &gt; Ressource Humaines</a:t>
              </a:r>
              <a:endParaRPr lang="fr-FR" dirty="0">
                <a:solidFill>
                  <a:srgbClr val="BBBEBF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2" name="ZoneTexte 11">
              <a:extLst>
                <a:ext uri="{FF2B5EF4-FFF2-40B4-BE49-F238E27FC236}">
                  <a16:creationId xmlns:a16="http://schemas.microsoft.com/office/drawing/2014/main" id="{8547F30A-EC56-2953-8C3F-FCCA25C275D3}"/>
                </a:ext>
              </a:extLst>
            </p:cNvPr>
            <p:cNvSpPr txBox="1"/>
            <p:nvPr/>
          </p:nvSpPr>
          <p:spPr>
            <a:xfrm>
              <a:off x="570053" y="1135822"/>
              <a:ext cx="3538960" cy="2863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425"/>
                </a:lnSpc>
                <a:buNone/>
              </a:pPr>
              <a:r>
                <a:rPr lang="fr-FR" dirty="0">
                  <a:solidFill>
                    <a:srgbClr val="A5D6FF"/>
                  </a:solidFill>
                  <a:latin typeface="Consolas" panose="020B0609020204030204" pitchFamily="49" charset="0"/>
                </a:rPr>
                <a:t>poste</a:t>
              </a:r>
            </a:p>
          </p:txBody>
        </p:sp>
      </p:grpSp>
      <p:grpSp>
        <p:nvGrpSpPr>
          <p:cNvPr id="13" name="Groupe 12">
            <a:extLst>
              <a:ext uri="{FF2B5EF4-FFF2-40B4-BE49-F238E27FC236}">
                <a16:creationId xmlns:a16="http://schemas.microsoft.com/office/drawing/2014/main" id="{3F785AAD-8EB7-16F2-48D8-01987803A361}"/>
              </a:ext>
            </a:extLst>
          </p:cNvPr>
          <p:cNvGrpSpPr/>
          <p:nvPr/>
        </p:nvGrpSpPr>
        <p:grpSpPr>
          <a:xfrm>
            <a:off x="570053" y="2110639"/>
            <a:ext cx="9983164" cy="376128"/>
            <a:chOff x="570053" y="1046054"/>
            <a:chExt cx="9983164" cy="376128"/>
          </a:xfrm>
        </p:grpSpPr>
        <p:sp>
          <p:nvSpPr>
            <p:cNvPr id="14" name="ZoneTexte 13">
              <a:extLst>
                <a:ext uri="{FF2B5EF4-FFF2-40B4-BE49-F238E27FC236}">
                  <a16:creationId xmlns:a16="http://schemas.microsoft.com/office/drawing/2014/main" id="{84B171F4-F09E-A4B6-CE72-0339ACBFDB3E}"/>
                </a:ext>
              </a:extLst>
            </p:cNvPr>
            <p:cNvSpPr txBox="1"/>
            <p:nvPr/>
          </p:nvSpPr>
          <p:spPr>
            <a:xfrm>
              <a:off x="4459147" y="1046054"/>
              <a:ext cx="6094070" cy="4658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 rtl="0">
                <a:defRPr lang="fr-FR"/>
              </a:defPPr>
              <a:lvl1pPr>
                <a:spcAft>
                  <a:spcPts val="600"/>
                </a:spcAft>
                <a:buNone/>
                <a:defRPr>
                  <a:solidFill>
                    <a:srgbClr val="8B949E"/>
                  </a:solidFill>
                  <a:latin typeface="Aptos Display" panose="020B0004020202020204" pitchFamily="34" charset="0"/>
                </a:defRPr>
              </a:lvl1pPr>
            </a:lstStyle>
            <a:p>
              <a:pPr algn="just"/>
              <a:r>
                <a:rPr lang="fr-FR" dirty="0"/>
                <a:t>Plus le salaire est bas, plus le risque de départ est élevé</a:t>
              </a:r>
            </a:p>
          </p:txBody>
        </p:sp>
        <p:sp>
          <p:nvSpPr>
            <p:cNvPr id="15" name="ZoneTexte 14">
              <a:extLst>
                <a:ext uri="{FF2B5EF4-FFF2-40B4-BE49-F238E27FC236}">
                  <a16:creationId xmlns:a16="http://schemas.microsoft.com/office/drawing/2014/main" id="{BEB75898-5F78-B950-1197-46B00326D239}"/>
                </a:ext>
              </a:extLst>
            </p:cNvPr>
            <p:cNvSpPr txBox="1"/>
            <p:nvPr/>
          </p:nvSpPr>
          <p:spPr>
            <a:xfrm>
              <a:off x="570053" y="1135822"/>
              <a:ext cx="3538960" cy="2863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425"/>
                </a:lnSpc>
                <a:buNone/>
              </a:pPr>
              <a:r>
                <a:rPr lang="fr-FR" b="0" dirty="0" err="1">
                  <a:solidFill>
                    <a:srgbClr val="A5D6FF"/>
                  </a:solidFill>
                  <a:effectLst/>
                  <a:latin typeface="Consolas" panose="020B0609020204030204" pitchFamily="49" charset="0"/>
                </a:rPr>
                <a:t>revenu_mensuel</a:t>
              </a:r>
              <a:endParaRPr lang="fr-FR" b="0" dirty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9581849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E079C7-CAAC-ABA0-9C2E-292B1B88BC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 28">
            <a:extLst>
              <a:ext uri="{FF2B5EF4-FFF2-40B4-BE49-F238E27FC236}">
                <a16:creationId xmlns:a16="http://schemas.microsoft.com/office/drawing/2014/main" id="{6C0E10E6-18DF-DA30-FA4F-765014E122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6712"/>
            <a:ext cx="12192000" cy="632128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167DC30-6603-D6A9-AF6D-26E7F7344B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A91C777-3DBC-B352-545E-C3A82B420110}"/>
              </a:ext>
            </a:extLst>
          </p:cNvPr>
          <p:cNvSpPr txBox="1"/>
          <p:nvPr/>
        </p:nvSpPr>
        <p:spPr>
          <a:xfrm>
            <a:off x="720524" y="5722178"/>
            <a:ext cx="10414322" cy="345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fr-FR" sz="36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Résumé : Ce qui n’est pas informationnel</a:t>
            </a:r>
          </a:p>
        </p:txBody>
      </p:sp>
      <p:grpSp>
        <p:nvGrpSpPr>
          <p:cNvPr id="9" name="Groupe 8">
            <a:extLst>
              <a:ext uri="{FF2B5EF4-FFF2-40B4-BE49-F238E27FC236}">
                <a16:creationId xmlns:a16="http://schemas.microsoft.com/office/drawing/2014/main" id="{09A90A57-6F55-27EA-233A-ABDE34D39E63}"/>
              </a:ext>
            </a:extLst>
          </p:cNvPr>
          <p:cNvGrpSpPr/>
          <p:nvPr/>
        </p:nvGrpSpPr>
        <p:grpSpPr>
          <a:xfrm>
            <a:off x="570053" y="1046054"/>
            <a:ext cx="9983164" cy="376128"/>
            <a:chOff x="570053" y="1046054"/>
            <a:chExt cx="9983164" cy="376128"/>
          </a:xfrm>
        </p:grpSpPr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DC079311-C1CF-A116-2FCA-169246764427}"/>
                </a:ext>
              </a:extLst>
            </p:cNvPr>
            <p:cNvSpPr txBox="1"/>
            <p:nvPr/>
          </p:nvSpPr>
          <p:spPr>
            <a:xfrm>
              <a:off x="4459147" y="1046054"/>
              <a:ext cx="609407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 rtl="0">
                <a:defRPr lang="fr-FR"/>
              </a:defPPr>
              <a:lvl1pPr>
                <a:spcAft>
                  <a:spcPts val="600"/>
                </a:spcAft>
                <a:buNone/>
                <a:defRPr>
                  <a:solidFill>
                    <a:srgbClr val="8B949E"/>
                  </a:solidFill>
                  <a:latin typeface="Aptos Display" panose="020B0004020202020204" pitchFamily="34" charset="0"/>
                </a:defRPr>
              </a:lvl1pPr>
            </a:lstStyle>
            <a:p>
              <a:pPr algn="just"/>
              <a:r>
                <a:rPr lang="fr-FR" dirty="0"/>
                <a:t>Ne joue quasiment aucun rôle dans le départ (:= 3 ou 4)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6BBE3F4F-EA87-FE89-67BD-85B0370E261C}"/>
                </a:ext>
              </a:extLst>
            </p:cNvPr>
            <p:cNvSpPr txBox="1"/>
            <p:nvPr/>
          </p:nvSpPr>
          <p:spPr>
            <a:xfrm>
              <a:off x="570053" y="1135822"/>
              <a:ext cx="3538960" cy="2863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425"/>
                </a:lnSpc>
                <a:buNone/>
              </a:pPr>
              <a:r>
                <a:rPr lang="fr-FR" b="0" dirty="0" err="1">
                  <a:solidFill>
                    <a:srgbClr val="A5D6FF"/>
                  </a:solidFill>
                  <a:effectLst/>
                  <a:latin typeface="Consolas" panose="020B0609020204030204" pitchFamily="49" charset="0"/>
                </a:rPr>
                <a:t>note_evaluation_actuelle</a:t>
              </a:r>
              <a:endParaRPr lang="fr-FR" b="0" dirty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1308315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5F3E11-ED94-D696-49DC-D6D86359C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EED92C9-18E7-2FA7-77E2-86A8DF96C8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3213862"/>
            <a:ext cx="11029616" cy="1013800"/>
          </a:xfrm>
        </p:spPr>
        <p:txBody>
          <a:bodyPr>
            <a:normAutofit/>
          </a:bodyPr>
          <a:lstStyle/>
          <a:p>
            <a:pPr algn="ctr"/>
            <a:r>
              <a:rPr lang="fr-FR" sz="6000" dirty="0">
                <a:solidFill>
                  <a:schemeClr val="tx1"/>
                </a:solidFill>
              </a:rPr>
              <a:t>AJUSTEMENTS</a:t>
            </a:r>
          </a:p>
        </p:txBody>
      </p:sp>
    </p:spTree>
    <p:extLst>
      <p:ext uri="{BB962C8B-B14F-4D97-AF65-F5344CB8AC3E}">
        <p14:creationId xmlns:p14="http://schemas.microsoft.com/office/powerpoint/2010/main" val="403815683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F597975-877A-82B7-07A6-8C93B89449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 28">
            <a:extLst>
              <a:ext uri="{FF2B5EF4-FFF2-40B4-BE49-F238E27FC236}">
                <a16:creationId xmlns:a16="http://schemas.microsoft.com/office/drawing/2014/main" id="{9B111E46-FEA6-2792-7AA9-5F92BBA0AD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6712"/>
            <a:ext cx="12192000" cy="632128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5712EDB-76B2-66F1-8D1D-70703CBF72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3A3588E-2787-1CCC-EA4A-500974939767}"/>
              </a:ext>
            </a:extLst>
          </p:cNvPr>
          <p:cNvSpPr txBox="1"/>
          <p:nvPr/>
        </p:nvSpPr>
        <p:spPr>
          <a:xfrm>
            <a:off x="720524" y="5722178"/>
            <a:ext cx="10414322" cy="358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fr-FR" sz="40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Ce qui a changé dans le </a:t>
            </a:r>
            <a:r>
              <a:rPr lang="fr-FR" sz="4000" b="0" dirty="0" err="1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dataset</a:t>
            </a:r>
            <a:endParaRPr lang="fr-FR" sz="4000" b="0" dirty="0">
              <a:solidFill>
                <a:schemeClr val="bg1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9" name="Groupe 8">
            <a:extLst>
              <a:ext uri="{FF2B5EF4-FFF2-40B4-BE49-F238E27FC236}">
                <a16:creationId xmlns:a16="http://schemas.microsoft.com/office/drawing/2014/main" id="{A048F830-8EF9-B728-F11D-10B64C6FCBA6}"/>
              </a:ext>
            </a:extLst>
          </p:cNvPr>
          <p:cNvGrpSpPr/>
          <p:nvPr/>
        </p:nvGrpSpPr>
        <p:grpSpPr>
          <a:xfrm>
            <a:off x="720524" y="3520381"/>
            <a:ext cx="9983164" cy="376128"/>
            <a:chOff x="570053" y="1046054"/>
            <a:chExt cx="9983164" cy="376128"/>
          </a:xfrm>
        </p:grpSpPr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D1475EF6-9DA3-C9AB-2081-F65DCBA92B27}"/>
                </a:ext>
              </a:extLst>
            </p:cNvPr>
            <p:cNvSpPr txBox="1"/>
            <p:nvPr/>
          </p:nvSpPr>
          <p:spPr>
            <a:xfrm>
              <a:off x="4459147" y="1046054"/>
              <a:ext cx="609407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 rtl="0">
                <a:defRPr lang="fr-FR"/>
              </a:defPPr>
              <a:lvl1pPr>
                <a:spcAft>
                  <a:spcPts val="600"/>
                </a:spcAft>
                <a:buNone/>
                <a:defRPr>
                  <a:solidFill>
                    <a:srgbClr val="8B949E"/>
                  </a:solidFill>
                  <a:latin typeface="Aptos Display" panose="020B0004020202020204" pitchFamily="34" charset="0"/>
                </a:defRPr>
              </a:lvl1pPr>
            </a:lstStyle>
            <a:p>
              <a:pPr algn="just"/>
              <a:r>
                <a:rPr lang="fr-FR" dirty="0"/>
                <a:t>Supprimé car inutiles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96B432FC-C71A-F510-41D4-270C9D449F74}"/>
                </a:ext>
              </a:extLst>
            </p:cNvPr>
            <p:cNvSpPr txBox="1"/>
            <p:nvPr/>
          </p:nvSpPr>
          <p:spPr>
            <a:xfrm>
              <a:off x="570053" y="1135822"/>
              <a:ext cx="3538960" cy="2863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425"/>
                </a:lnSpc>
                <a:buNone/>
              </a:pPr>
              <a:r>
                <a:rPr lang="fr-FR" dirty="0">
                  <a:solidFill>
                    <a:srgbClr val="A5D6FF"/>
                  </a:solidFill>
                  <a:latin typeface="Consolas" panose="020B0609020204030204" pitchFamily="49" charset="0"/>
                </a:rPr>
                <a:t>ID et Valeurs constantes</a:t>
              </a:r>
              <a:endParaRPr lang="fr-FR" dirty="0">
                <a:solidFill>
                  <a:srgbClr val="BBBEBF"/>
                </a:solidFill>
                <a:latin typeface="Consolas" panose="020B0609020204030204" pitchFamily="49" charset="0"/>
              </a:endParaRPr>
            </a:p>
          </p:txBody>
        </p:sp>
      </p:grpSp>
      <p:grpSp>
        <p:nvGrpSpPr>
          <p:cNvPr id="13" name="Groupe 12">
            <a:extLst>
              <a:ext uri="{FF2B5EF4-FFF2-40B4-BE49-F238E27FC236}">
                <a16:creationId xmlns:a16="http://schemas.microsoft.com/office/drawing/2014/main" id="{5CF545D0-CB1B-F13E-5097-481AD7106260}"/>
              </a:ext>
            </a:extLst>
          </p:cNvPr>
          <p:cNvGrpSpPr/>
          <p:nvPr/>
        </p:nvGrpSpPr>
        <p:grpSpPr>
          <a:xfrm>
            <a:off x="720524" y="2224316"/>
            <a:ext cx="9983164" cy="646331"/>
            <a:chOff x="570053" y="1046054"/>
            <a:chExt cx="9983164" cy="646331"/>
          </a:xfrm>
        </p:grpSpPr>
        <p:sp>
          <p:nvSpPr>
            <p:cNvPr id="14" name="ZoneTexte 13">
              <a:extLst>
                <a:ext uri="{FF2B5EF4-FFF2-40B4-BE49-F238E27FC236}">
                  <a16:creationId xmlns:a16="http://schemas.microsoft.com/office/drawing/2014/main" id="{64F3656A-A7D5-2F1C-426E-1E5C3A8A9A70}"/>
                </a:ext>
              </a:extLst>
            </p:cNvPr>
            <p:cNvSpPr txBox="1"/>
            <p:nvPr/>
          </p:nvSpPr>
          <p:spPr>
            <a:xfrm>
              <a:off x="4459147" y="1046054"/>
              <a:ext cx="6094070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 rtl="0">
                <a:defRPr lang="fr-FR"/>
              </a:defPPr>
              <a:lvl1pPr>
                <a:spcAft>
                  <a:spcPts val="600"/>
                </a:spcAft>
                <a:buNone/>
                <a:defRPr>
                  <a:solidFill>
                    <a:srgbClr val="8B949E"/>
                  </a:solidFill>
                  <a:latin typeface="Aptos Display" panose="020B0004020202020204" pitchFamily="34" charset="0"/>
                </a:defRPr>
              </a:lvl1pPr>
            </a:lstStyle>
            <a:p>
              <a:pPr algn="just"/>
              <a:r>
                <a:rPr lang="fr-FR" dirty="0"/>
                <a:t>Conserver uniquement la tranche la plus représentative des salaires pour éviter un biais: salaire bas = démission</a:t>
              </a:r>
            </a:p>
          </p:txBody>
        </p:sp>
        <p:sp>
          <p:nvSpPr>
            <p:cNvPr id="15" name="ZoneTexte 14">
              <a:extLst>
                <a:ext uri="{FF2B5EF4-FFF2-40B4-BE49-F238E27FC236}">
                  <a16:creationId xmlns:a16="http://schemas.microsoft.com/office/drawing/2014/main" id="{E31FF213-4A54-4341-730D-6C22147F639B}"/>
                </a:ext>
              </a:extLst>
            </p:cNvPr>
            <p:cNvSpPr txBox="1"/>
            <p:nvPr/>
          </p:nvSpPr>
          <p:spPr>
            <a:xfrm>
              <a:off x="570053" y="1135822"/>
              <a:ext cx="3538960" cy="2863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425"/>
                </a:lnSpc>
                <a:buNone/>
              </a:pPr>
              <a:r>
                <a:rPr lang="fr-FR" b="0" dirty="0" err="1">
                  <a:solidFill>
                    <a:srgbClr val="A5D6FF"/>
                  </a:solidFill>
                  <a:effectLst/>
                  <a:latin typeface="Consolas" panose="020B0609020204030204" pitchFamily="49" charset="0"/>
                </a:rPr>
                <a:t>revenu_mensuel</a:t>
              </a:r>
              <a:endParaRPr lang="fr-FR" b="0" dirty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</p:txBody>
        </p:sp>
      </p:grpSp>
      <p:grpSp>
        <p:nvGrpSpPr>
          <p:cNvPr id="2" name="Groupe 1">
            <a:extLst>
              <a:ext uri="{FF2B5EF4-FFF2-40B4-BE49-F238E27FC236}">
                <a16:creationId xmlns:a16="http://schemas.microsoft.com/office/drawing/2014/main" id="{25D8B79E-B236-80BE-EE13-B6AA2CE93EA3}"/>
              </a:ext>
            </a:extLst>
          </p:cNvPr>
          <p:cNvGrpSpPr/>
          <p:nvPr/>
        </p:nvGrpSpPr>
        <p:grpSpPr>
          <a:xfrm>
            <a:off x="722453" y="1198454"/>
            <a:ext cx="9983164" cy="376128"/>
            <a:chOff x="570053" y="1046054"/>
            <a:chExt cx="9983164" cy="376128"/>
          </a:xfrm>
        </p:grpSpPr>
        <p:sp>
          <p:nvSpPr>
            <p:cNvPr id="4" name="ZoneTexte 3">
              <a:extLst>
                <a:ext uri="{FF2B5EF4-FFF2-40B4-BE49-F238E27FC236}">
                  <a16:creationId xmlns:a16="http://schemas.microsoft.com/office/drawing/2014/main" id="{73D93538-A197-889B-6286-CD785E8E48D1}"/>
                </a:ext>
              </a:extLst>
            </p:cNvPr>
            <p:cNvSpPr txBox="1"/>
            <p:nvPr/>
          </p:nvSpPr>
          <p:spPr>
            <a:xfrm>
              <a:off x="4459147" y="1046054"/>
              <a:ext cx="609407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 rtl="0">
                <a:defRPr lang="fr-FR"/>
              </a:defPPr>
              <a:lvl1pPr>
                <a:spcAft>
                  <a:spcPts val="600"/>
                </a:spcAft>
                <a:buNone/>
                <a:defRPr>
                  <a:solidFill>
                    <a:srgbClr val="8B949E"/>
                  </a:solidFill>
                  <a:latin typeface="Aptos Display" panose="020B0004020202020204" pitchFamily="34" charset="0"/>
                </a:defRPr>
              </a:lvl1pPr>
            </a:lstStyle>
            <a:p>
              <a:pPr algn="just"/>
              <a:r>
                <a:rPr lang="fr-FR" dirty="0"/>
                <a:t>Supprimé car non informative</a:t>
              </a:r>
            </a:p>
          </p:txBody>
        </p:sp>
        <p:sp>
          <p:nvSpPr>
            <p:cNvPr id="5" name="ZoneTexte 4">
              <a:extLst>
                <a:ext uri="{FF2B5EF4-FFF2-40B4-BE49-F238E27FC236}">
                  <a16:creationId xmlns:a16="http://schemas.microsoft.com/office/drawing/2014/main" id="{EAE6C91A-29F8-AD62-12E3-5372492F79E0}"/>
                </a:ext>
              </a:extLst>
            </p:cNvPr>
            <p:cNvSpPr txBox="1"/>
            <p:nvPr/>
          </p:nvSpPr>
          <p:spPr>
            <a:xfrm>
              <a:off x="570053" y="1135822"/>
              <a:ext cx="3538960" cy="2863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425"/>
                </a:lnSpc>
                <a:buNone/>
              </a:pPr>
              <a:r>
                <a:rPr lang="fr-FR" dirty="0" err="1">
                  <a:solidFill>
                    <a:srgbClr val="A5D6FF"/>
                  </a:solidFill>
                  <a:latin typeface="Consolas" panose="020B0609020204030204" pitchFamily="49" charset="0"/>
                </a:rPr>
                <a:t>note_evaluation_actuelle</a:t>
              </a:r>
              <a:endParaRPr lang="fr-FR" dirty="0">
                <a:solidFill>
                  <a:srgbClr val="BBBEBF"/>
                </a:solidFill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2427303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B5D0B1-E2B1-616D-4FA7-5573B8FFE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 28">
            <a:extLst>
              <a:ext uri="{FF2B5EF4-FFF2-40B4-BE49-F238E27FC236}">
                <a16:creationId xmlns:a16="http://schemas.microsoft.com/office/drawing/2014/main" id="{F9DE0B40-C411-FE98-F183-AA8E304C53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6712"/>
            <a:ext cx="12192000" cy="632128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A1623DB-45A9-6A60-EE4C-B7B2BCDD9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C502124D-622B-CDB5-1B56-102A7C6413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52898" y="763073"/>
            <a:ext cx="7880698" cy="5558215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865D229F-A2E6-827E-343A-73C70EA34DFB}"/>
              </a:ext>
            </a:extLst>
          </p:cNvPr>
          <p:cNvSpPr txBox="1"/>
          <p:nvPr/>
        </p:nvSpPr>
        <p:spPr>
          <a:xfrm rot="16200000">
            <a:off x="72158" y="2307930"/>
            <a:ext cx="33806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4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a_quitte_l_entreprise </a:t>
            </a:r>
            <a:endParaRPr lang="fr-FR" sz="2400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FD22F2AE-D3C8-AC03-DC9D-0DC991459875}"/>
              </a:ext>
            </a:extLst>
          </p:cNvPr>
          <p:cNvSpPr txBox="1"/>
          <p:nvPr/>
        </p:nvSpPr>
        <p:spPr>
          <a:xfrm>
            <a:off x="10033596" y="2350818"/>
            <a:ext cx="202505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dirty="0"/>
              <a:t>0,0: Pas de relation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3844A915-4D18-08C2-D50F-C6AA492CE5D7}"/>
              </a:ext>
            </a:extLst>
          </p:cNvPr>
          <p:cNvSpPr txBox="1"/>
          <p:nvPr/>
        </p:nvSpPr>
        <p:spPr>
          <a:xfrm>
            <a:off x="10033596" y="848426"/>
            <a:ext cx="213474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dirty="0"/>
              <a:t>1,0: Relation forte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3DE8CE3A-15E2-2076-E73B-34235D28173C}"/>
              </a:ext>
            </a:extLst>
          </p:cNvPr>
          <p:cNvSpPr txBox="1"/>
          <p:nvPr/>
        </p:nvSpPr>
        <p:spPr>
          <a:xfrm>
            <a:off x="10033596" y="1599622"/>
            <a:ext cx="213474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dirty="0"/>
              <a:t>0,5: Relation modéré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2B69950D-5E7B-1F5F-310D-8F8D9A21EFAA}"/>
              </a:ext>
            </a:extLst>
          </p:cNvPr>
          <p:cNvSpPr txBox="1"/>
          <p:nvPr/>
        </p:nvSpPr>
        <p:spPr>
          <a:xfrm>
            <a:off x="10033596" y="3853212"/>
            <a:ext cx="202505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dirty="0"/>
              <a:t>1,0: Relation forte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133BE4DB-0718-9300-51A2-156A987D08F3}"/>
              </a:ext>
            </a:extLst>
          </p:cNvPr>
          <p:cNvSpPr txBox="1"/>
          <p:nvPr/>
        </p:nvSpPr>
        <p:spPr>
          <a:xfrm>
            <a:off x="10033596" y="3102014"/>
            <a:ext cx="213474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dirty="0"/>
              <a:t>0,5: Relation modéré</a:t>
            </a:r>
          </a:p>
        </p:txBody>
      </p:sp>
    </p:spTree>
    <p:extLst>
      <p:ext uri="{BB962C8B-B14F-4D97-AF65-F5344CB8AC3E}">
        <p14:creationId xmlns:p14="http://schemas.microsoft.com/office/powerpoint/2010/main" val="246912324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30221-61E4-AC57-328E-5EA5E6AB02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30140A4-BA1D-0E26-385C-9397C6B65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3213862"/>
            <a:ext cx="11029616" cy="1013800"/>
          </a:xfrm>
        </p:spPr>
        <p:txBody>
          <a:bodyPr>
            <a:normAutofit/>
          </a:bodyPr>
          <a:lstStyle/>
          <a:p>
            <a:pPr algn="ctr"/>
            <a:r>
              <a:rPr lang="fr-FR" sz="6000" dirty="0">
                <a:solidFill>
                  <a:schemeClr val="tx1"/>
                </a:solidFill>
              </a:rPr>
              <a:t>MODELISATION</a:t>
            </a:r>
          </a:p>
        </p:txBody>
      </p:sp>
    </p:spTree>
    <p:extLst>
      <p:ext uri="{BB962C8B-B14F-4D97-AF65-F5344CB8AC3E}">
        <p14:creationId xmlns:p14="http://schemas.microsoft.com/office/powerpoint/2010/main" val="236315235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F2A9B6-3BBE-951A-5815-D86C0BB15F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95DCDC02-87FC-46B7-AD01-010F358FE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séparation train/test</a:t>
            </a:r>
            <a:br>
              <a:rPr lang="fr-FR" dirty="0"/>
            </a:br>
            <a:endParaRPr lang="fr-FR" dirty="0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4FDC66FA-806C-BFEC-C438-8F5B679457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026" y="2310470"/>
            <a:ext cx="10355947" cy="3592619"/>
          </a:xfrm>
          <a:prstGeom prst="rect">
            <a:avLst/>
          </a:prstGeom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3A0EF400-D15D-A4DE-DEA7-997A5CC3B7F1}"/>
              </a:ext>
            </a:extLst>
          </p:cNvPr>
          <p:cNvSpPr txBox="1"/>
          <p:nvPr/>
        </p:nvSpPr>
        <p:spPr>
          <a:xfrm>
            <a:off x="6883062" y="5042095"/>
            <a:ext cx="700833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solid"/>
          </a:ln>
        </p:spPr>
        <p:txBody>
          <a:bodyPr wrap="none" rtlCol="0">
            <a:spAutoFit/>
          </a:bodyPr>
          <a:lstStyle/>
          <a:p>
            <a:pPr algn="ctr"/>
            <a:r>
              <a:rPr lang="fr-FR" sz="2400" dirty="0"/>
              <a:t>20%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6B06C0D0-0834-6E71-9BC2-9DCD90C70A4B}"/>
              </a:ext>
            </a:extLst>
          </p:cNvPr>
          <p:cNvSpPr txBox="1"/>
          <p:nvPr/>
        </p:nvSpPr>
        <p:spPr>
          <a:xfrm>
            <a:off x="6883062" y="3382451"/>
            <a:ext cx="700833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solid"/>
          </a:ln>
        </p:spPr>
        <p:txBody>
          <a:bodyPr wrap="none" rtlCol="0">
            <a:spAutoFit/>
          </a:bodyPr>
          <a:lstStyle/>
          <a:p>
            <a:pPr algn="ctr"/>
            <a:r>
              <a:rPr lang="fr-FR" sz="2400" dirty="0"/>
              <a:t>80%</a:t>
            </a:r>
          </a:p>
        </p:txBody>
      </p:sp>
    </p:spTree>
    <p:extLst>
      <p:ext uri="{BB962C8B-B14F-4D97-AF65-F5344CB8AC3E}">
        <p14:creationId xmlns:p14="http://schemas.microsoft.com/office/powerpoint/2010/main" val="127200447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1AA5AE-DB34-F3A1-A66B-1E447C178D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3CDB381B-A893-3C1E-2875-08AE6CA4E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3 Modèles</a:t>
            </a:r>
            <a:br>
              <a:rPr lang="fr-FR" dirty="0"/>
            </a:br>
            <a:endParaRPr lang="fr-FR" dirty="0"/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F232812D-146C-DD71-28AC-9A2687D1AF94}"/>
              </a:ext>
            </a:extLst>
          </p:cNvPr>
          <p:cNvSpPr txBox="1"/>
          <p:nvPr/>
        </p:nvSpPr>
        <p:spPr>
          <a:xfrm>
            <a:off x="2124276" y="3097899"/>
            <a:ext cx="7943448" cy="2210701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rtlCol="0" anchor="t" anchorCtr="0">
            <a:noAutofit/>
          </a:bodyPr>
          <a:lstStyle/>
          <a:p>
            <a:pPr marL="571500" lvl="0" indent="-571500" defTabSz="16002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Font typeface="Arial" panose="020B0604020202020204" pitchFamily="34" charset="0"/>
              <a:buChar char="•"/>
            </a:pPr>
            <a:r>
              <a:rPr lang="fr-FR" sz="3600" dirty="0" err="1">
                <a:latin typeface="Aptos" panose="020B0004020202020204" pitchFamily="34" charset="0"/>
              </a:rPr>
              <a:t>Dummy</a:t>
            </a:r>
            <a:r>
              <a:rPr lang="fr-FR" sz="3600" dirty="0">
                <a:latin typeface="Aptos" panose="020B0004020202020204" pitchFamily="34" charset="0"/>
              </a:rPr>
              <a:t> (</a:t>
            </a:r>
            <a:r>
              <a:rPr lang="fr-FR" sz="3600" dirty="0" err="1">
                <a:latin typeface="Aptos" panose="020B0004020202020204" pitchFamily="34" charset="0"/>
              </a:rPr>
              <a:t>DummyClassifier</a:t>
            </a:r>
            <a:r>
              <a:rPr lang="fr-FR" sz="3600" dirty="0">
                <a:latin typeface="Aptos" panose="020B0004020202020204" pitchFamily="34" charset="0"/>
              </a:rPr>
              <a:t>)</a:t>
            </a:r>
          </a:p>
          <a:p>
            <a:pPr marL="571500" lvl="0" indent="-571500" defTabSz="16002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Font typeface="Arial" panose="020B0604020202020204" pitchFamily="34" charset="0"/>
              <a:buChar char="•"/>
            </a:pPr>
            <a:r>
              <a:rPr lang="fr-FR" sz="3600" kern="1200" noProof="0" dirty="0">
                <a:latin typeface="Aptos" panose="020B0004020202020204" pitchFamily="34" charset="0"/>
              </a:rPr>
              <a:t>Linéaire (</a:t>
            </a:r>
            <a:r>
              <a:rPr lang="fr-FR" sz="3600" kern="1200" noProof="0" dirty="0" err="1">
                <a:latin typeface="Aptos" panose="020B0004020202020204" pitchFamily="34" charset="0"/>
              </a:rPr>
              <a:t>Logistic</a:t>
            </a:r>
            <a:r>
              <a:rPr lang="fr-FR" sz="3600" kern="1200" noProof="0" dirty="0">
                <a:latin typeface="Aptos" panose="020B0004020202020204" pitchFamily="34" charset="0"/>
              </a:rPr>
              <a:t> </a:t>
            </a:r>
            <a:r>
              <a:rPr lang="fr-FR" sz="3600" kern="1200" noProof="0" dirty="0" err="1">
                <a:latin typeface="Aptos" panose="020B0004020202020204" pitchFamily="34" charset="0"/>
              </a:rPr>
              <a:t>Regression</a:t>
            </a:r>
            <a:r>
              <a:rPr lang="fr-FR" sz="3600" kern="1200" noProof="0" dirty="0">
                <a:latin typeface="Aptos" panose="020B0004020202020204" pitchFamily="34" charset="0"/>
              </a:rPr>
              <a:t>)</a:t>
            </a:r>
          </a:p>
          <a:p>
            <a:pPr marL="571500" lvl="0" indent="-571500" defTabSz="1600200" rtl="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Font typeface="Arial" panose="020B0604020202020204" pitchFamily="34" charset="0"/>
              <a:buChar char="•"/>
            </a:pPr>
            <a:r>
              <a:rPr lang="fr-FR" sz="3600" kern="1200" noProof="0" dirty="0">
                <a:latin typeface="Aptos" panose="020B0004020202020204" pitchFamily="34" charset="0"/>
              </a:rPr>
              <a:t>Non-Linéaire (</a:t>
            </a:r>
            <a:r>
              <a:rPr lang="fr-FR" sz="3600" kern="1200" noProof="0" dirty="0" err="1">
                <a:latin typeface="Aptos" panose="020B0004020202020204" pitchFamily="34" charset="0"/>
              </a:rPr>
              <a:t>XGBoost</a:t>
            </a:r>
            <a:r>
              <a:rPr lang="fr-FR" sz="3600" kern="1200" noProof="0" dirty="0">
                <a:latin typeface="Aptos" panose="020B0004020202020204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36363365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2B85A6-C554-B985-E218-D0648145CD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22E19ADB-7D25-9F9D-688B-FBDD28289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Scores des prédictions</a:t>
            </a:r>
            <a:br>
              <a:rPr lang="fr-FR" dirty="0"/>
            </a:br>
            <a:endParaRPr lang="fr-FR" dirty="0"/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CC0AA046-F89E-7038-3DA2-F69AD2A8C05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8340" t="3994"/>
          <a:stretch>
            <a:fillRect/>
          </a:stretch>
        </p:blipFill>
        <p:spPr>
          <a:xfrm>
            <a:off x="8032831" y="1041722"/>
            <a:ext cx="3495554" cy="5623204"/>
          </a:xfrm>
          <a:prstGeom prst="rect">
            <a:avLst/>
          </a:prstGeom>
        </p:spPr>
      </p:pic>
      <p:sp>
        <p:nvSpPr>
          <p:cNvPr id="15" name="ZoneTexte 14">
            <a:extLst>
              <a:ext uri="{FF2B5EF4-FFF2-40B4-BE49-F238E27FC236}">
                <a16:creationId xmlns:a16="http://schemas.microsoft.com/office/drawing/2014/main" id="{450D4EE1-B858-8730-B3ED-351A17A1C8BF}"/>
              </a:ext>
            </a:extLst>
          </p:cNvPr>
          <p:cNvSpPr txBox="1"/>
          <p:nvPr/>
        </p:nvSpPr>
        <p:spPr>
          <a:xfrm>
            <a:off x="1333598" y="2795812"/>
            <a:ext cx="3495554" cy="2789258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rtlCol="0" anchor="t" anchorCtr="0">
            <a:noAutofit/>
          </a:bodyPr>
          <a:lstStyle/>
          <a:p>
            <a:pPr marL="571500" lvl="0" indent="-571500" defTabSz="16002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Font typeface="Arial" panose="020B0604020202020204" pitchFamily="34" charset="0"/>
              <a:buChar char="•"/>
            </a:pPr>
            <a:r>
              <a:rPr lang="fr-FR" sz="3600" dirty="0" err="1">
                <a:latin typeface="Aptos" panose="020B0004020202020204" pitchFamily="34" charset="0"/>
              </a:rPr>
              <a:t>Accuracy</a:t>
            </a:r>
            <a:endParaRPr lang="fr-FR" sz="3600" dirty="0">
              <a:latin typeface="Aptos" panose="020B0004020202020204" pitchFamily="34" charset="0"/>
            </a:endParaRPr>
          </a:p>
          <a:p>
            <a:pPr marL="571500" lvl="0" indent="-571500" defTabSz="16002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Font typeface="Arial" panose="020B0604020202020204" pitchFamily="34" charset="0"/>
              <a:buChar char="•"/>
            </a:pPr>
            <a:r>
              <a:rPr lang="fr-FR" sz="3600" kern="1200" noProof="0" dirty="0" err="1">
                <a:latin typeface="Aptos" panose="020B0004020202020204" pitchFamily="34" charset="0"/>
              </a:rPr>
              <a:t>Precision</a:t>
            </a:r>
            <a:endParaRPr lang="fr-FR" sz="3600" kern="1200" noProof="0" dirty="0">
              <a:latin typeface="Aptos" panose="020B0004020202020204" pitchFamily="34" charset="0"/>
            </a:endParaRPr>
          </a:p>
          <a:p>
            <a:pPr marL="571500" lvl="0" indent="-571500" defTabSz="1600200" rtl="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Font typeface="Arial" panose="020B0604020202020204" pitchFamily="34" charset="0"/>
              <a:buChar char="•"/>
            </a:pPr>
            <a:r>
              <a:rPr lang="fr-FR" sz="3600" kern="1200" noProof="0" dirty="0" err="1">
                <a:latin typeface="Aptos" panose="020B0004020202020204" pitchFamily="34" charset="0"/>
              </a:rPr>
              <a:t>Recall</a:t>
            </a:r>
            <a:endParaRPr lang="fr-FR" sz="3600" dirty="0">
              <a:latin typeface="Aptos" panose="020B0004020202020204" pitchFamily="34" charset="0"/>
            </a:endParaRPr>
          </a:p>
          <a:p>
            <a:pPr marL="571500" lvl="0" indent="-571500" defTabSz="1600200" rtl="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Font typeface="Arial" panose="020B0604020202020204" pitchFamily="34" charset="0"/>
              <a:buChar char="•"/>
            </a:pPr>
            <a:r>
              <a:rPr lang="fr-FR" sz="3600" dirty="0">
                <a:latin typeface="Aptos" panose="020B0004020202020204" pitchFamily="34" charset="0"/>
              </a:rPr>
              <a:t>AUC</a:t>
            </a:r>
            <a:endParaRPr lang="fr-FR" sz="3600" kern="1200" noProof="0" dirty="0">
              <a:latin typeface="Aptos" panose="020B0004020202020204" pitchFamily="34" charset="0"/>
            </a:endParaRPr>
          </a:p>
        </p:txBody>
      </p:sp>
      <p:sp>
        <p:nvSpPr>
          <p:cNvPr id="2" name="Accolade fermante 1">
            <a:extLst>
              <a:ext uri="{FF2B5EF4-FFF2-40B4-BE49-F238E27FC236}">
                <a16:creationId xmlns:a16="http://schemas.microsoft.com/office/drawing/2014/main" id="{237B8867-8A61-38DE-2028-96FBC5D9BFE7}"/>
              </a:ext>
            </a:extLst>
          </p:cNvPr>
          <p:cNvSpPr/>
          <p:nvPr/>
        </p:nvSpPr>
        <p:spPr>
          <a:xfrm>
            <a:off x="3995771" y="3476869"/>
            <a:ext cx="486136" cy="1216214"/>
          </a:xfrm>
          <a:prstGeom prst="rightBrace">
            <a:avLst>
              <a:gd name="adj1" fmla="val 32143"/>
              <a:gd name="adj2" fmla="val 50000"/>
            </a:avLst>
          </a:prstGeom>
          <a:ln w="666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0B15544F-A99F-8F1E-1A3E-EB80FF503D22}"/>
              </a:ext>
            </a:extLst>
          </p:cNvPr>
          <p:cNvSpPr txBox="1"/>
          <p:nvPr/>
        </p:nvSpPr>
        <p:spPr>
          <a:xfrm>
            <a:off x="4667345" y="3704262"/>
            <a:ext cx="2857309" cy="7614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defTabSz="1600200" rtl="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fr-FR" sz="4800" kern="1200" noProof="0" dirty="0">
                <a:latin typeface="Aptos" panose="020B0004020202020204" pitchFamily="34" charset="0"/>
              </a:rPr>
              <a:t>F1-Score</a:t>
            </a:r>
          </a:p>
        </p:txBody>
      </p:sp>
    </p:spTree>
    <p:extLst>
      <p:ext uri="{BB962C8B-B14F-4D97-AF65-F5344CB8AC3E}">
        <p14:creationId xmlns:p14="http://schemas.microsoft.com/office/powerpoint/2010/main" val="269293263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DF2BF7-3C40-7C81-EEC4-07D006A9E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008166C5-E95B-FBF8-838E-6797E5EA6A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Enchainement des entrainements / Prédictions</a:t>
            </a:r>
            <a:br>
              <a:rPr lang="fr-FR" dirty="0"/>
            </a:br>
            <a:endParaRPr lang="fr-FR" dirty="0"/>
          </a:p>
        </p:txBody>
      </p:sp>
      <p:grpSp>
        <p:nvGrpSpPr>
          <p:cNvPr id="9" name="Groupe 8">
            <a:extLst>
              <a:ext uri="{FF2B5EF4-FFF2-40B4-BE49-F238E27FC236}">
                <a16:creationId xmlns:a16="http://schemas.microsoft.com/office/drawing/2014/main" id="{50802B0C-359D-ED3A-069D-327B85A7CC2B}"/>
              </a:ext>
            </a:extLst>
          </p:cNvPr>
          <p:cNvGrpSpPr/>
          <p:nvPr/>
        </p:nvGrpSpPr>
        <p:grpSpPr>
          <a:xfrm>
            <a:off x="4387346" y="2040296"/>
            <a:ext cx="3635953" cy="1528826"/>
            <a:chOff x="1487405" y="3074098"/>
            <a:chExt cx="3635953" cy="1528826"/>
          </a:xfrm>
        </p:grpSpPr>
        <p:sp>
          <p:nvSpPr>
            <p:cNvPr id="5" name="ZoneTexte 4">
              <a:extLst>
                <a:ext uri="{FF2B5EF4-FFF2-40B4-BE49-F238E27FC236}">
                  <a16:creationId xmlns:a16="http://schemas.microsoft.com/office/drawing/2014/main" id="{870C4CC7-4FA6-AF29-70EB-ECEBFD20D22F}"/>
                </a:ext>
              </a:extLst>
            </p:cNvPr>
            <p:cNvSpPr txBox="1"/>
            <p:nvPr/>
          </p:nvSpPr>
          <p:spPr>
            <a:xfrm rot="16200000">
              <a:off x="2125883" y="3695331"/>
              <a:ext cx="1528825" cy="2863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425"/>
                </a:lnSpc>
                <a:buNone/>
              </a:pPr>
              <a:r>
                <a:rPr lang="fr-FR" b="0" dirty="0">
                  <a:solidFill>
                    <a:srgbClr val="4EC9B0"/>
                  </a:solidFill>
                  <a:effectLst/>
                  <a:latin typeface="Consolas" panose="020B0609020204030204" pitchFamily="49" charset="0"/>
                </a:rPr>
                <a:t>Résultat 2</a:t>
              </a:r>
              <a:endParaRPr lang="fr-FR" b="0" dirty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</p:txBody>
        </p: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0CBA7137-F83F-A807-F8A3-5BA3169B7A1B}"/>
                </a:ext>
              </a:extLst>
            </p:cNvPr>
            <p:cNvSpPr txBox="1"/>
            <p:nvPr/>
          </p:nvSpPr>
          <p:spPr>
            <a:xfrm rot="16200000">
              <a:off x="866172" y="3695331"/>
              <a:ext cx="1528825" cy="2863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425"/>
                </a:lnSpc>
                <a:buNone/>
              </a:pPr>
              <a:r>
                <a:rPr lang="fr-FR" b="0" dirty="0">
                  <a:solidFill>
                    <a:srgbClr val="4EC9B0"/>
                  </a:solidFill>
                  <a:effectLst/>
                  <a:latin typeface="Consolas" panose="020B0609020204030204" pitchFamily="49" charset="0"/>
                </a:rPr>
                <a:t>Résultat 1</a:t>
              </a:r>
              <a:endParaRPr lang="fr-FR" b="0" dirty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254C891F-6444-8EC7-DF3E-ECF5DD1EBD77}"/>
                </a:ext>
              </a:extLst>
            </p:cNvPr>
            <p:cNvSpPr txBox="1"/>
            <p:nvPr/>
          </p:nvSpPr>
          <p:spPr>
            <a:xfrm rot="16200000">
              <a:off x="3242414" y="3695332"/>
              <a:ext cx="1528825" cy="2863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425"/>
                </a:lnSpc>
                <a:buNone/>
              </a:pPr>
              <a:r>
                <a:rPr lang="fr-FR" b="0" dirty="0">
                  <a:solidFill>
                    <a:srgbClr val="4EC9B0"/>
                  </a:solidFill>
                  <a:effectLst/>
                  <a:latin typeface="Consolas" panose="020B0609020204030204" pitchFamily="49" charset="0"/>
                </a:rPr>
                <a:t>Résultat 3</a:t>
              </a:r>
              <a:endParaRPr lang="fr-FR" b="0" dirty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8B792DA2-C4DF-AE3A-BF73-115532FA32FC}"/>
                </a:ext>
              </a:extLst>
            </p:cNvPr>
            <p:cNvSpPr txBox="1"/>
            <p:nvPr/>
          </p:nvSpPr>
          <p:spPr>
            <a:xfrm rot="16200000">
              <a:off x="4215765" y="3695332"/>
              <a:ext cx="1528825" cy="2863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425"/>
                </a:lnSpc>
                <a:buNone/>
              </a:pPr>
              <a:r>
                <a:rPr lang="fr-FR" b="0" dirty="0">
                  <a:solidFill>
                    <a:srgbClr val="4EC9B0"/>
                  </a:solidFill>
                  <a:effectLst/>
                  <a:latin typeface="Consolas" panose="020B0609020204030204" pitchFamily="49" charset="0"/>
                </a:rPr>
                <a:t>Résultat X</a:t>
              </a:r>
              <a:endParaRPr lang="fr-FR" b="0" dirty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</p:txBody>
        </p:sp>
      </p:grpSp>
      <p:sp>
        <p:nvSpPr>
          <p:cNvPr id="12" name="Flèche : bas 11">
            <a:extLst>
              <a:ext uri="{FF2B5EF4-FFF2-40B4-BE49-F238E27FC236}">
                <a16:creationId xmlns:a16="http://schemas.microsoft.com/office/drawing/2014/main" id="{68993A9D-717A-12F6-F15D-4576161A6357}"/>
              </a:ext>
            </a:extLst>
          </p:cNvPr>
          <p:cNvSpPr/>
          <p:nvPr/>
        </p:nvSpPr>
        <p:spPr>
          <a:xfrm>
            <a:off x="4305782" y="3569122"/>
            <a:ext cx="367923" cy="44729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7A338320-DFC6-FFA8-302D-C94CB849CF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9015" y="4425470"/>
            <a:ext cx="7381197" cy="1583761"/>
          </a:xfrm>
          <a:prstGeom prst="rect">
            <a:avLst/>
          </a:prstGeom>
          <a:ln w="38100" cap="sq">
            <a:solidFill>
              <a:srgbClr val="00B05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0149C1B1-9D5F-17DA-9A46-BDF6CB0C3B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6615" y="4273070"/>
            <a:ext cx="7381197" cy="1583761"/>
          </a:xfrm>
          <a:prstGeom prst="rect">
            <a:avLst/>
          </a:prstGeom>
          <a:ln w="38100" cap="sq">
            <a:solidFill>
              <a:srgbClr val="00B05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C005AFF5-3C6D-FA6B-C11C-D8AF59FBC0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4215" y="4120670"/>
            <a:ext cx="7381197" cy="1583761"/>
          </a:xfrm>
          <a:prstGeom prst="rect">
            <a:avLst/>
          </a:prstGeom>
          <a:ln w="38100" cap="sq">
            <a:solidFill>
              <a:srgbClr val="00B05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8531E59A-513A-BB3B-06A5-5196AFE50910}"/>
              </a:ext>
            </a:extLst>
          </p:cNvPr>
          <p:cNvSpPr txBox="1"/>
          <p:nvPr/>
        </p:nvSpPr>
        <p:spPr>
          <a:xfrm>
            <a:off x="581193" y="4273070"/>
            <a:ext cx="192297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BaseTrain</a:t>
            </a:r>
            <a:endParaRPr lang="fr-FR" b="0" dirty="0">
              <a:solidFill>
                <a:srgbClr val="4EC9B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fr-FR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 &gt; Train #1</a:t>
            </a:r>
          </a:p>
          <a:p>
            <a:pPr>
              <a:buNone/>
            </a:pPr>
            <a:r>
              <a:rPr lang="fr-FR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 &gt; Train</a:t>
            </a:r>
            <a:r>
              <a:rPr lang="fr-FR" dirty="0">
                <a:solidFill>
                  <a:srgbClr val="4EC9B0"/>
                </a:solidFill>
                <a:latin typeface="Consolas" panose="020B0609020204030204" pitchFamily="49" charset="0"/>
              </a:rPr>
              <a:t> #</a:t>
            </a:r>
            <a:r>
              <a:rPr lang="fr-FR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>
              <a:buNone/>
            </a:pPr>
            <a:r>
              <a:rPr lang="fr-FR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 &gt; </a:t>
            </a:r>
            <a:r>
              <a:rPr lang="fr-FR" dirty="0">
                <a:solidFill>
                  <a:srgbClr val="4EC9B0"/>
                </a:solidFill>
                <a:latin typeface="Consolas" panose="020B0609020204030204" pitchFamily="49" charset="0"/>
              </a:rPr>
              <a:t>Train #3</a:t>
            </a:r>
          </a:p>
          <a:p>
            <a:pPr>
              <a:buNone/>
            </a:pPr>
            <a:r>
              <a:rPr lang="fr-FR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 &gt; </a:t>
            </a:r>
            <a:r>
              <a:rPr lang="fr-FR" dirty="0">
                <a:solidFill>
                  <a:srgbClr val="4EC9B0"/>
                </a:solidFill>
                <a:latin typeface="Consolas" panose="020B0609020204030204" pitchFamily="49" charset="0"/>
              </a:rPr>
              <a:t>…</a:t>
            </a:r>
            <a:endParaRPr lang="fr-FR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546663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A05D3B-0697-8881-DD44-C5B199592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7D87583A-7B83-FFD0-591B-CDA40F54D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Passes</a:t>
            </a:r>
            <a:br>
              <a:rPr lang="fr-FR" dirty="0"/>
            </a:br>
            <a:endParaRPr lang="fr-FR" dirty="0"/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EF687F8C-D650-B11B-CA56-E70ECE8917EF}"/>
              </a:ext>
            </a:extLst>
          </p:cNvPr>
          <p:cNvSpPr txBox="1"/>
          <p:nvPr/>
        </p:nvSpPr>
        <p:spPr>
          <a:xfrm>
            <a:off x="1947963" y="2663190"/>
            <a:ext cx="8753274" cy="3115463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rtlCol="0" anchor="t" anchorCtr="0">
            <a:noAutofit/>
          </a:bodyPr>
          <a:lstStyle/>
          <a:p>
            <a:pPr marL="742950" lvl="0" indent="-742950" defTabSz="16002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Font typeface="+mj-lt"/>
              <a:buAutoNum type="arabicPeriod"/>
            </a:pPr>
            <a:r>
              <a:rPr lang="fr-FR" sz="36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ptos" panose="020B0004020202020204" pitchFamily="34" charset="0"/>
              </a:rPr>
              <a:t>Entrainement Initial</a:t>
            </a:r>
          </a:p>
          <a:p>
            <a:pPr marL="742950" lvl="0" indent="-742950" defTabSz="16002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Font typeface="+mj-lt"/>
              <a:buAutoNum type="arabicPeriod"/>
            </a:pPr>
            <a:r>
              <a:rPr lang="fr-FR" sz="3600" kern="1200" noProof="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ptos" panose="020B0004020202020204" pitchFamily="34" charset="0"/>
              </a:rPr>
              <a:t>Features</a:t>
            </a:r>
            <a:r>
              <a:rPr lang="fr-FR" sz="3600" kern="1200" noProof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ptos" panose="020B0004020202020204" pitchFamily="34" charset="0"/>
              </a:rPr>
              <a:t> </a:t>
            </a:r>
            <a:r>
              <a:rPr lang="fr-FR" sz="3600" kern="1200" noProof="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ptos" panose="020B0004020202020204" pitchFamily="34" charset="0"/>
              </a:rPr>
              <a:t>enginering</a:t>
            </a:r>
            <a:endParaRPr lang="fr-FR" sz="3600" kern="1200" noProof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ptos" panose="020B0004020202020204" pitchFamily="34" charset="0"/>
            </a:endParaRPr>
          </a:p>
          <a:p>
            <a:pPr marL="742950" lvl="0" indent="-742950" defTabSz="16002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Font typeface="+mj-lt"/>
              <a:buAutoNum type="arabicPeriod"/>
            </a:pPr>
            <a:r>
              <a:rPr lang="fr-FR" sz="360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ptos" panose="020B0004020202020204" pitchFamily="34" charset="0"/>
              </a:rPr>
              <a:t>Scaling</a:t>
            </a:r>
            <a:endParaRPr lang="fr-FR" sz="3600" kern="1200" noProof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ptos" panose="020B0004020202020204" pitchFamily="34" charset="0"/>
            </a:endParaRPr>
          </a:p>
          <a:p>
            <a:pPr marL="742950" lvl="0" indent="-742950" defTabSz="1600200" rtl="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Font typeface="+mj-lt"/>
              <a:buAutoNum type="arabicPeriod"/>
            </a:pPr>
            <a:r>
              <a:rPr lang="fr-FR" sz="3600" kern="1200" noProof="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ptos" panose="020B0004020202020204" pitchFamily="34" charset="0"/>
              </a:rPr>
              <a:t>Hyper-Paramètres</a:t>
            </a:r>
            <a:endParaRPr lang="fr-FR" sz="3600" kern="1200" noProof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ptos" panose="020B0004020202020204" pitchFamily="34" charset="0"/>
            </a:endParaRPr>
          </a:p>
          <a:p>
            <a:pPr marL="742950" lvl="0" indent="-742950" defTabSz="1600200" rtl="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Font typeface="+mj-lt"/>
              <a:buAutoNum type="arabicPeriod"/>
            </a:pPr>
            <a:r>
              <a:rPr lang="fr-FR" sz="3600" kern="1200" noProof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ptos" panose="020B0004020202020204" pitchFamily="34" charset="0"/>
              </a:rPr>
              <a:t>Recherche du seuil optimal (F1-Score)</a:t>
            </a:r>
          </a:p>
        </p:txBody>
      </p:sp>
    </p:spTree>
    <p:extLst>
      <p:ext uri="{BB962C8B-B14F-4D97-AF65-F5344CB8AC3E}">
        <p14:creationId xmlns:p14="http://schemas.microsoft.com/office/powerpoint/2010/main" val="104537546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81E41C-1636-12A3-0A35-A041995620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B91C64A8-7F0D-3199-816E-1C1EF6A83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EVALUATION Finale</a:t>
            </a:r>
            <a:br>
              <a:rPr lang="fr-FR" dirty="0"/>
            </a:br>
            <a:endParaRPr lang="fr-FR" dirty="0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0FD5DA50-FE06-C4AC-01D3-5DF6FB1BF3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4687" y="1970111"/>
            <a:ext cx="8182626" cy="48878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63156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47A2D6-CBB2-4579-2311-CE675DCE2F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C2003356-66FB-93DE-47CB-666EE7B46E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EVALUATION Finale</a:t>
            </a:r>
            <a:br>
              <a:rPr lang="fr-FR" dirty="0"/>
            </a:b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09082FCE-0D47-E676-68D4-3769E05943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9450" y="1871019"/>
            <a:ext cx="8173100" cy="4858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169104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B5C10B-C384-CCD5-8EC6-5BE4509C8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323C88F-5C5F-DFC8-3D64-A12EB55A8D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3213862"/>
            <a:ext cx="11029616" cy="1013800"/>
          </a:xfrm>
        </p:spPr>
        <p:txBody>
          <a:bodyPr>
            <a:normAutofit/>
          </a:bodyPr>
          <a:lstStyle/>
          <a:p>
            <a:pPr algn="ctr"/>
            <a:r>
              <a:rPr lang="fr-FR" sz="6000" dirty="0">
                <a:solidFill>
                  <a:schemeClr val="tx1"/>
                </a:solidFill>
              </a:rPr>
              <a:t>Bilan</a:t>
            </a:r>
          </a:p>
        </p:txBody>
      </p:sp>
    </p:spTree>
    <p:extLst>
      <p:ext uri="{BB962C8B-B14F-4D97-AF65-F5344CB8AC3E}">
        <p14:creationId xmlns:p14="http://schemas.microsoft.com/office/powerpoint/2010/main" val="33564895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194F0A-57FF-E66A-33A8-5E5922D4CD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06022CBF-309D-1A58-AF11-BAD873A5C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EVALUATION Finale</a:t>
            </a:r>
            <a:br>
              <a:rPr lang="fr-FR" dirty="0"/>
            </a:br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75E44E83-82B1-8472-570C-FA15AE994CB0}"/>
              </a:ext>
            </a:extLst>
          </p:cNvPr>
          <p:cNvSpPr txBox="1"/>
          <p:nvPr/>
        </p:nvSpPr>
        <p:spPr>
          <a:xfrm>
            <a:off x="4123479" y="5292354"/>
            <a:ext cx="3945041" cy="1117238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rtlCol="0" anchor="t" anchorCtr="0">
            <a:noAutofit/>
          </a:bodyPr>
          <a:lstStyle/>
          <a:p>
            <a:pPr marL="0" lvl="0" indent="0" algn="ctr" defTabSz="1600200" rtl="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3600" kern="1200" noProof="0" dirty="0"/>
              <a:t>Interprétation des résultats du modèle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CE22F050-3B23-2B96-FF61-CF3C6C7AB7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6925" y="2521057"/>
            <a:ext cx="8124585" cy="2250967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0A9ED9EE-78D9-AD38-5898-1B7207948B27}"/>
              </a:ext>
            </a:extLst>
          </p:cNvPr>
          <p:cNvSpPr/>
          <p:nvPr/>
        </p:nvSpPr>
        <p:spPr>
          <a:xfrm>
            <a:off x="2343150" y="3643313"/>
            <a:ext cx="2286000" cy="426556"/>
          </a:xfrm>
          <a:prstGeom prst="rect">
            <a:avLst/>
          </a:prstGeom>
          <a:noFill/>
          <a:ln w="762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3525A5F-63BC-3C7A-E69E-33CB93D6419A}"/>
              </a:ext>
            </a:extLst>
          </p:cNvPr>
          <p:cNvSpPr/>
          <p:nvPr/>
        </p:nvSpPr>
        <p:spPr>
          <a:xfrm>
            <a:off x="7267575" y="3636482"/>
            <a:ext cx="819150" cy="426556"/>
          </a:xfrm>
          <a:prstGeom prst="rect">
            <a:avLst/>
          </a:prstGeom>
          <a:noFill/>
          <a:ln w="762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F6CC60E-B23E-2C8D-A0E0-785823DE469C}"/>
              </a:ext>
            </a:extLst>
          </p:cNvPr>
          <p:cNvSpPr/>
          <p:nvPr/>
        </p:nvSpPr>
        <p:spPr>
          <a:xfrm>
            <a:off x="9006210" y="3636482"/>
            <a:ext cx="819150" cy="426556"/>
          </a:xfrm>
          <a:prstGeom prst="rect">
            <a:avLst/>
          </a:prstGeom>
          <a:noFill/>
          <a:ln w="762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0761832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Image 12">
            <a:extLst>
              <a:ext uri="{FF2B5EF4-FFF2-40B4-BE49-F238E27FC236}">
                <a16:creationId xmlns:a16="http://schemas.microsoft.com/office/drawing/2014/main" id="{DF79E957-64BC-68E8-4D7E-E470CC7A00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1571" y="1813480"/>
            <a:ext cx="4679944" cy="3689695"/>
          </a:xfrm>
          <a:prstGeom prst="rect">
            <a:avLst/>
          </a:prstGeom>
        </p:spPr>
      </p:pic>
      <p:sp>
        <p:nvSpPr>
          <p:cNvPr id="8" name="Titre 3">
            <a:extLst>
              <a:ext uri="{FF2B5EF4-FFF2-40B4-BE49-F238E27FC236}">
                <a16:creationId xmlns:a16="http://schemas.microsoft.com/office/drawing/2014/main" id="{18EB53AB-FFA5-379A-BD6D-C07E347591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fr-FR" b="1" dirty="0"/>
              <a:t>EVALUATION Finale</a:t>
            </a:r>
            <a:br>
              <a:rPr lang="fr-FR" dirty="0"/>
            </a:br>
            <a:endParaRPr lang="fr-FR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B23442C-8924-96D4-D2CA-ED1037924F10}"/>
              </a:ext>
            </a:extLst>
          </p:cNvPr>
          <p:cNvSpPr txBox="1"/>
          <p:nvPr/>
        </p:nvSpPr>
        <p:spPr>
          <a:xfrm>
            <a:off x="7854733" y="5600700"/>
            <a:ext cx="202386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dirty="0"/>
              <a:t>0 = Négatif = Reste </a:t>
            </a:r>
          </a:p>
          <a:p>
            <a:pPr algn="ctr"/>
            <a:r>
              <a:rPr lang="fr-FR" dirty="0"/>
              <a:t>1 = Positif = Quitte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2BD9D254-866B-4EED-77BA-236DFA7035F1}"/>
              </a:ext>
            </a:extLst>
          </p:cNvPr>
          <p:cNvSpPr txBox="1"/>
          <p:nvPr/>
        </p:nvSpPr>
        <p:spPr>
          <a:xfrm>
            <a:off x="7854732" y="5148958"/>
            <a:ext cx="2023865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fr-FR" dirty="0"/>
              <a:t>Val. Prédit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C8D4581A-AF1C-A722-0BC1-54730DFD4D46}"/>
              </a:ext>
            </a:extLst>
          </p:cNvPr>
          <p:cNvSpPr txBox="1"/>
          <p:nvPr/>
        </p:nvSpPr>
        <p:spPr>
          <a:xfrm rot="16200000">
            <a:off x="6219992" y="3574812"/>
            <a:ext cx="2023865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fr-FR" dirty="0"/>
              <a:t>Val. Réelle</a:t>
            </a: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127E5663-589D-6D7D-D4E3-266B496670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192" y="2290603"/>
            <a:ext cx="5822990" cy="3038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273594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5402F-471B-553A-AB43-A1D1DD523F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40546A46-5AAF-8FDA-AD9D-22B8418F97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EVALUATION Finale</a:t>
            </a:r>
            <a:br>
              <a:rPr lang="fr-FR" dirty="0"/>
            </a:b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CB154B68-022E-788C-02E9-1F6A6C998B4F}"/>
              </a:ext>
            </a:extLst>
          </p:cNvPr>
          <p:cNvSpPr txBox="1"/>
          <p:nvPr/>
        </p:nvSpPr>
        <p:spPr>
          <a:xfrm>
            <a:off x="6982788" y="3429000"/>
            <a:ext cx="4812176" cy="657936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rtlCol="0" anchor="t" anchorCtr="0">
            <a:noAutofit/>
          </a:bodyPr>
          <a:lstStyle/>
          <a:p>
            <a:pPr marL="0" lvl="0" indent="0" algn="ctr" defTabSz="1600200" rtl="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3600" kern="1200" noProof="0" dirty="0" err="1"/>
              <a:t>Features</a:t>
            </a:r>
            <a:r>
              <a:rPr lang="fr-FR" sz="3600" kern="1200" noProof="0" dirty="0"/>
              <a:t> Importances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AA601D0E-E615-D908-58AF-46253D7D8E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8688" y="1527968"/>
            <a:ext cx="5937160" cy="4789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492219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0BBB5A-7956-3D8B-A575-8040EE35CB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8777ED1F-0C09-3194-C9FC-0D653287A8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EVALUATION Finale</a:t>
            </a:r>
            <a:br>
              <a:rPr lang="fr-FR" dirty="0"/>
            </a:br>
            <a:endParaRPr lang="fr-FR" dirty="0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2297735-EBFF-BFB5-3925-434E790ED85A}"/>
              </a:ext>
            </a:extLst>
          </p:cNvPr>
          <p:cNvSpPr txBox="1"/>
          <p:nvPr/>
        </p:nvSpPr>
        <p:spPr>
          <a:xfrm>
            <a:off x="299495" y="2000731"/>
            <a:ext cx="1159301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 lang="fr-FR" dirty="0"/>
          </a:p>
          <a:p>
            <a:pPr algn="ctr"/>
            <a:r>
              <a:rPr lang="fr-FR" b="1" dirty="0"/>
              <a:t>La combinaison :</a:t>
            </a:r>
          </a:p>
          <a:p>
            <a:pPr algn="ctr"/>
            <a:r>
              <a:rPr lang="fr-FR" dirty="0"/>
              <a:t>salaire bas + heures supplémentaires + distance domicile travail + nombre de participations PEE</a:t>
            </a:r>
          </a:p>
          <a:p>
            <a:pPr algn="ctr"/>
            <a:r>
              <a:rPr lang="fr-FR" dirty="0"/>
              <a:t>joue un rôle de pression au travail qui n’est pas récompensé par le salaire</a:t>
            </a:r>
          </a:p>
          <a:p>
            <a:pPr algn="ctr"/>
            <a:endParaRPr lang="fr-FR" dirty="0"/>
          </a:p>
          <a:p>
            <a:pPr algn="ctr"/>
            <a:endParaRPr lang="fr-FR" dirty="0"/>
          </a:p>
          <a:p>
            <a:pPr algn="ctr"/>
            <a:r>
              <a:rPr lang="fr-FR" b="1" dirty="0"/>
              <a:t>Les postes les plus touchés sont : 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fr-FR" sz="18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Représentant Commercial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fr-FR" sz="18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Consultant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fr-FR" sz="18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Ressources Humaines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endParaRPr lang="fr-FR" dirty="0"/>
          </a:p>
          <a:p>
            <a:pPr marL="171450" indent="-171450" algn="ctr">
              <a:buFont typeface="Arial" panose="020B0604020202020204" pitchFamily="34" charset="0"/>
              <a:buChar char="•"/>
            </a:pPr>
            <a:endParaRPr lang="fr-FR" dirty="0"/>
          </a:p>
          <a:p>
            <a:pPr algn="ctr"/>
            <a:r>
              <a:rPr lang="fr-FR" dirty="0"/>
              <a:t>Le modèle est cohérent avec l’analyse préliminaire des données</a:t>
            </a:r>
          </a:p>
          <a:p>
            <a:pPr algn="ctr"/>
            <a:r>
              <a:rPr lang="fr-FR" dirty="0"/>
              <a:t>Cependant, le modèle est loin d’être parfait avec beaucoup de prédictions incorrectes</a:t>
            </a:r>
          </a:p>
          <a:p>
            <a:pPr algn="ctr"/>
            <a:r>
              <a:rPr lang="fr-FR" dirty="0"/>
              <a:t>Les données n’expliquent pas tout mais donne une tendance localisée</a:t>
            </a:r>
          </a:p>
        </p:txBody>
      </p:sp>
    </p:spTree>
    <p:extLst>
      <p:ext uri="{BB962C8B-B14F-4D97-AF65-F5344CB8AC3E}">
        <p14:creationId xmlns:p14="http://schemas.microsoft.com/office/powerpoint/2010/main" val="214750062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18B833-405A-98C1-A288-499D9175B8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 28">
            <a:extLst>
              <a:ext uri="{FF2B5EF4-FFF2-40B4-BE49-F238E27FC236}">
                <a16:creationId xmlns:a16="http://schemas.microsoft.com/office/drawing/2014/main" id="{093C1BDC-2C05-BF86-B68A-94D066C592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6712"/>
            <a:ext cx="12192000" cy="632128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9571379-3E20-69F7-9628-23ADBCDE36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5141CCC8-361F-2DEE-6A82-B39F954F7C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5264487"/>
            <a:ext cx="11029616" cy="718870"/>
          </a:xfrm>
        </p:spPr>
        <p:txBody>
          <a:bodyPr rtlCol="0">
            <a:normAutofit/>
          </a:bodyPr>
          <a:lstStyle/>
          <a:p>
            <a:pPr rtl="0"/>
            <a:r>
              <a:rPr lang="fr-FR" dirty="0">
                <a:solidFill>
                  <a:srgbClr val="FFFEFF"/>
                </a:solidFill>
              </a:rPr>
              <a:t>Ce qu’il faut changer pour réduire les démissions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269AD7A6-C290-ACEC-8A86-EABD7A5787B8}"/>
              </a:ext>
            </a:extLst>
          </p:cNvPr>
          <p:cNvSpPr txBox="1"/>
          <p:nvPr/>
        </p:nvSpPr>
        <p:spPr>
          <a:xfrm rot="16200000">
            <a:off x="-1196934" y="2450379"/>
            <a:ext cx="392091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400" dirty="0" err="1"/>
              <a:t>Counterfactuals</a:t>
            </a:r>
            <a:endParaRPr lang="fr-FR" sz="4400" dirty="0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8524568F-AD33-3E82-601D-70507A946E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4512" y="788128"/>
            <a:ext cx="9422651" cy="4626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204168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79F11E2-8BA5-4C5C-AE7C-361E5EA011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sp>
        <p:nvSpPr>
          <p:cNvPr id="12" name="Rectangle 11">
            <a:extLst>
              <a:ext uri="{FF2B5EF4-FFF2-40B4-BE49-F238E27FC236}">
                <a16:creationId xmlns:a16="http://schemas.microsoft.com/office/drawing/2014/main" id="{7C00E1DA-EC7C-40FC-95E3-11FDCD2E42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723899"/>
            <a:ext cx="3703320" cy="566666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grpSp>
        <p:nvGrpSpPr>
          <p:cNvPr id="14" name="Groupe 13">
            <a:extLst>
              <a:ext uri="{FF2B5EF4-FFF2-40B4-BE49-F238E27FC236}">
                <a16:creationId xmlns:a16="http://schemas.microsoft.com/office/drawing/2014/main" id="{9A421166-2996-41A7-B094-AE5316F347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46534" y="453643"/>
            <a:ext cx="11298933" cy="98554"/>
            <a:chOff x="446534" y="453643"/>
            <a:chExt cx="11298933" cy="98554"/>
          </a:xfrm>
        </p:grpSpPr>
        <p:sp>
          <p:nvSpPr>
            <p:cNvPr id="15" name="Rectangle 14">
              <a:extLst>
                <a:ext uri="{FF2B5EF4-FFF2-40B4-BE49-F238E27FC236}">
                  <a16:creationId xmlns:a16="http://schemas.microsoft.com/office/drawing/2014/main" id="{FDBB1B92-A3EB-43E4-8FAB-D20E8ED14C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6534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16" name="Rectangle 15">
              <a:extLst>
                <a:ext uri="{FF2B5EF4-FFF2-40B4-BE49-F238E27FC236}">
                  <a16:creationId xmlns:a16="http://schemas.microsoft.com/office/drawing/2014/main" id="{3F3972F4-FE7E-48EA-AAD8-9BE5750A66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042147" y="453643"/>
              <a:ext cx="3703320" cy="98554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221614E5-870B-4D5E-A43B-8FF7E53234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0F87E73C-2B1A-4602-BFBE-CFE1E55D9B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296275" y="1419226"/>
            <a:ext cx="3081576" cy="1746762"/>
          </a:xfrm>
        </p:spPr>
        <p:txBody>
          <a:bodyPr rtlCol="0">
            <a:normAutofit/>
          </a:bodyPr>
          <a:lstStyle/>
          <a:p>
            <a:pPr rtl="0"/>
            <a:r>
              <a:rPr lang="fr-FR">
                <a:solidFill>
                  <a:srgbClr val="FFFFFF"/>
                </a:solidFill>
              </a:rPr>
              <a:t>Merci</a:t>
            </a:r>
          </a:p>
        </p:txBody>
      </p:sp>
      <p:pic>
        <p:nvPicPr>
          <p:cNvPr id="5" name="Image 4" descr="Valeurs numériques">
            <a:extLst>
              <a:ext uri="{FF2B5EF4-FFF2-40B4-BE49-F238E27FC236}">
                <a16:creationId xmlns:a16="http://schemas.microsoft.com/office/drawing/2014/main" id="{A21EA617-6D48-425F-97A8-7FEC82C8F401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2189" r="9642" b="1"/>
          <a:stretch/>
        </p:blipFill>
        <p:spPr>
          <a:xfrm>
            <a:off x="446534" y="723899"/>
            <a:ext cx="7498616" cy="5676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347425"/>
      </p:ext>
    </p:extLst>
  </p:cSld>
  <p:clrMapOvr>
    <a:masterClrMapping/>
  </p:clrMapOvr>
</p:sld>
</file>

<file path=ppt/theme/theme1.xml><?xml version="1.0" encoding="utf-8"?>
<a:theme xmlns:a="http://schemas.openxmlformats.org/drawingml/2006/main" name="Personnalisé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1208800_TF56390039_Win32" id="{FCB14B3E-2B92-48B8-A334-05E7A8EE34E1}" vid="{B6EC9E21-8C82-4EB1-BBE7-A370F785D0C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Conception technique</Template>
  <TotalTime>4534</TotalTime>
  <Words>1906</Words>
  <Application>Microsoft Office PowerPoint</Application>
  <PresentationFormat>Grand écran</PresentationFormat>
  <Paragraphs>337</Paragraphs>
  <Slides>42</Slides>
  <Notes>35</Notes>
  <HiddenSlides>0</HiddenSlides>
  <MMClips>0</MMClips>
  <ScaleCrop>false</ScaleCrop>
  <HeadingPairs>
    <vt:vector size="6" baseType="variant">
      <vt:variant>
        <vt:lpstr>Polices utilisées</vt:lpstr>
      </vt:variant>
      <vt:variant>
        <vt:i4>9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42</vt:i4>
      </vt:variant>
    </vt:vector>
  </HeadingPairs>
  <TitlesOfParts>
    <vt:vector size="52" baseType="lpstr">
      <vt:lpstr>Aptos</vt:lpstr>
      <vt:lpstr>Aptos Display</vt:lpstr>
      <vt:lpstr>Arial</vt:lpstr>
      <vt:lpstr>Calibri</vt:lpstr>
      <vt:lpstr>Consolas</vt:lpstr>
      <vt:lpstr>Gill Sans MT</vt:lpstr>
      <vt:lpstr>Segoe UI Black</vt:lpstr>
      <vt:lpstr>Verdana</vt:lpstr>
      <vt:lpstr>Wingdings 2</vt:lpstr>
      <vt:lpstr>Personnalisé</vt:lpstr>
      <vt:lpstr>Tech-Nova </vt:lpstr>
      <vt:lpstr>Formation Développeur IA</vt:lpstr>
      <vt:lpstr>Le Projet</vt:lpstr>
      <vt:lpstr>Le CLIENT ESN TechNova Partners</vt:lpstr>
      <vt:lpstr>objectifs</vt:lpstr>
      <vt:lpstr>Les Données d’entrée</vt:lpstr>
      <vt:lpstr>Préparation des données</vt:lpstr>
      <vt:lpstr>Jonction des Données</vt:lpstr>
      <vt:lpstr>Vérification des erreurs</vt:lpstr>
      <vt:lpstr>Colonnes inutiles</vt:lpstr>
      <vt:lpstr>Conversion des colonnes Non-numériques</vt:lpstr>
      <vt:lpstr>DataFrame Exploitable</vt:lpstr>
      <vt:lpstr>Exploration des données</vt:lpstr>
      <vt:lpstr>Vérification des outliers</vt:lpstr>
      <vt:lpstr>Vérification des outliers</vt:lpstr>
      <vt:lpstr>Vérification des outliers</vt:lpstr>
      <vt:lpstr>Matrice de confusion</vt:lpstr>
      <vt:lpstr>Distribution des données</vt:lpstr>
      <vt:lpstr>Distribution des données</vt:lpstr>
      <vt:lpstr>Présentation PowerPoint</vt:lpstr>
      <vt:lpstr>Répartition des Valeurs</vt:lpstr>
      <vt:lpstr>Présentation PowerPoint</vt:lpstr>
      <vt:lpstr>Présentation PowerPoint</vt:lpstr>
      <vt:lpstr>Présentation PowerPoint</vt:lpstr>
      <vt:lpstr>AJUSTEMENTS</vt:lpstr>
      <vt:lpstr>Présentation PowerPoint</vt:lpstr>
      <vt:lpstr>Présentation PowerPoint</vt:lpstr>
      <vt:lpstr>MODELISATION</vt:lpstr>
      <vt:lpstr>séparation train/test </vt:lpstr>
      <vt:lpstr>3 Modèles </vt:lpstr>
      <vt:lpstr>Scores des prédictions </vt:lpstr>
      <vt:lpstr>Enchainement des entrainements / Prédictions </vt:lpstr>
      <vt:lpstr>Passes </vt:lpstr>
      <vt:lpstr>EVALUATION Finale </vt:lpstr>
      <vt:lpstr>EVALUATION Finale </vt:lpstr>
      <vt:lpstr>Bilan</vt:lpstr>
      <vt:lpstr>EVALUATION Finale </vt:lpstr>
      <vt:lpstr>EVALUATION Finale </vt:lpstr>
      <vt:lpstr>EVALUATION Finale </vt:lpstr>
      <vt:lpstr>EVALUATION Finale </vt:lpstr>
      <vt:lpstr>Ce qu’il faut changer pour réduire les démissions</vt:lpstr>
      <vt:lpstr>Merci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auguey</dc:creator>
  <cp:lastModifiedBy>thomas auguey</cp:lastModifiedBy>
  <cp:revision>208</cp:revision>
  <dcterms:created xsi:type="dcterms:W3CDTF">2026-06-01T07:45:08Z</dcterms:created>
  <dcterms:modified xsi:type="dcterms:W3CDTF">2026-06-19T05:01:20Z</dcterms:modified>
</cp:coreProperties>
</file>