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1"/>
  </p:notesMasterIdLst>
  <p:handoutMasterIdLst>
    <p:handoutMasterId r:id="rId42"/>
  </p:handoutMasterIdLst>
  <p:sldIdLst>
    <p:sldId id="256" r:id="rId2"/>
    <p:sldId id="262" r:id="rId3"/>
    <p:sldId id="276" r:id="rId4"/>
    <p:sldId id="298" r:id="rId5"/>
    <p:sldId id="300" r:id="rId6"/>
    <p:sldId id="301" r:id="rId7"/>
    <p:sldId id="299" r:id="rId8"/>
    <p:sldId id="297" r:id="rId9"/>
    <p:sldId id="295" r:id="rId10"/>
    <p:sldId id="296" r:id="rId11"/>
    <p:sldId id="267" r:id="rId12"/>
    <p:sldId id="287" r:id="rId13"/>
    <p:sldId id="278" r:id="rId14"/>
    <p:sldId id="277" r:id="rId15"/>
    <p:sldId id="265" r:id="rId16"/>
    <p:sldId id="266" r:id="rId17"/>
    <p:sldId id="275" r:id="rId18"/>
    <p:sldId id="263" r:id="rId19"/>
    <p:sldId id="279" r:id="rId20"/>
    <p:sldId id="269" r:id="rId21"/>
    <p:sldId id="270" r:id="rId22"/>
    <p:sldId id="271" r:id="rId23"/>
    <p:sldId id="273" r:id="rId24"/>
    <p:sldId id="274" r:id="rId25"/>
    <p:sldId id="280" r:id="rId26"/>
    <p:sldId id="288" r:id="rId27"/>
    <p:sldId id="282" r:id="rId28"/>
    <p:sldId id="283" r:id="rId29"/>
    <p:sldId id="284" r:id="rId30"/>
    <p:sldId id="294" r:id="rId31"/>
    <p:sldId id="285" r:id="rId32"/>
    <p:sldId id="286" r:id="rId33"/>
    <p:sldId id="292" r:id="rId34"/>
    <p:sldId id="290" r:id="rId35"/>
    <p:sldId id="289" r:id="rId36"/>
    <p:sldId id="291" r:id="rId37"/>
    <p:sldId id="293" r:id="rId38"/>
    <p:sldId id="268" r:id="rId39"/>
    <p:sldId id="260" r:id="rId40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73385" autoAdjust="0"/>
  </p:normalViewPr>
  <p:slideViewPr>
    <p:cSldViewPr snapToGrid="0">
      <p:cViewPr varScale="1">
        <p:scale>
          <a:sx n="83" d="100"/>
          <a:sy n="83" d="100"/>
        </p:scale>
        <p:origin x="162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1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3367168-A7C3-4A51-ACFE-4D76B720982F}" type="datetime1">
              <a:rPr lang="fr-FR" smtClean="0"/>
              <a:t>15/06/2026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B4F1169-1988-463B-A52C-EF5C9A50040C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27018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outliers</a:t>
            </a:r>
            <a:r>
              <a:rPr lang="fr-FR" dirty="0"/>
              <a:t> peuvent fortement perturber les modèles de </a:t>
            </a:r>
            <a:r>
              <a:rPr lang="fr-FR" dirty="0" err="1"/>
              <a:t>MachineLearning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1448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5693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9A36-8469-C609-999F-77DE8916C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045A04B-830C-2D7C-426E-1F3B39AC2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4936F91-F919-E263-9BD7-F1CEDE0E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seules valeurs corrélées sont plutôt logiques:</a:t>
            </a: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annee_dans_l_entreprise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 err="1">
                <a:solidFill>
                  <a:srgbClr val="FF0000"/>
                </a:solidFill>
              </a:rPr>
              <a:t>annee_experience_totale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cap="none" dirty="0" err="1">
                <a:solidFill>
                  <a:srgbClr val="FF0000"/>
                </a:solidFill>
              </a:rPr>
              <a:t>annee_derniere_promotion</a:t>
            </a:r>
            <a:r>
              <a:rPr lang="fr-FR" sz="1200" cap="none" dirty="0">
                <a:solidFill>
                  <a:srgbClr val="FF0000"/>
                </a:solidFill>
              </a:rPr>
              <a:t> &lt;&gt; </a:t>
            </a:r>
            <a:r>
              <a:rPr lang="fr-FR" sz="1200" cap="none" dirty="0" err="1">
                <a:solidFill>
                  <a:srgbClr val="FF0000"/>
                </a:solidFill>
              </a:rPr>
              <a:t>age</a:t>
            </a:r>
            <a:endParaRPr lang="fr-FR" sz="1200" cap="none" dirty="0">
              <a:solidFill>
                <a:srgbClr val="FF0000"/>
              </a:solidFill>
            </a:endParaRPr>
          </a:p>
          <a:p>
            <a:pPr rtl="0"/>
            <a:r>
              <a:rPr lang="fr-FR" sz="1200" cap="none" dirty="0">
                <a:solidFill>
                  <a:srgbClr val="FF0000"/>
                </a:solidFill>
              </a:rPr>
              <a:t>Etc…</a:t>
            </a:r>
          </a:p>
          <a:p>
            <a:pPr rtl="0"/>
            <a:endParaRPr lang="fr-FR" sz="1200" cap="none" dirty="0">
              <a:solidFill>
                <a:srgbClr val="FF0000"/>
              </a:solidFill>
            </a:endParaRP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CE8220-440C-EB29-CCDF-A5DBCFE1F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61460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7DDF-1565-460D-7632-8DB4205BF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937EF3A-67B8-3982-9B6C-5AFF4168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6179351-D1B0-8933-365D-1A8449B45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B64E2C-F309-26A1-29C7-D147CB8322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088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CD09-F6CE-C390-CC5F-14C307D3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73CA679E-56D5-DA9C-3F9E-B7C4D91B8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BC1A91F-6392-4AB9-EC1C-3EF67A193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représentants commerciaux sont les plus touchés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9B1C26-D223-45AC-1CF5-942769045A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904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820E-D793-0CBB-DB6F-10293059F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5149BE40-1CF7-AB01-2BEB-CC61840177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147367D-4A1D-3C8D-4DC7-D360D984C7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Les 3 </a:t>
            </a:r>
            <a:r>
              <a:rPr lang="fr-FR" dirty="0" err="1"/>
              <a:t>premieres</a:t>
            </a:r>
            <a:r>
              <a:rPr lang="fr-FR" dirty="0"/>
              <a:t> catégories regroupe beaucoup plus de salariés que « Représentant Commerciaux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Ce qui explique </a:t>
            </a:r>
            <a:r>
              <a:rPr lang="fr-FR" sz="1200" cap="none" dirty="0">
                <a:solidFill>
                  <a:srgbClr val="FF0000"/>
                </a:solidFill>
              </a:rPr>
              <a:t>Les postes les plus concernés (en nombres #) par rapport au (%)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Carde commercial, Assistant </a:t>
            </a:r>
            <a:r>
              <a:rPr lang="fr-FR" dirty="0" err="1"/>
              <a:t>Dir</a:t>
            </a:r>
            <a:r>
              <a:rPr lang="fr-FR" dirty="0"/>
              <a:t> et Consultant =&gt; plus nombreux =&gt; plus de démissions (en nombre)</a:t>
            </a:r>
          </a:p>
          <a:p>
            <a:pPr rtl="0"/>
            <a:r>
              <a:rPr lang="fr-FR" dirty="0"/>
              <a:t>MAIS</a:t>
            </a:r>
          </a:p>
          <a:p>
            <a:pPr rtl="0"/>
            <a:r>
              <a:rPr lang="fr-FR" dirty="0"/>
              <a:t>Représentant Commerciaux =&gt; plus de démissions (en %)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08FE6-9145-1EF4-4E9B-12F1514B5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8355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194FE-373D-42DF-4F35-9D7D3ED6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F3D63DA-8EBB-9954-6921-0D25ACB2B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08B0656-60A7-5E0A-BDA4-7027E836D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Corrélation forte entre le salaire et démissions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9F29C8-0F7B-0D1C-1EE8-A0C284FB2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88684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CEC01-C35C-BC0A-706F-5A32A626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A7013224-66E6-DE8C-E611-5EFBEABD8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C3AEEEE-95B4-C7F9-5D14-068E3F5AB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3F5DC3A-3C49-8F98-E524-FC9F03094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1429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C332-DDE8-BA4A-0533-7FF445DAD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2B01A4C7-330E-FE92-4E17-B6C510736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3165E82-4064-7D71-76B7-60D9F593C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07A573-158F-C57D-9B8F-8EE542959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8469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81A-1336-4AD5-6AB2-7F9AD3EB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0801B0E8-CBA5-EF00-A394-2C78CC3EB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D636E031-7D2B-1AD3-AEC0-FA54AE481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Si on regarde le taux de démissions par rapport à l moyenne des salaires on voit clairement une courbe qui se croise !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7CD18C-2986-E493-9DDE-78F8426C6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8804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25C2F-81F7-BFBC-A925-A45C92426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2DA3824-A1C9-F303-7DA5-440A7D3E2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4AB31884-9FAC-D974-E65D-DEAD13A8D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fr-FR" dirty="0"/>
              <a:t>Effectivement nous retrouvons certaines données dans la représentation de la corrélation de Pearson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Mais cette corrélation ne donne pas les raisons, juste une valeur entre -1 et 1 de relation entre 2 variables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La </a:t>
            </a:r>
            <a:r>
              <a:rPr lang="fr-FR" b="1" dirty="0"/>
              <a:t>corrélation de Pearson</a:t>
            </a:r>
            <a:r>
              <a:rPr lang="fr-FR" dirty="0"/>
              <a:t> mesure </a:t>
            </a:r>
            <a:r>
              <a:rPr lang="fr-FR" b="1" dirty="0"/>
              <a:t>la relation linéaire </a:t>
            </a:r>
            <a:r>
              <a:rPr lang="fr-FR" dirty="0"/>
              <a:t>entre deux variables quantitatives</a:t>
            </a:r>
          </a:p>
          <a:p>
            <a:pPr rtl="0"/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Ici </a:t>
            </a:r>
            <a:r>
              <a:rPr lang="fr-F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a_quitte_l_entreprise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avec les </a:t>
            </a:r>
            <a:r>
              <a:rPr lang="fr-F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autres variables numériques</a:t>
            </a:r>
          </a:p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683626-03C7-CF8C-0583-1DAA1A2D0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98141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J’utilise un jeu de données global pour tous les modèles et entrainements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102687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BE42-7496-DBF9-1BD7-375DFB214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2D5055-B3E3-AC5C-BA6B-F7E5C4F41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E3554EF-908A-C0A2-EA8B-E7B9759B9B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8C4275-4F49-EF25-F89A-C4F510F6C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861054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Je réalise des entrainements successifs et conserve l’intégralité des scores pour chaque passe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813189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Dans notre cas nous pouvons dire que: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meilleur modèle est la </a:t>
            </a:r>
            <a:r>
              <a:rPr lang="fr-FR" dirty="0" err="1"/>
              <a:t>LogisticRegression</a:t>
            </a:r>
            <a:r>
              <a:rPr lang="fr-FR" dirty="0"/>
              <a:t> qui affiche un meilleur taux de </a:t>
            </a:r>
            <a:r>
              <a:rPr lang="fr-FR" dirty="0" err="1"/>
              <a:t>recall</a:t>
            </a:r>
            <a:r>
              <a:rPr lang="fr-FR" dirty="0"/>
              <a:t> (Idéal dans notre </a:t>
            </a:r>
            <a:r>
              <a:rPr lang="fr-FR" dirty="0" err="1"/>
              <a:t>problèmatique</a:t>
            </a:r>
            <a:r>
              <a:rPr lang="fr-FR" dirty="0"/>
              <a:t> métier)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XGBoost</a:t>
            </a:r>
            <a:r>
              <a:rPr lang="fr-FR" dirty="0"/>
              <a:t> affiche des résultats similaires mais inversement proportionnel </a:t>
            </a:r>
            <a:r>
              <a:rPr lang="fr-FR" dirty="0" err="1"/>
              <a:t>precision</a:t>
            </a:r>
            <a:r>
              <a:rPr lang="fr-FR" dirty="0"/>
              <a:t>/</a:t>
            </a:r>
            <a:r>
              <a:rPr lang="fr-FR" dirty="0" err="1"/>
              <a:t>recall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711705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68093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5B04-F66D-DCED-B6D2-4CA699C3D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3D558A-C96B-1EDB-3468-AE294F5A0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A87FC6-1571-34A5-CA93-2BB7AC0E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heures supplémentaire marquent très nettement les départs liés, 100% des départs réalisés des heures sup.</a:t>
            </a:r>
          </a:p>
          <a:p>
            <a:r>
              <a:rPr lang="fr-FR" dirty="0"/>
              <a:t>Les revenus mensuels sont plus contrastés mais joue un rôle important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2FF07F-D2E4-57F1-EEB2-0E9BD461B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fr-FR" noProof="0" smtClean="0"/>
              <a:t>37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28279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EE5D-BBD3-A2EC-1F05-E46CF48A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6D9FE61C-76CE-1BB9-1395-173342861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C764E2B-A845-3539-9858-36364E249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399622-8265-25D5-383D-A84B233D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94517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F3B20A7-A3FE-46B9-84EA-B4257BA7E60C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B34D2F-0B02-482E-ABD2-95D8C2FF2A58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26ECFBB-4871-428F-B4AE-1EF357E63674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517F14-0D9C-452E-A596-36902551AE9C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9BF800-A62B-4735-B9A7-5450007C0A78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47267E0-A979-4430-94B4-54611641D8EE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58A73B6-B077-488D-82CF-3056D5BAC73E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8F108A3-3495-404B-9869-1BA62DF0E465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B550F6-4238-41AE-B6F4-4D375745C983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5E3FBB-57D2-4FB3-B51E-0FDE8CEE6791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E9F9435-70D7-42BA-8564-5EC34B97B69E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BBB97F02-5EDD-4BF6-BE41-AB41D1FEABF8}" type="datetime1">
              <a:rPr lang="fr-FR" noProof="0" smtClean="0"/>
              <a:t>15/06/2026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 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 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pic>
        <p:nvPicPr>
          <p:cNvPr id="7" name="Image 6" descr="Connexions numériqu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r>
              <a:rPr lang="fr-FR" sz="6000" dirty="0">
                <a:solidFill>
                  <a:schemeClr val="bg1"/>
                </a:solidFill>
              </a:rPr>
              <a:t>Tech-Nova</a:t>
            </a:r>
            <a:r>
              <a:rPr lang="fr-FR" sz="6000" dirty="0"/>
              <a:t> </a:t>
            </a:r>
            <a:endParaRPr lang="fr-FR" sz="6000" dirty="0"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r>
              <a:rPr lang="fr-FR" dirty="0"/>
              <a:t>Analyse des causes de démission</a:t>
            </a:r>
            <a:endParaRPr lang="fr-FR" dirty="0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887ABB-4D37-F4E5-C72E-05B3951B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Formation Développeur IA</a:t>
            </a:r>
          </a:p>
        </p:txBody>
      </p:sp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A154197-7927-FA64-68F3-8463F8F0B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300" y="766902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Jupyter - Visual Studio Marketplace">
            <a:extLst>
              <a:ext uri="{FF2B5EF4-FFF2-40B4-BE49-F238E27FC236}">
                <a16:creationId xmlns:a16="http://schemas.microsoft.com/office/drawing/2014/main" id="{5BBF6CEF-1ECD-D45B-FECD-1582DE5A9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026" y="2191487"/>
            <a:ext cx="1757734" cy="176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6F69B809-21C0-9ED3-E817-150D37D8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2990" y="4555704"/>
            <a:ext cx="1353623" cy="1396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 descr="2. Traitement de données avec PANDAS — Outils numériques avancés en  Mécanique">
            <a:extLst>
              <a:ext uri="{FF2B5EF4-FFF2-40B4-BE49-F238E27FC236}">
                <a16:creationId xmlns:a16="http://schemas.microsoft.com/office/drawing/2014/main" id="{0646F847-D574-9338-7260-840A3FEF8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249" y="4864253"/>
            <a:ext cx="2306277" cy="12086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UV - Python Package Manager: how to use it, comparisons, and common issues  | Pedro Medinilla Bohorquez - Pedromebo">
            <a:extLst>
              <a:ext uri="{FF2B5EF4-FFF2-40B4-BE49-F238E27FC236}">
                <a16:creationId xmlns:a16="http://schemas.microsoft.com/office/drawing/2014/main" id="{3F04E6DC-A3F1-4760-8863-86893C5A6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23" t="25873" r="21843" b="28412"/>
          <a:stretch>
            <a:fillRect/>
          </a:stretch>
        </p:blipFill>
        <p:spPr bwMode="auto">
          <a:xfrm>
            <a:off x="8534400" y="2421455"/>
            <a:ext cx="3218329" cy="1259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0" name="Picture 2" descr="Image vectorielle Stock Machine learning icon. Artificial intelligence,  smart machine logo template. Vector illustration. | Adobe Stock">
            <a:extLst>
              <a:ext uri="{FF2B5EF4-FFF2-40B4-BE49-F238E27FC236}">
                <a16:creationId xmlns:a16="http://schemas.microsoft.com/office/drawing/2014/main" id="{EC838F59-608E-2E37-2BB3-753A43C19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0" y="2523202"/>
            <a:ext cx="3429000" cy="3429000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E540BF55-66A1-AEB9-0C84-37F0833436B0}"/>
              </a:ext>
            </a:extLst>
          </p:cNvPr>
          <p:cNvSpPr txBox="1">
            <a:spLocks/>
          </p:cNvSpPr>
          <p:nvPr/>
        </p:nvSpPr>
        <p:spPr>
          <a:xfrm>
            <a:off x="4978343" y="5648944"/>
            <a:ext cx="2235314" cy="10138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fr-FR" sz="6000" dirty="0">
                <a:solidFill>
                  <a:schemeClr val="tx1"/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94922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BF1CB-ED84-7901-5EF7-06E01CBE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C744A-20E0-D04E-F4EA-1F8F23FBC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Le Projet</a:t>
            </a:r>
          </a:p>
        </p:txBody>
      </p:sp>
    </p:spTree>
    <p:extLst>
      <p:ext uri="{BB962C8B-B14F-4D97-AF65-F5344CB8AC3E}">
        <p14:creationId xmlns:p14="http://schemas.microsoft.com/office/powerpoint/2010/main" val="1790294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DD231E-6BC7-5409-B17C-F97858C1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ESN </a:t>
            </a:r>
            <a:r>
              <a:rPr lang="fr-FR" dirty="0" err="1"/>
              <a:t>TechNova</a:t>
            </a:r>
            <a:r>
              <a:rPr lang="fr-FR" dirty="0"/>
              <a:t> </a:t>
            </a:r>
            <a:r>
              <a:rPr lang="fr-FR" dirty="0" err="1"/>
              <a:t>Partners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5A31AB-4ABD-834A-DA20-9B709688F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Spécialisée dans le conseil en transformation digitale et la vente d’applications en SaaS.</a:t>
            </a:r>
          </a:p>
          <a:p>
            <a:endParaRPr lang="fr-FR" sz="2800" dirty="0"/>
          </a:p>
          <a:p>
            <a:r>
              <a:rPr lang="fr-FR" sz="2800" dirty="0"/>
              <a:t>Turnover élevé</a:t>
            </a:r>
          </a:p>
          <a:p>
            <a:endParaRPr lang="fr-FR" sz="2800" dirty="0"/>
          </a:p>
          <a:p>
            <a:r>
              <a:rPr lang="fr-FR" sz="2800" dirty="0"/>
              <a:t>Identifier les causes racines des démissions.</a:t>
            </a:r>
          </a:p>
        </p:txBody>
      </p:sp>
    </p:spTree>
    <p:extLst>
      <p:ext uri="{BB962C8B-B14F-4D97-AF65-F5344CB8AC3E}">
        <p14:creationId xmlns:p14="http://schemas.microsoft.com/office/powerpoint/2010/main" val="4169081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D43B-6EDD-A883-60F4-A8011FF74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52C9DF-199A-6B42-BA02-7589F03F5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Objectif</a:t>
            </a:r>
          </a:p>
        </p:txBody>
      </p:sp>
    </p:spTree>
    <p:extLst>
      <p:ext uri="{BB962C8B-B14F-4D97-AF65-F5344CB8AC3E}">
        <p14:creationId xmlns:p14="http://schemas.microsoft.com/office/powerpoint/2010/main" val="2074491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FD14-57F0-79C4-00C5-7F01836B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92C8EE-0A54-B2A4-2ED6-628262FC7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Rappel des 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D1001FF-76C3-E532-2793-4CD75E546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sz="2800" dirty="0"/>
              <a:t>Analyser les données d’entrée</a:t>
            </a:r>
          </a:p>
          <a:p>
            <a:endParaRPr lang="fr-FR" sz="2800" dirty="0"/>
          </a:p>
          <a:p>
            <a:r>
              <a:rPr lang="fr-FR" sz="2800" dirty="0"/>
              <a:t>Réaliser un modèle de prédiction de Machine Learning</a:t>
            </a:r>
          </a:p>
          <a:p>
            <a:endParaRPr lang="fr-FR" sz="2800" dirty="0"/>
          </a:p>
          <a:p>
            <a:r>
              <a:rPr lang="fr-FR" sz="2800" dirty="0"/>
              <a:t>Présenter les conclusions de nos résultats</a:t>
            </a:r>
          </a:p>
        </p:txBody>
      </p:sp>
    </p:spTree>
    <p:extLst>
      <p:ext uri="{BB962C8B-B14F-4D97-AF65-F5344CB8AC3E}">
        <p14:creationId xmlns:p14="http://schemas.microsoft.com/office/powerpoint/2010/main" val="3244018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69AA3-32FA-BE40-B383-710DD3D7F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25C8E3-9354-25FD-C85A-6F9BD052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Les données</a:t>
            </a:r>
          </a:p>
        </p:txBody>
      </p:sp>
    </p:spTree>
    <p:extLst>
      <p:ext uri="{BB962C8B-B14F-4D97-AF65-F5344CB8AC3E}">
        <p14:creationId xmlns:p14="http://schemas.microsoft.com/office/powerpoint/2010/main" val="56712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15D40F-A33F-F56F-2E3F-0D2B12B18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Les Données d’entrée</a:t>
            </a:r>
          </a:p>
        </p:txBody>
      </p:sp>
      <p:pic>
        <p:nvPicPr>
          <p:cNvPr id="4" name="Picture 4" descr="Microsoft Excel — Wikipédia">
            <a:extLst>
              <a:ext uri="{FF2B5EF4-FFF2-40B4-BE49-F238E27FC236}">
                <a16:creationId xmlns:a16="http://schemas.microsoft.com/office/drawing/2014/main" id="{6F604B7A-1DEF-9038-F66D-0CE1153DCB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622" y="365817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 descr="Microsoft Excel — Wikipédia">
            <a:extLst>
              <a:ext uri="{FF2B5EF4-FFF2-40B4-BE49-F238E27FC236}">
                <a16:creationId xmlns:a16="http://schemas.microsoft.com/office/drawing/2014/main" id="{DFFBD9B2-9352-B994-A86D-732AD2E2B5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210717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4" descr="Microsoft Excel — Wikipédia">
            <a:extLst>
              <a:ext uri="{FF2B5EF4-FFF2-40B4-BE49-F238E27FC236}">
                <a16:creationId xmlns:a16="http://schemas.microsoft.com/office/drawing/2014/main" id="{8AEF5D28-0F0E-C92C-B8CC-58FCC55012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188" y="524738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1605D77-0F9C-18D0-07A7-ADA1AADF4FE2}"/>
              </a:ext>
            </a:extLst>
          </p:cNvPr>
          <p:cNvSpPr txBox="1"/>
          <p:nvPr/>
        </p:nvSpPr>
        <p:spPr>
          <a:xfrm>
            <a:off x="592642" y="312522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extrait_eval.csv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2D200A-2631-7FD2-C62D-3019D9B55BB2}"/>
              </a:ext>
            </a:extLst>
          </p:cNvPr>
          <p:cNvSpPr txBox="1"/>
          <p:nvPr/>
        </p:nvSpPr>
        <p:spPr>
          <a:xfrm>
            <a:off x="581862" y="467623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extrait_sirh.csv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FB313CA-647D-B41F-2892-9FCD370AD68B}"/>
              </a:ext>
            </a:extLst>
          </p:cNvPr>
          <p:cNvSpPr txBox="1"/>
          <p:nvPr/>
        </p:nvSpPr>
        <p:spPr>
          <a:xfrm>
            <a:off x="361273" y="626208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extrait_sondage.csv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932F998-FE93-157B-19CD-C21D3AA96942}"/>
              </a:ext>
            </a:extLst>
          </p:cNvPr>
          <p:cNvSpPr txBox="1"/>
          <p:nvPr/>
        </p:nvSpPr>
        <p:spPr>
          <a:xfrm>
            <a:off x="2470278" y="2192121"/>
            <a:ext cx="93474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C00000"/>
                </a:solidFill>
              </a:rPr>
              <a:t>Un extrait de notre système SIRH</a:t>
            </a:r>
          </a:p>
          <a:p>
            <a:r>
              <a:rPr lang="fr-FR" sz="2000" dirty="0"/>
              <a:t>Fonction de l’employé, âge, salaire, ancienneté etc. et informations sociodémographiques.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37E39E-E3FA-B41E-6958-927E579F1893}"/>
              </a:ext>
            </a:extLst>
          </p:cNvPr>
          <p:cNvSpPr txBox="1"/>
          <p:nvPr/>
        </p:nvSpPr>
        <p:spPr>
          <a:xfrm>
            <a:off x="2470278" y="3743128"/>
            <a:ext cx="84578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Un extrait des évaluations annuelles de performance.</a:t>
            </a:r>
          </a:p>
          <a:p>
            <a:r>
              <a:rPr lang="fr-FR" sz="2000" dirty="0"/>
              <a:t>Notes des évaluations et notes de satisfaction données par les employés.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0374D29-576F-4401-68F6-8641E0156AC2}"/>
              </a:ext>
            </a:extLst>
          </p:cNvPr>
          <p:cNvSpPr txBox="1"/>
          <p:nvPr/>
        </p:nvSpPr>
        <p:spPr>
          <a:xfrm>
            <a:off x="2470278" y="5192159"/>
            <a:ext cx="902338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75000"/>
                  </a:schemeClr>
                </a:solidFill>
              </a:rPr>
              <a:t>Sondage annuel des employés</a:t>
            </a:r>
          </a:p>
          <a:p>
            <a:r>
              <a:rPr lang="fr-FR" sz="2000" dirty="0"/>
              <a:t>Aide à mettre en place des actions pour le bien-être des employés.</a:t>
            </a:r>
          </a:p>
          <a:p>
            <a:r>
              <a:rPr lang="fr-FR" sz="2000" dirty="0"/>
              <a:t>+ Témoin pour indiquer si l’employé a quitté l’entreprise ou non.</a:t>
            </a:r>
          </a:p>
        </p:txBody>
      </p:sp>
    </p:spTree>
    <p:extLst>
      <p:ext uri="{BB962C8B-B14F-4D97-AF65-F5344CB8AC3E}">
        <p14:creationId xmlns:p14="http://schemas.microsoft.com/office/powerpoint/2010/main" val="4054339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B871A-6B20-1A70-020B-978DE8C6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D2DA52-6ED2-6207-14B7-F51F5E5BC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Jonction des </a:t>
            </a:r>
            <a:r>
              <a:rPr lang="fr-FR" dirty="0" err="1"/>
              <a:t>DataFrames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FAAE93-9F46-D0FC-F0AE-7B4BFDC437E5}"/>
              </a:ext>
            </a:extLst>
          </p:cNvPr>
          <p:cNvSpPr/>
          <p:nvPr/>
        </p:nvSpPr>
        <p:spPr>
          <a:xfrm>
            <a:off x="3876550" y="2779633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852E63-D843-F726-5C58-0C3114BA8E03}"/>
              </a:ext>
            </a:extLst>
          </p:cNvPr>
          <p:cNvSpPr txBox="1"/>
          <p:nvPr/>
        </p:nvSpPr>
        <p:spPr>
          <a:xfrm>
            <a:off x="418887" y="3715949"/>
            <a:ext cx="19066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eval_number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id_employee</a:t>
            </a:r>
            <a:b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code_sondage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1BF1C81-BA45-B1A3-D247-82034EE29130}"/>
              </a:ext>
            </a:extLst>
          </p:cNvPr>
          <p:cNvSpPr/>
          <p:nvPr/>
        </p:nvSpPr>
        <p:spPr>
          <a:xfrm flipH="1">
            <a:off x="4458865" y="1956700"/>
            <a:ext cx="882241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FBE0BCA-3474-A5F3-F4D6-D63A906E3BC8}"/>
              </a:ext>
            </a:extLst>
          </p:cNvPr>
          <p:cNvSpPr txBox="1"/>
          <p:nvPr/>
        </p:nvSpPr>
        <p:spPr>
          <a:xfrm>
            <a:off x="3247622" y="3803324"/>
            <a:ext cx="10468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ID</a:t>
            </a:r>
            <a:endParaRPr lang="fr-FR" sz="4800" dirty="0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CB58A5BB-C25F-0FE6-666F-5CB8ED572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250" y="5834947"/>
            <a:ext cx="922668" cy="922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icrosoft Excel — Wikipédia">
            <a:extLst>
              <a:ext uri="{FF2B5EF4-FFF2-40B4-BE49-F238E27FC236}">
                <a16:creationId xmlns:a16="http://schemas.microsoft.com/office/drawing/2014/main" id="{472E0447-52B9-C185-4646-EB126B0D13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291" y="3507707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4" descr="Microsoft Excel — Wikipédia">
            <a:extLst>
              <a:ext uri="{FF2B5EF4-FFF2-40B4-BE49-F238E27FC236}">
                <a16:creationId xmlns:a16="http://schemas.microsoft.com/office/drawing/2014/main" id="{25E746B1-165C-0064-528D-CBEFCCF42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1956700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4" descr="Microsoft Excel — Wikipédia">
            <a:extLst>
              <a:ext uri="{FF2B5EF4-FFF2-40B4-BE49-F238E27FC236}">
                <a16:creationId xmlns:a16="http://schemas.microsoft.com/office/drawing/2014/main" id="{CE7B75CD-B6AE-FE17-706D-76E85ED7C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57" y="5096911"/>
            <a:ext cx="791174" cy="816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EB20A5-3FBF-AF03-3B8A-E34B24949570}"/>
              </a:ext>
            </a:extLst>
          </p:cNvPr>
          <p:cNvSpPr txBox="1"/>
          <p:nvPr/>
        </p:nvSpPr>
        <p:spPr>
          <a:xfrm>
            <a:off x="5451311" y="2974753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extrait_eval.csv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4FFA27A-E068-8EDF-F942-C6DB5EB6B501}"/>
              </a:ext>
            </a:extLst>
          </p:cNvPr>
          <p:cNvSpPr txBox="1"/>
          <p:nvPr/>
        </p:nvSpPr>
        <p:spPr>
          <a:xfrm>
            <a:off x="5440531" y="4525760"/>
            <a:ext cx="1646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extrait_sirh.csv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950FDA-57FE-35B9-FD03-EDA40A8D76BB}"/>
              </a:ext>
            </a:extLst>
          </p:cNvPr>
          <p:cNvSpPr txBox="1"/>
          <p:nvPr/>
        </p:nvSpPr>
        <p:spPr>
          <a:xfrm>
            <a:off x="5219942" y="6111615"/>
            <a:ext cx="21090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extrait_sondage.csv</a:t>
            </a:r>
          </a:p>
        </p:txBody>
      </p:sp>
      <p:sp>
        <p:nvSpPr>
          <p:cNvPr id="10" name="Accolade fermante 9">
            <a:extLst>
              <a:ext uri="{FF2B5EF4-FFF2-40B4-BE49-F238E27FC236}">
                <a16:creationId xmlns:a16="http://schemas.microsoft.com/office/drawing/2014/main" id="{BE0B4983-937F-2819-03F7-4CFCDDC260E2}"/>
              </a:ext>
            </a:extLst>
          </p:cNvPr>
          <p:cNvSpPr/>
          <p:nvPr/>
        </p:nvSpPr>
        <p:spPr>
          <a:xfrm>
            <a:off x="2472171" y="3660204"/>
            <a:ext cx="486136" cy="1117238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AEB94E49-D196-2A08-139B-87249C788876}"/>
              </a:ext>
            </a:extLst>
          </p:cNvPr>
          <p:cNvSpPr/>
          <p:nvPr/>
        </p:nvSpPr>
        <p:spPr>
          <a:xfrm>
            <a:off x="7241200" y="1990426"/>
            <a:ext cx="985542" cy="4524247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050" name="Picture 2" descr="Update Details - Python: Styled DataFrame Viewer 0.12.0 | JetBrains  Marketplace">
            <a:extLst>
              <a:ext uri="{FF2B5EF4-FFF2-40B4-BE49-F238E27FC236}">
                <a16:creationId xmlns:a16="http://schemas.microsoft.com/office/drawing/2014/main" id="{7BB78091-4BC7-B781-64F3-D97DDD9DF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8009" y="2903178"/>
            <a:ext cx="2698741" cy="2698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Flèche : droite 16">
            <a:extLst>
              <a:ext uri="{FF2B5EF4-FFF2-40B4-BE49-F238E27FC236}">
                <a16:creationId xmlns:a16="http://schemas.microsoft.com/office/drawing/2014/main" id="{3E728435-61C8-0A5B-C2E0-8EE04BF3F8E3}"/>
              </a:ext>
            </a:extLst>
          </p:cNvPr>
          <p:cNvSpPr/>
          <p:nvPr/>
        </p:nvSpPr>
        <p:spPr>
          <a:xfrm rot="3076958">
            <a:off x="1699013" y="5146846"/>
            <a:ext cx="1020661" cy="31251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B8BAD0B0-26CD-E2B3-9E84-D81DFC6A8286}"/>
              </a:ext>
            </a:extLst>
          </p:cNvPr>
          <p:cNvSpPr/>
          <p:nvPr/>
        </p:nvSpPr>
        <p:spPr>
          <a:xfrm rot="18523042" flipH="1">
            <a:off x="2751868" y="5146847"/>
            <a:ext cx="1020661" cy="31251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5769421-52AF-D437-7A9B-938BC8BCB7FE}"/>
              </a:ext>
            </a:extLst>
          </p:cNvPr>
          <p:cNvSpPr txBox="1"/>
          <p:nvPr/>
        </p:nvSpPr>
        <p:spPr>
          <a:xfrm rot="16200000">
            <a:off x="9331584" y="3855009"/>
            <a:ext cx="40515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DataFrame</a:t>
            </a:r>
            <a:endParaRPr lang="fr-FR" sz="4800" dirty="0">
              <a:solidFill>
                <a:schemeClr val="tx1">
                  <a:lumMod val="65000"/>
                  <a:lumOff val="3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584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5D48-1FC5-0A32-4C4C-EECEACC58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632967-CAE6-E6EE-17DA-3304CBCA7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Nettoyage des données</a:t>
            </a:r>
          </a:p>
        </p:txBody>
      </p:sp>
    </p:spTree>
    <p:extLst>
      <p:ext uri="{BB962C8B-B14F-4D97-AF65-F5344CB8AC3E}">
        <p14:creationId xmlns:p14="http://schemas.microsoft.com/office/powerpoint/2010/main" val="1960994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8046-2BF9-5B7C-A704-4B1650CF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0B02E4-8809-9679-899B-CFFDD72BB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erreurs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FF2D77-324E-B715-B171-719BB1129C12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C6EEE0F-3724-2B60-9E4D-7BA17A12791C}"/>
              </a:ext>
            </a:extLst>
          </p:cNvPr>
          <p:cNvSpPr txBox="1"/>
          <p:nvPr/>
        </p:nvSpPr>
        <p:spPr>
          <a:xfrm>
            <a:off x="2610538" y="2821762"/>
            <a:ext cx="77603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Format invalide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aberrantes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Valeurs vides ou manquantes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Pas de doublons dans les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Consolas" panose="020B0609020204030204" pitchFamily="49" charset="0"/>
              </a:rPr>
              <a:t>Pas d'incohérences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55430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C0450-3551-48DC-6735-C73E4BC7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772FFA-9D94-885B-5A7E-6820016E5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Colonnes inutiles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A98176-BC8E-61C8-79C8-3A0E504CFCB1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FD5A1CC-84CF-0682-D7C6-5370FFC9E55F}"/>
              </a:ext>
            </a:extLst>
          </p:cNvPr>
          <p:cNvSpPr txBox="1"/>
          <p:nvPr/>
        </p:nvSpPr>
        <p:spPr>
          <a:xfrm>
            <a:off x="562757" y="2892669"/>
            <a:ext cx="570010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algn="r"/>
            <a:r>
              <a:rPr lang="en-US" dirty="0" err="1"/>
              <a:t>eval_number</a:t>
            </a:r>
            <a:br>
              <a:rPr lang="en-US" dirty="0"/>
            </a:br>
            <a:r>
              <a:rPr lang="en-US" dirty="0" err="1"/>
              <a:t>id_employee</a:t>
            </a:r>
            <a:br>
              <a:rPr lang="en-US" dirty="0"/>
            </a:br>
            <a:r>
              <a:rPr lang="en-US" dirty="0" err="1"/>
              <a:t>code_sondage</a:t>
            </a:r>
            <a:endParaRPr lang="fr-FR" dirty="0"/>
          </a:p>
          <a:p>
            <a:pPr algn="r"/>
            <a:endParaRPr lang="fr-FR" dirty="0"/>
          </a:p>
          <a:p>
            <a:pPr algn="r"/>
            <a:r>
              <a:rPr lang="fr-FR" dirty="0"/>
              <a:t>ID</a:t>
            </a:r>
          </a:p>
          <a:p>
            <a:pPr algn="r"/>
            <a:endParaRPr lang="fr-FR" dirty="0"/>
          </a:p>
          <a:p>
            <a:pPr algn="r"/>
            <a:r>
              <a:rPr lang="fr-FR" dirty="0" err="1"/>
              <a:t>nombre_heures_travailless</a:t>
            </a:r>
            <a:r>
              <a:rPr lang="fr-FR" dirty="0"/>
              <a:t> = 80</a:t>
            </a:r>
            <a:br>
              <a:rPr lang="fr-FR" dirty="0"/>
            </a:br>
            <a:r>
              <a:rPr lang="fr-FR" dirty="0" err="1"/>
              <a:t>nombre_employee_sous_responsabilite</a:t>
            </a:r>
            <a:r>
              <a:rPr lang="fr-FR" dirty="0"/>
              <a:t> = 1</a:t>
            </a:r>
          </a:p>
          <a:p>
            <a:pPr algn="r"/>
            <a:r>
              <a:rPr lang="fr-FR" dirty="0" err="1"/>
              <a:t>ayant_enfants</a:t>
            </a:r>
            <a:r>
              <a:rPr lang="fr-FR" dirty="0"/>
              <a:t> = Y</a:t>
            </a:r>
          </a:p>
        </p:txBody>
      </p:sp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000FC64B-A81C-4EA5-8530-3A5CAFD4D9E8}"/>
              </a:ext>
            </a:extLst>
          </p:cNvPr>
          <p:cNvSpPr/>
          <p:nvPr/>
        </p:nvSpPr>
        <p:spPr>
          <a:xfrm>
            <a:off x="6631325" y="2789500"/>
            <a:ext cx="486136" cy="2947914"/>
          </a:xfrm>
          <a:prstGeom prst="rightBrace">
            <a:avLst>
              <a:gd name="adj1" fmla="val 32143"/>
              <a:gd name="adj2" fmla="val 50000"/>
            </a:avLst>
          </a:prstGeom>
          <a:ln w="666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26" name="Picture 2" descr="Croix Rouge Stock Illustrations, Vecteurs, &amp; Clipart – (106,646 Stock  Illustrations)">
            <a:extLst>
              <a:ext uri="{FF2B5EF4-FFF2-40B4-BE49-F238E27FC236}">
                <a16:creationId xmlns:a16="http://schemas.microsoft.com/office/drawing/2014/main" id="{562EC9F6-5BDE-823D-343B-C3679BF5A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0348" y="3382331"/>
            <a:ext cx="1762251" cy="176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8656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833C6-50D7-F508-BAA5-A6CE1FED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124DFC-A1C8-0B18-014B-CDD3CE045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Conversion des colonnes Non-numériques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9E2C47-194B-8338-3EEB-E39523CCF0E7}"/>
              </a:ext>
            </a:extLst>
          </p:cNvPr>
          <p:cNvSpPr txBox="1"/>
          <p:nvPr/>
        </p:nvSpPr>
        <p:spPr>
          <a:xfrm>
            <a:off x="3576577" y="5292524"/>
            <a:ext cx="5038846" cy="1166149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Conversion des classes en colonnes numériques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596B1-8347-FE17-116F-EA19276E991D}"/>
              </a:ext>
            </a:extLst>
          </p:cNvPr>
          <p:cNvSpPr txBox="1"/>
          <p:nvPr/>
        </p:nvSpPr>
        <p:spPr>
          <a:xfrm>
            <a:off x="390645" y="2486977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>
              <a:defRPr b="1"/>
            </a:lvl1pPr>
          </a:lstStyle>
          <a:p>
            <a:pPr algn="ctr"/>
            <a:r>
              <a:rPr lang="fr-FR" dirty="0"/>
              <a:t>Qualitative ordinal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A7D7C41-7B70-9C68-85F1-D1076EAB1943}"/>
              </a:ext>
            </a:extLst>
          </p:cNvPr>
          <p:cNvSpPr txBox="1"/>
          <p:nvPr/>
        </p:nvSpPr>
        <p:spPr>
          <a:xfrm>
            <a:off x="3347495" y="2473824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binaire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40FB24C-A5E4-48F0-09BD-099DC2470CED}"/>
              </a:ext>
            </a:extLst>
          </p:cNvPr>
          <p:cNvSpPr txBox="1"/>
          <p:nvPr/>
        </p:nvSpPr>
        <p:spPr>
          <a:xfrm>
            <a:off x="6295180" y="2473823"/>
            <a:ext cx="2549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Qualitative nominale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5E7C4AB-14CD-61EC-FACF-96DD8DDD96FC}"/>
              </a:ext>
            </a:extLst>
          </p:cNvPr>
          <p:cNvSpPr txBox="1"/>
          <p:nvPr/>
        </p:nvSpPr>
        <p:spPr>
          <a:xfrm>
            <a:off x="442295" y="3188363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rtl="0">
              <a:defRPr lang="fr-FR"/>
            </a:defPPr>
            <a:lvl1pPr algn="ctr">
              <a:defRPr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r>
              <a:rPr lang="fr-FR" dirty="0"/>
              <a:t>Fréquence déplacement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0 &lt; 1 &lt; 2 &lt;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097B7E-23E6-3983-6650-1DD55BF325C2}"/>
              </a:ext>
            </a:extLst>
          </p:cNvPr>
          <p:cNvSpPr txBox="1"/>
          <p:nvPr/>
        </p:nvSpPr>
        <p:spPr>
          <a:xfrm>
            <a:off x="3373320" y="3175210"/>
            <a:ext cx="2497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Quitté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l’entreprise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?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6CB81AF-8951-C670-D196-E72F4CEBDFAC}"/>
              </a:ext>
            </a:extLst>
          </p:cNvPr>
          <p:cNvSpPr txBox="1"/>
          <p:nvPr/>
        </p:nvSpPr>
        <p:spPr>
          <a:xfrm>
            <a:off x="6321005" y="3120155"/>
            <a:ext cx="24976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</a:t>
            </a:r>
          </a:p>
          <a:p>
            <a:pPr algn="ctr"/>
            <a:endParaRPr lang="en-US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Poste_X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Poste_Y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Poste_Z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…</a:t>
            </a:r>
            <a:endParaRPr lang="fr-FR" dirty="0">
              <a:solidFill>
                <a:schemeClr val="accent1">
                  <a:lumMod val="60000"/>
                  <a:lumOff val="4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804D32F-2E36-1E9C-8738-7FBF11671F10}"/>
              </a:ext>
            </a:extLst>
          </p:cNvPr>
          <p:cNvSpPr txBox="1"/>
          <p:nvPr/>
        </p:nvSpPr>
        <p:spPr>
          <a:xfrm>
            <a:off x="9252030" y="2473823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Quantitative discrète / continue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449C0B1-D17E-E7EA-7C35-BB52E2B1B2DA}"/>
              </a:ext>
            </a:extLst>
          </p:cNvPr>
          <p:cNvSpPr txBox="1"/>
          <p:nvPr/>
        </p:nvSpPr>
        <p:spPr>
          <a:xfrm>
            <a:off x="9252031" y="3175209"/>
            <a:ext cx="2549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% augmentation </a:t>
            </a:r>
            <a:r>
              <a:rPr lang="en-US" dirty="0" err="1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salaire</a:t>
            </a:r>
            <a:endParaRPr lang="fr-FR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464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8AEC5-AA74-4883-18BB-EDC83DCBF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60A8FB-D594-CF7F-64CB-850DE414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ctr" defTabSz="1600200">
              <a:lnSpc>
                <a:spcPct val="90000"/>
              </a:lnSpc>
              <a:spcAft>
                <a:spcPct val="35000"/>
              </a:spcAft>
            </a:pPr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88A2AEA-4BAF-1810-40D4-EED7630C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17" y="2137634"/>
            <a:ext cx="3619333" cy="43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54FA971-AF43-87C4-C8A3-12A3D9DC32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13E0CBD-3F65-F931-6AD4-DE6D88E6F0BE}"/>
              </a:ext>
            </a:extLst>
          </p:cNvPr>
          <p:cNvSpPr txBox="1"/>
          <p:nvPr/>
        </p:nvSpPr>
        <p:spPr>
          <a:xfrm>
            <a:off x="6096000" y="3201657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6000" kern="1200" noProof="0" dirty="0"/>
              <a:t>Sondages</a:t>
            </a:r>
          </a:p>
        </p:txBody>
      </p:sp>
    </p:spTree>
    <p:extLst>
      <p:ext uri="{BB962C8B-B14F-4D97-AF65-F5344CB8AC3E}">
        <p14:creationId xmlns:p14="http://schemas.microsoft.com/office/powerpoint/2010/main" val="3004400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66E3-C82F-DF66-8759-7733BF568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ACA291-9CD1-A847-9743-258B65A62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FB824A-C73C-67EA-8E29-DCF74DA8EF15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964BAB3-7C64-7797-96F1-1E1C6729B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84" y="2120220"/>
            <a:ext cx="11267451" cy="4223429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C5132CE-966D-C626-625D-8B49689C3BB9}"/>
              </a:ext>
            </a:extLst>
          </p:cNvPr>
          <p:cNvSpPr txBox="1"/>
          <p:nvPr/>
        </p:nvSpPr>
        <p:spPr>
          <a:xfrm>
            <a:off x="5156334" y="6294755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>
                <a:solidFill>
                  <a:schemeClr val="tx1"/>
                </a:solidFill>
              </a:rPr>
              <a:t>SIRH</a:t>
            </a:r>
          </a:p>
        </p:txBody>
      </p:sp>
    </p:spTree>
    <p:extLst>
      <p:ext uri="{BB962C8B-B14F-4D97-AF65-F5344CB8AC3E}">
        <p14:creationId xmlns:p14="http://schemas.microsoft.com/office/powerpoint/2010/main" val="2438794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A3C0-92CB-8C29-7135-24F70C2B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A4323E-4134-FB1C-BE87-E5678A80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Vérification des </a:t>
            </a:r>
            <a:r>
              <a:rPr lang="fr-FR" dirty="0" err="1"/>
              <a:t>outliers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5B9582-4D22-9528-D283-4327CC401327}"/>
              </a:ext>
            </a:extLst>
          </p:cNvPr>
          <p:cNvSpPr/>
          <p:nvPr/>
        </p:nvSpPr>
        <p:spPr>
          <a:xfrm>
            <a:off x="5427558" y="3069000"/>
            <a:ext cx="3945041" cy="134583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C48D5BB-E63D-DD3A-E76E-277ADD6A9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054181"/>
            <a:ext cx="11099482" cy="410166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EFA856A-AF51-55C0-9A2C-28548C5A30E7}"/>
              </a:ext>
            </a:extLst>
          </p:cNvPr>
          <p:cNvSpPr txBox="1"/>
          <p:nvPr/>
        </p:nvSpPr>
        <p:spPr>
          <a:xfrm>
            <a:off x="5156334" y="6294755"/>
            <a:ext cx="1879331" cy="5632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>
                <a:solidFill>
                  <a:schemeClr val="tx1"/>
                </a:solidFill>
              </a:rPr>
              <a:t>evaluation</a:t>
            </a:r>
            <a:endParaRPr lang="fr-FR" sz="3600" kern="12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49309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B21C-D768-766F-9D9C-DC2D650A0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BB5EB7-CEEE-149A-1D47-CA6A1A6D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Exploration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289806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3C07D0-0DE7-7EEF-51B0-721C25DAE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Analyse des données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520F13-1BC0-00E5-A8FA-348EA6DC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ayant_enfants</a:t>
            </a:r>
            <a:r>
              <a:rPr lang="fr-FR" dirty="0"/>
              <a:t>, </a:t>
            </a:r>
            <a:r>
              <a:rPr lang="fr-FR" dirty="0" err="1"/>
              <a:t>nombre_heures_travailless</a:t>
            </a:r>
            <a:r>
              <a:rPr lang="fr-FR" dirty="0"/>
              <a:t>, </a:t>
            </a:r>
            <a:r>
              <a:rPr lang="fr-FR" dirty="0" err="1"/>
              <a:t>nombre_employee_sous_responsabilite</a:t>
            </a:r>
            <a:r>
              <a:rPr lang="fr-FR" dirty="0"/>
              <a:t> ne sont pas exploitables car toujours la même valeur</a:t>
            </a:r>
          </a:p>
          <a:p>
            <a:r>
              <a:rPr lang="fr-FR" dirty="0" err="1"/>
              <a:t>code_sondage</a:t>
            </a:r>
            <a:r>
              <a:rPr lang="fr-FR" dirty="0"/>
              <a:t>, </a:t>
            </a:r>
            <a:r>
              <a:rPr lang="fr-FR" dirty="0" err="1"/>
              <a:t>id_employee</a:t>
            </a:r>
            <a:r>
              <a:rPr lang="fr-FR" dirty="0"/>
              <a:t> et </a:t>
            </a:r>
            <a:r>
              <a:rPr lang="fr-FR" dirty="0" err="1"/>
              <a:t>eval_number</a:t>
            </a:r>
            <a:r>
              <a:rPr lang="fr-FR" dirty="0"/>
              <a:t> </a:t>
            </a:r>
            <a:r>
              <a:rPr lang="fr-FR" dirty="0" err="1"/>
              <a:t>répéte</a:t>
            </a:r>
            <a:r>
              <a:rPr lang="fr-FR" dirty="0"/>
              <a:t> le même schéma de codification, il est utilisé pour réaliser la jointure des données. NOTE: le nombre d’individus est identique</a:t>
            </a:r>
          </a:p>
          <a:p>
            <a:r>
              <a:rPr lang="fr-FR" dirty="0"/>
              <a:t>Le sondage indique : </a:t>
            </a:r>
            <a:r>
              <a:rPr lang="fr-FR" i="1" dirty="0">
                <a:solidFill>
                  <a:srgbClr val="00B0F0"/>
                </a:solidFill>
              </a:rPr>
              <a:t>Voici à disposition l’extrait du sondage le plus récent. Nous y avons ajouté </a:t>
            </a:r>
            <a:r>
              <a:rPr lang="fr-FR" b="1" i="1" dirty="0">
                <a:solidFill>
                  <a:srgbClr val="00B0F0"/>
                </a:solidFill>
              </a:rPr>
              <a:t>un témoin pour indiquer si l’employé a quitté l’entreprise ou non</a:t>
            </a:r>
            <a:r>
              <a:rPr lang="fr-FR" dirty="0"/>
              <a:t>. Le </a:t>
            </a:r>
            <a:r>
              <a:rPr lang="fr-FR" dirty="0" err="1"/>
              <a:t>status</a:t>
            </a:r>
            <a:r>
              <a:rPr lang="fr-FR" dirty="0"/>
              <a:t> de démission et les infos du sondage a été recueillie dans l’année en cours, peut être à la sortie ou juste après l'annonce de démission, utiliser ces informations ne présente pas un data </a:t>
            </a:r>
            <a:r>
              <a:rPr lang="fr-FR" dirty="0" err="1"/>
              <a:t>leakage</a:t>
            </a:r>
            <a:r>
              <a:rPr lang="fr-FR" dirty="0"/>
              <a:t> car l’information ne déduit pas directement de la démission. </a:t>
            </a:r>
          </a:p>
          <a:p>
            <a:r>
              <a:rPr lang="fr-FR" i="1" dirty="0">
                <a:solidFill>
                  <a:srgbClr val="00B0F0"/>
                </a:solidFill>
              </a:rPr>
              <a:t>L’évaluation annuelle : </a:t>
            </a:r>
            <a:r>
              <a:rPr lang="fr-FR" dirty="0"/>
              <a:t>Permet d’obtenir des informations sur l’année qui précède la démission</a:t>
            </a:r>
            <a:endParaRPr lang="fr-FR" i="1" dirty="0">
              <a:solidFill>
                <a:srgbClr val="00B0F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219051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60404-1E2B-4C69-FC0E-B021BEBB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8356271-FEAD-6D57-80F6-B394F2C8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2C3C95-43B8-B09F-7447-E5E3BC5E3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6114803-17D7-1EEF-D626-E22245345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4" y="1010236"/>
            <a:ext cx="10918785" cy="4837528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95EFFA0-0CC9-56E8-E5CF-DF02F3D95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ctr"/>
            <a:r>
              <a:rPr lang="fr-FR" dirty="0"/>
              <a:t>Matrice de confusion</a:t>
            </a:r>
          </a:p>
        </p:txBody>
      </p:sp>
    </p:spTree>
    <p:extLst>
      <p:ext uri="{BB962C8B-B14F-4D97-AF65-F5344CB8AC3E}">
        <p14:creationId xmlns:p14="http://schemas.microsoft.com/office/powerpoint/2010/main" val="2040009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7D91BC-2A87-779E-5258-A9E8BD4A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EA4F88AF-2AF3-7515-EBBA-ACD303DCA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30508F-D7DF-F9AD-6E2B-B67CD4D31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61FF514C-3589-53E0-58F5-7F90B18B28D6}"/>
              </a:ext>
            </a:extLst>
          </p:cNvPr>
          <p:cNvSpPr txBox="1">
            <a:spLocks/>
          </p:cNvSpPr>
          <p:nvPr/>
        </p:nvSpPr>
        <p:spPr>
          <a:xfrm>
            <a:off x="5645059" y="1790769"/>
            <a:ext cx="5184866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(#)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AC1AEB7-D60E-5E65-96CE-B822593C1567}"/>
              </a:ext>
            </a:extLst>
          </p:cNvPr>
          <p:cNvSpPr txBox="1"/>
          <p:nvPr/>
        </p:nvSpPr>
        <p:spPr>
          <a:xfrm>
            <a:off x="5645059" y="832348"/>
            <a:ext cx="53361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Postes / Démissions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FC2BB6D-6F45-8FDB-F8B4-D3F38F116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19" y="832348"/>
            <a:ext cx="4721048" cy="505410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BF1530-101B-6541-E18B-139A09D99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872737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5EA74-7877-D349-11D4-66B615A7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82FE038-CFB1-ED4A-3CB1-2AE6662F8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32C299-DC8C-0AC7-814D-1A9F4E02A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882B95FA-0BC6-96E7-DC16-92602E674F20}"/>
              </a:ext>
            </a:extLst>
          </p:cNvPr>
          <p:cNvSpPr txBox="1">
            <a:spLocks/>
          </p:cNvSpPr>
          <p:nvPr/>
        </p:nvSpPr>
        <p:spPr>
          <a:xfrm>
            <a:off x="6093247" y="1901763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Les postes les plus concernés (%)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F6E3307-6BEA-222D-895C-104BF22C4172}"/>
              </a:ext>
            </a:extLst>
          </p:cNvPr>
          <p:cNvSpPr txBox="1"/>
          <p:nvPr/>
        </p:nvSpPr>
        <p:spPr>
          <a:xfrm>
            <a:off x="6093246" y="943342"/>
            <a:ext cx="52846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</a:t>
            </a:r>
            <a:r>
              <a:rPr lang="fr-FR" sz="2400" dirty="0"/>
              <a:t>Postes / Démissions</a:t>
            </a:r>
            <a:r>
              <a:rPr lang="fr-FR" sz="2400" cap="none" dirty="0"/>
              <a:t>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07C98D7-2794-EAD3-534B-382F19995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97" y="710728"/>
            <a:ext cx="5172015" cy="543654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1D67233-15F8-A806-2283-DD8262B73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Distribution des données</a:t>
            </a:r>
          </a:p>
        </p:txBody>
      </p:sp>
    </p:spTree>
    <p:extLst>
      <p:ext uri="{BB962C8B-B14F-4D97-AF65-F5344CB8AC3E}">
        <p14:creationId xmlns:p14="http://schemas.microsoft.com/office/powerpoint/2010/main" val="399012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13E50-1BEE-2F27-4373-6A5ED599C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7693503A-19BC-B6DF-4472-97D4A7CD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73C457-865C-F62F-F763-C67A22BF5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D702B5F-8A1F-06F5-79F7-6D50EA3AC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1" y="712136"/>
            <a:ext cx="8621138" cy="5345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297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0F519-B560-056C-F452-36FC9472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B033948-FCAD-213F-153E-3FDB75757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B1952E-FA5F-CB65-BFCC-27ABE7429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A62345E8-256A-0FAE-D7DA-9F21B91E572D}"/>
              </a:ext>
            </a:extLst>
          </p:cNvPr>
          <p:cNvSpPr txBox="1">
            <a:spLocks/>
          </p:cNvSpPr>
          <p:nvPr/>
        </p:nvSpPr>
        <p:spPr>
          <a:xfrm>
            <a:off x="7364816" y="2001776"/>
            <a:ext cx="4493418" cy="14272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sz="4800" cap="none" dirty="0">
                <a:solidFill>
                  <a:srgbClr val="FF0000"/>
                </a:solidFill>
              </a:rPr>
              <a:t>Salaires / Poste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92CB732-6464-0024-4591-47B4BDD1D3D3}"/>
              </a:ext>
            </a:extLst>
          </p:cNvPr>
          <p:cNvSpPr txBox="1"/>
          <p:nvPr/>
        </p:nvSpPr>
        <p:spPr>
          <a:xfrm>
            <a:off x="7364816" y="1043355"/>
            <a:ext cx="42847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cap="none" dirty="0"/>
              <a:t>Exploration : Corrélations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D1B9221-AA44-2678-6E37-5A1F33965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04" y="738006"/>
            <a:ext cx="6446163" cy="529240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95879BE-FB13-471B-45F7-3E377AFFA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60" y="5307488"/>
            <a:ext cx="11029616" cy="1013800"/>
          </a:xfrm>
        </p:spPr>
        <p:txBody>
          <a:bodyPr/>
          <a:lstStyle/>
          <a:p>
            <a:pPr algn="r"/>
            <a:r>
              <a:rPr lang="fr-FR" dirty="0"/>
              <a:t>Répartition des Valeurs</a:t>
            </a:r>
          </a:p>
        </p:txBody>
      </p:sp>
    </p:spTree>
    <p:extLst>
      <p:ext uri="{BB962C8B-B14F-4D97-AF65-F5344CB8AC3E}">
        <p14:creationId xmlns:p14="http://schemas.microsoft.com/office/powerpoint/2010/main" val="15025303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F0C515-52D5-B341-1FF8-299612386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B120996-928B-44B2-D4F1-7360F2D35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A4F233-6539-F741-3BDA-E73898352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CEF92B0-E3EA-4C2F-B6F3-E66A33841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230" y="633022"/>
            <a:ext cx="9421540" cy="5591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15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2F4D1F-C5C1-A6B0-16FD-EB21E48C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92A2A31B-3307-B3E1-47A4-366A2F55C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D0B97D9-3116-945C-2F35-00A146E6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F49EBF9-1153-EFE4-BEC4-52DDC21899BD}"/>
              </a:ext>
            </a:extLst>
          </p:cNvPr>
          <p:cNvSpPr txBox="1"/>
          <p:nvPr/>
        </p:nvSpPr>
        <p:spPr>
          <a:xfrm>
            <a:off x="720524" y="5722178"/>
            <a:ext cx="10414322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40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est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6F005866-F32E-86A0-D5B5-FFEF2553915D}"/>
              </a:ext>
            </a:extLst>
          </p:cNvPr>
          <p:cNvGrpSpPr/>
          <p:nvPr/>
        </p:nvGrpSpPr>
        <p:grpSpPr>
          <a:xfrm>
            <a:off x="570053" y="1046054"/>
            <a:ext cx="9983164" cy="646331"/>
            <a:chOff x="570053" y="1046054"/>
            <a:chExt cx="9983164" cy="646331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3D6DB1AB-A9B0-FE13-262C-74D1AAA5481B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la note d’évaluation précédente est basse, plus le risque de départ est élevé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5074E18-6AAA-D8FE-2D72-0D03DEB0C6FF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note_evaluation_precedente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F4687695-3E2B-0C2F-B77E-61B40E60B899}"/>
              </a:ext>
            </a:extLst>
          </p:cNvPr>
          <p:cNvGrpSpPr/>
          <p:nvPr/>
        </p:nvGrpSpPr>
        <p:grpSpPr>
          <a:xfrm>
            <a:off x="570053" y="3175224"/>
            <a:ext cx="9983164" cy="723275"/>
            <a:chOff x="570053" y="1046054"/>
            <a:chExt cx="9983164" cy="723275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54E8E62A-CBEE-BA1D-035D-024EAF1587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7232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Les postes les plus touchés sont dans l’ordre:</a:t>
              </a:r>
            </a:p>
            <a:p>
              <a:pPr algn="just">
                <a:spcAft>
                  <a:spcPts val="600"/>
                </a:spcAft>
                <a:buNone/>
              </a:pPr>
              <a:r>
                <a:rPr lang="fr-FR" dirty="0">
                  <a:solidFill>
                    <a:srgbClr val="8B949E"/>
                  </a:solidFill>
                  <a:latin typeface="Aptos Display" panose="020B0004020202020204" pitchFamily="34" charset="0"/>
                </a:rPr>
                <a:t>Représentant Commercial &gt; Consultant &gt; Ressource Humaines</a:t>
              </a:r>
              <a:endParaRPr lang="fr-FR" dirty="0">
                <a:solidFill>
                  <a:srgbClr val="BBBEBF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47F30A-EC56-2953-8C3F-FCCA25C275D3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dirty="0">
                  <a:solidFill>
                    <a:srgbClr val="A5D6FF"/>
                  </a:solidFill>
                  <a:latin typeface="Consolas" panose="020B0609020204030204" pitchFamily="49" charset="0"/>
                </a:rPr>
                <a:t>poste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F785AAD-8EB7-16F2-48D8-01987803A361}"/>
              </a:ext>
            </a:extLst>
          </p:cNvPr>
          <p:cNvGrpSpPr/>
          <p:nvPr/>
        </p:nvGrpSpPr>
        <p:grpSpPr>
          <a:xfrm>
            <a:off x="570053" y="2110639"/>
            <a:ext cx="9983164" cy="376128"/>
            <a:chOff x="570053" y="1046054"/>
            <a:chExt cx="9983164" cy="376128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84B171F4-F09E-A4B6-CE72-0339ACBFDB3E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4658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Plus le salaire est bas, plus le risque de départ est élevé</a:t>
              </a:r>
            </a:p>
          </p:txBody>
        </p: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BEB75898-5F78-B950-1197-46B00326D239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revenu_mensuel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5818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079C7-CAAC-ABA0-9C2E-292B1B88B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6C0E10E6-18DF-DA30-FA4F-765014E1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67DC30-6603-D6A9-AF6D-26E7F7344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91C777-3DBC-B352-545E-C3A82B420110}"/>
              </a:ext>
            </a:extLst>
          </p:cNvPr>
          <p:cNvSpPr txBox="1"/>
          <p:nvPr/>
        </p:nvSpPr>
        <p:spPr>
          <a:xfrm>
            <a:off x="720524" y="5722178"/>
            <a:ext cx="10414322" cy="345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sz="36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Résumé : Ce qui n’est pas informationnel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09A90A57-6F55-27EA-233A-ABDE34D39E63}"/>
              </a:ext>
            </a:extLst>
          </p:cNvPr>
          <p:cNvGrpSpPr/>
          <p:nvPr/>
        </p:nvGrpSpPr>
        <p:grpSpPr>
          <a:xfrm>
            <a:off x="570053" y="1046054"/>
            <a:ext cx="9983164" cy="376128"/>
            <a:chOff x="570053" y="1046054"/>
            <a:chExt cx="9983164" cy="376128"/>
          </a:xfrm>
        </p:grpSpPr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079311-C1CF-A116-2FCA-169246764427}"/>
                </a:ext>
              </a:extLst>
            </p:cNvPr>
            <p:cNvSpPr txBox="1"/>
            <p:nvPr/>
          </p:nvSpPr>
          <p:spPr>
            <a:xfrm>
              <a:off x="4459147" y="1046054"/>
              <a:ext cx="60940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 rtl="0">
                <a:defRPr lang="fr-FR"/>
              </a:defPPr>
              <a:lvl1pPr>
                <a:spcAft>
                  <a:spcPts val="600"/>
                </a:spcAft>
                <a:buNone/>
                <a:defRPr>
                  <a:solidFill>
                    <a:srgbClr val="8B949E"/>
                  </a:solidFill>
                  <a:latin typeface="Aptos Display" panose="020B0004020202020204" pitchFamily="34" charset="0"/>
                </a:defRPr>
              </a:lvl1pPr>
            </a:lstStyle>
            <a:p>
              <a:pPr algn="just"/>
              <a:r>
                <a:rPr lang="fr-FR" dirty="0"/>
                <a:t>Ne joue quasiment aucun rôle dans le départ (:= 3 ou 4)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BE3F4F-EA87-FE89-67BD-85B0370E261C}"/>
                </a:ext>
              </a:extLst>
            </p:cNvPr>
            <p:cNvSpPr txBox="1"/>
            <p:nvPr/>
          </p:nvSpPr>
          <p:spPr>
            <a:xfrm>
              <a:off x="570053" y="1135822"/>
              <a:ext cx="3538960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 err="1">
                  <a:solidFill>
                    <a:srgbClr val="A5D6FF"/>
                  </a:solidFill>
                  <a:effectLst/>
                  <a:latin typeface="Consolas" panose="020B0609020204030204" pitchFamily="49" charset="0"/>
                </a:rPr>
                <a:t>note_evaluation_actuelle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3083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5D0B1-E2B1-616D-4FA7-5573B8FF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F9DE0B40-C411-FE98-F183-AA8E304C5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1623DB-45A9-6A60-EE4C-B7B2BCDD9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ADF3D16-A131-AB44-E3A3-C11FD9862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8796" y="732238"/>
            <a:ext cx="7268901" cy="5393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1232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0221-61E4-AC57-328E-5EA5E6AB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140A4-BA1D-0E26-385C-9397C6B65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MODELISATION</a:t>
            </a:r>
          </a:p>
        </p:txBody>
      </p:sp>
    </p:spTree>
    <p:extLst>
      <p:ext uri="{BB962C8B-B14F-4D97-AF65-F5344CB8AC3E}">
        <p14:creationId xmlns:p14="http://schemas.microsoft.com/office/powerpoint/2010/main" val="23631523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2A9B6-3BBE-951A-5815-D86C0BB1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5DCDC02-87FC-46B7-AD01-010F358FE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séparation train/test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FDC66FA-806C-BFEC-C438-8F5B67945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6" y="2310470"/>
            <a:ext cx="10355947" cy="359261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A0EF400-D15D-A4DE-DEA7-997A5CC3B7F1}"/>
              </a:ext>
            </a:extLst>
          </p:cNvPr>
          <p:cNvSpPr txBox="1"/>
          <p:nvPr/>
        </p:nvSpPr>
        <p:spPr>
          <a:xfrm>
            <a:off x="6883062" y="5042095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20%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B06C0D0-0834-6E71-9BC2-9DCD90C70A4B}"/>
              </a:ext>
            </a:extLst>
          </p:cNvPr>
          <p:cNvSpPr txBox="1"/>
          <p:nvPr/>
        </p:nvSpPr>
        <p:spPr>
          <a:xfrm>
            <a:off x="6883062" y="3382451"/>
            <a:ext cx="70083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spAutoFit/>
          </a:bodyPr>
          <a:lstStyle/>
          <a:p>
            <a:pPr algn="ctr"/>
            <a:r>
              <a:rPr lang="fr-FR" sz="2400" dirty="0"/>
              <a:t>80%</a:t>
            </a:r>
          </a:p>
        </p:txBody>
      </p:sp>
    </p:spTree>
    <p:extLst>
      <p:ext uri="{BB962C8B-B14F-4D97-AF65-F5344CB8AC3E}">
        <p14:creationId xmlns:p14="http://schemas.microsoft.com/office/powerpoint/2010/main" val="12720044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A5AE-DB34-F3A1-A66B-1E447C178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CDB381B-A893-3C1E-2875-08AE6CA4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Scores des prédictions</a:t>
            </a:r>
            <a:br>
              <a:rPr lang="fr-FR" dirty="0"/>
            </a:b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AC8F34B0-3514-69E3-2CFE-EBF43A48F1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40" t="3994"/>
          <a:stretch>
            <a:fillRect/>
          </a:stretch>
        </p:blipFill>
        <p:spPr>
          <a:xfrm>
            <a:off x="8032831" y="1041722"/>
            <a:ext cx="3495554" cy="5623204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F232812D-146C-DD71-28AC-9A2687D1AF94}"/>
              </a:ext>
            </a:extLst>
          </p:cNvPr>
          <p:cNvSpPr txBox="1"/>
          <p:nvPr/>
        </p:nvSpPr>
        <p:spPr>
          <a:xfrm>
            <a:off x="1759352" y="2361299"/>
            <a:ext cx="3495554" cy="3794545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 err="1">
                <a:latin typeface="Aptos" panose="020B0004020202020204" pitchFamily="34" charset="0"/>
              </a:rPr>
              <a:t>Accuracy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Precision</a:t>
            </a:r>
            <a:endParaRPr lang="fr-FR" sz="3600" kern="1200" noProof="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 err="1">
                <a:latin typeface="Aptos" panose="020B0004020202020204" pitchFamily="34" charset="0"/>
              </a:rPr>
              <a:t>Recall</a:t>
            </a:r>
            <a:endParaRPr lang="fr-FR" sz="3600" dirty="0">
              <a:latin typeface="Aptos" panose="020B0004020202020204" pitchFamily="34" charset="0"/>
            </a:endParaRP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kern="1200" noProof="0" dirty="0">
                <a:latin typeface="Aptos" panose="020B0004020202020204" pitchFamily="34" charset="0"/>
              </a:rPr>
              <a:t>F1</a:t>
            </a:r>
          </a:p>
          <a:p>
            <a:pPr marL="571500" lvl="0" indent="-571500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Font typeface="Arial" panose="020B0604020202020204" pitchFamily="34" charset="0"/>
              <a:buChar char="•"/>
            </a:pPr>
            <a:r>
              <a:rPr lang="fr-FR" sz="3600" dirty="0">
                <a:latin typeface="Aptos" panose="020B0004020202020204" pitchFamily="34" charset="0"/>
              </a:rPr>
              <a:t>AUC</a:t>
            </a:r>
            <a:endParaRPr lang="fr-FR" sz="3600" kern="1200" noProof="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36336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F2BF7-3C40-7C81-EEC4-07D006A9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8166C5-E95B-FBF8-838E-6797E5EA6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Enchainement des entrainements</a:t>
            </a:r>
            <a:br>
              <a:rPr lang="fr-FR" dirty="0"/>
            </a:br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50802B0C-359D-ED3A-069D-327B85A7CC2B}"/>
              </a:ext>
            </a:extLst>
          </p:cNvPr>
          <p:cNvGrpSpPr/>
          <p:nvPr/>
        </p:nvGrpSpPr>
        <p:grpSpPr>
          <a:xfrm>
            <a:off x="4387346" y="2040296"/>
            <a:ext cx="3635953" cy="1528826"/>
            <a:chOff x="1487405" y="3074098"/>
            <a:chExt cx="3635953" cy="1528826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870C4CC7-4FA6-AF29-70EB-ECEBFD20D22F}"/>
                </a:ext>
              </a:extLst>
            </p:cNvPr>
            <p:cNvSpPr txBox="1"/>
            <p:nvPr/>
          </p:nvSpPr>
          <p:spPr>
            <a:xfrm rot="16200000">
              <a:off x="2125883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2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CBA7137-F83F-A807-F8A3-5BA3169B7A1B}"/>
                </a:ext>
              </a:extLst>
            </p:cNvPr>
            <p:cNvSpPr txBox="1"/>
            <p:nvPr/>
          </p:nvSpPr>
          <p:spPr>
            <a:xfrm rot="16200000">
              <a:off x="866172" y="3695331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1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54C891F-6444-8EC7-DF3E-ECF5DD1EBD77}"/>
                </a:ext>
              </a:extLst>
            </p:cNvPr>
            <p:cNvSpPr txBox="1"/>
            <p:nvPr/>
          </p:nvSpPr>
          <p:spPr>
            <a:xfrm rot="16200000">
              <a:off x="3242414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3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B792DA2-C4DF-AE3A-BF73-115532FA32FC}"/>
                </a:ext>
              </a:extLst>
            </p:cNvPr>
            <p:cNvSpPr txBox="1"/>
            <p:nvPr/>
          </p:nvSpPr>
          <p:spPr>
            <a:xfrm rot="16200000">
              <a:off x="4215765" y="3695332"/>
              <a:ext cx="1528825" cy="286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fr-F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</a:rPr>
                <a:t>Résultat X</a:t>
              </a:r>
              <a:endParaRPr lang="fr-FR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2" name="Flèche : bas 11">
            <a:extLst>
              <a:ext uri="{FF2B5EF4-FFF2-40B4-BE49-F238E27FC236}">
                <a16:creationId xmlns:a16="http://schemas.microsoft.com/office/drawing/2014/main" id="{68993A9D-717A-12F6-F15D-4576161A6357}"/>
              </a:ext>
            </a:extLst>
          </p:cNvPr>
          <p:cNvSpPr/>
          <p:nvPr/>
        </p:nvSpPr>
        <p:spPr>
          <a:xfrm>
            <a:off x="4305782" y="3569122"/>
            <a:ext cx="367923" cy="4472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7A338320-DFC6-FFA8-302D-C94CB849C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9015" y="44254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149C1B1-9D5F-17DA-9A46-BDF6CB0C3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615" y="42730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005AFF5-3C6D-FA6B-C11C-D8AF59FBC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215" y="4120670"/>
            <a:ext cx="7381197" cy="1583761"/>
          </a:xfrm>
          <a:prstGeom prst="rect">
            <a:avLst/>
          </a:prstGeom>
          <a:ln w="38100" cap="sq">
            <a:solidFill>
              <a:srgbClr val="00B05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531E59A-513A-BB3B-06A5-5196AFE50910}"/>
              </a:ext>
            </a:extLst>
          </p:cNvPr>
          <p:cNvSpPr txBox="1"/>
          <p:nvPr/>
        </p:nvSpPr>
        <p:spPr>
          <a:xfrm>
            <a:off x="581193" y="4273070"/>
            <a:ext cx="19229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BaseTrain</a:t>
            </a:r>
            <a:endParaRPr lang="fr-FR" b="0" dirty="0">
              <a:solidFill>
                <a:srgbClr val="4EC9B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 #1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Train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 #</a:t>
            </a: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Train #3</a:t>
            </a:r>
          </a:p>
          <a:p>
            <a:pPr>
              <a:buNone/>
            </a:pPr>
            <a:r>
              <a:rPr lang="fr-F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fr-FR" dirty="0">
                <a:solidFill>
                  <a:srgbClr val="4EC9B0"/>
                </a:solidFill>
                <a:latin typeface="Consolas" panose="020B0609020204030204" pitchFamily="49" charset="0"/>
              </a:rPr>
              <a:t>…</a:t>
            </a:r>
            <a:endParaRPr lang="fr-FR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666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E41C-1636-12A3-0A35-A0419956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91C64A8-7F0D-3199-816E-1C1EF6A8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C85C661-D519-E263-689A-1A6D01068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648" y="1908802"/>
            <a:ext cx="8090704" cy="484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156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7A2D6-CBB2-4579-2311-CE675DCE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2003356-66FB-93DE-47CB-666EE7B4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4321F65-B943-8C2C-C3B6-CD7527BCB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969" y="1917763"/>
            <a:ext cx="8118061" cy="484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6910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5C10B-C384-CCD5-8EC6-5BE4509C8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23C88F-5C5F-DFC8-3D64-A12EB55A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3213862"/>
            <a:ext cx="11029616" cy="1013800"/>
          </a:xfrm>
        </p:spPr>
        <p:txBody>
          <a:bodyPr>
            <a:normAutofit/>
          </a:bodyPr>
          <a:lstStyle/>
          <a:p>
            <a:pPr algn="ctr"/>
            <a:r>
              <a:rPr lang="fr-FR" sz="6000" dirty="0">
                <a:solidFill>
                  <a:schemeClr val="tx1"/>
                </a:solidFill>
              </a:rPr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3356489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4F0A-57FF-E66A-33A8-5E5922D4C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022CBF-309D-1A58-AF11-BAD873A5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0E6A2A9-63D6-9EF2-1F48-AA7ABB805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39" y="2577062"/>
            <a:ext cx="7860921" cy="177855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5E44E83-82B1-8472-570C-FA15AE994CB0}"/>
              </a:ext>
            </a:extLst>
          </p:cNvPr>
          <p:cNvSpPr txBox="1"/>
          <p:nvPr/>
        </p:nvSpPr>
        <p:spPr>
          <a:xfrm>
            <a:off x="4123479" y="5292354"/>
            <a:ext cx="3945041" cy="1117238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/>
              <a:t>Interprétation des résultats du modèle</a:t>
            </a:r>
          </a:p>
        </p:txBody>
      </p:sp>
    </p:spTree>
    <p:extLst>
      <p:ext uri="{BB962C8B-B14F-4D97-AF65-F5344CB8AC3E}">
        <p14:creationId xmlns:p14="http://schemas.microsoft.com/office/powerpoint/2010/main" val="27076183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402F-471B-553A-AB43-A1D1DD523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0546A46-5AAF-8FDA-AD9D-22B8418F9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B154B68-022E-788C-02E9-1F6A6C998B4F}"/>
              </a:ext>
            </a:extLst>
          </p:cNvPr>
          <p:cNvSpPr txBox="1"/>
          <p:nvPr/>
        </p:nvSpPr>
        <p:spPr>
          <a:xfrm>
            <a:off x="3810963" y="5659954"/>
            <a:ext cx="4812176" cy="65793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rtlCol="0" anchor="t" anchorCtr="0">
            <a:noAutofit/>
          </a:bodyPr>
          <a:lstStyle/>
          <a:p>
            <a:pPr marL="0" lvl="0" indent="0" algn="ctr" defTabSz="16002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3600" kern="1200" noProof="0" dirty="0" err="1"/>
              <a:t>Features</a:t>
            </a:r>
            <a:r>
              <a:rPr lang="fr-FR" sz="3600" kern="1200" noProof="0" dirty="0"/>
              <a:t> Importances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7A4A102-FECE-E33C-3B55-1D77020E30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4" r="4396"/>
          <a:stretch>
            <a:fillRect/>
          </a:stretch>
        </p:blipFill>
        <p:spPr>
          <a:xfrm>
            <a:off x="3252486" y="1360092"/>
            <a:ext cx="5567423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9221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BB5A-7956-3D8B-A575-8040EE35C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777ED1F-0C09-3194-C9FC-0D653287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EVALUATION Finale</a:t>
            </a:r>
            <a:br>
              <a:rPr lang="fr-FR" dirty="0"/>
            </a:b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2297735-EBFF-BFB5-3925-434E790ED85A}"/>
              </a:ext>
            </a:extLst>
          </p:cNvPr>
          <p:cNvSpPr txBox="1"/>
          <p:nvPr/>
        </p:nvSpPr>
        <p:spPr>
          <a:xfrm>
            <a:off x="299495" y="2000731"/>
            <a:ext cx="1159301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fr-FR" dirty="0"/>
          </a:p>
          <a:p>
            <a:pPr algn="ctr"/>
            <a:r>
              <a:rPr lang="fr-FR" b="1" dirty="0"/>
              <a:t>La combinaison :</a:t>
            </a:r>
          </a:p>
          <a:p>
            <a:pPr algn="ctr"/>
            <a:r>
              <a:rPr lang="fr-FR" dirty="0"/>
              <a:t>salaire bas + heures supplémentaires + distance domicile travail + nombre de déplacements</a:t>
            </a:r>
          </a:p>
          <a:p>
            <a:pPr algn="ctr"/>
            <a:r>
              <a:rPr lang="fr-FR" dirty="0"/>
              <a:t>joue un rôle de pression au travail qui n’est pas récompensé par le travail</a:t>
            </a:r>
          </a:p>
          <a:p>
            <a:pPr algn="ctr"/>
            <a:endParaRPr lang="fr-FR" dirty="0"/>
          </a:p>
          <a:p>
            <a:pPr algn="ctr"/>
            <a:endParaRPr lang="fr-FR" dirty="0"/>
          </a:p>
          <a:p>
            <a:pPr algn="ctr"/>
            <a:r>
              <a:rPr lang="fr-FR" b="1" dirty="0"/>
              <a:t>Les postes les plus touchés sont :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Représentant Commercial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Consultant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fr-FR" sz="18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Ressources Humaines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fr-FR" dirty="0"/>
          </a:p>
          <a:p>
            <a:pPr algn="ctr"/>
            <a:r>
              <a:rPr lang="fr-FR" dirty="0"/>
              <a:t>Le modèle est cohérent avec l’analyse préliminaire des données</a:t>
            </a:r>
          </a:p>
          <a:p>
            <a:pPr algn="ctr"/>
            <a:r>
              <a:rPr lang="fr-FR" dirty="0"/>
              <a:t>Cependant, le modèle est loin d’être parfait avec beaucoup de prédictions incorrectes</a:t>
            </a:r>
          </a:p>
          <a:p>
            <a:pPr algn="ctr"/>
            <a:r>
              <a:rPr lang="fr-FR" dirty="0"/>
              <a:t>Les données n’expliquent pas tout mais donne une tendance localisée</a:t>
            </a:r>
          </a:p>
        </p:txBody>
      </p:sp>
    </p:spTree>
    <p:extLst>
      <p:ext uri="{BB962C8B-B14F-4D97-AF65-F5344CB8AC3E}">
        <p14:creationId xmlns:p14="http://schemas.microsoft.com/office/powerpoint/2010/main" val="21475006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8B833-405A-98C1-A288-499D9175B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 28">
            <a:extLst>
              <a:ext uri="{FF2B5EF4-FFF2-40B4-BE49-F238E27FC236}">
                <a16:creationId xmlns:a16="http://schemas.microsoft.com/office/drawing/2014/main" id="{093C1BDC-2C05-BF86-B68A-94D066C59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9571379-3E20-69F7-9628-23ADBCDE3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141CCC8-361F-2DEE-6A82-B39F954F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 rtlCol="0">
            <a:normAutofit/>
          </a:bodyPr>
          <a:lstStyle/>
          <a:p>
            <a:pPr rtl="0"/>
            <a:r>
              <a:rPr lang="fr-FR" dirty="0">
                <a:solidFill>
                  <a:srgbClr val="FFFEFF"/>
                </a:solidFill>
              </a:rPr>
              <a:t>Ce qu’il faut changer pour réduire les démissions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69AD7A6-C290-ACEC-8A86-EABD7A5787B8}"/>
              </a:ext>
            </a:extLst>
          </p:cNvPr>
          <p:cNvSpPr txBox="1"/>
          <p:nvPr/>
        </p:nvSpPr>
        <p:spPr>
          <a:xfrm>
            <a:off x="2561035" y="1716026"/>
            <a:ext cx="60936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 err="1"/>
              <a:t>Counterfactuals</a:t>
            </a:r>
            <a:endParaRPr lang="fr-FR" sz="4400" dirty="0"/>
          </a:p>
        </p:txBody>
      </p:sp>
    </p:spTree>
    <p:extLst>
      <p:ext uri="{BB962C8B-B14F-4D97-AF65-F5344CB8AC3E}">
        <p14:creationId xmlns:p14="http://schemas.microsoft.com/office/powerpoint/2010/main" val="41120416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2" name="Rectangle 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 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6" name="Rectangle 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fr-FR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fr-FR">
                <a:solidFill>
                  <a:srgbClr val="FFFFFF"/>
                </a:solidFill>
              </a:rPr>
              <a:t>Merci</a:t>
            </a:r>
          </a:p>
        </p:txBody>
      </p:sp>
      <p:pic>
        <p:nvPicPr>
          <p:cNvPr id="5" name="Image 4" descr="Valeurs numériqu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ous-titre 5">
            <a:extLst>
              <a:ext uri="{FF2B5EF4-FFF2-40B4-BE49-F238E27FC236}">
                <a16:creationId xmlns:a16="http://schemas.microsoft.com/office/drawing/2014/main" id="{9E85F906-1970-B5B8-35E3-272AA9068E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800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Conception technique</Template>
  <TotalTime>3648</TotalTime>
  <Words>1144</Words>
  <Application>Microsoft Office PowerPoint</Application>
  <PresentationFormat>Grand écran</PresentationFormat>
  <Paragraphs>200</Paragraphs>
  <Slides>39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39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Consolas</vt:lpstr>
      <vt:lpstr>Gill Sans MT</vt:lpstr>
      <vt:lpstr>Segoe UI Black</vt:lpstr>
      <vt:lpstr>Verdana</vt:lpstr>
      <vt:lpstr>Wingdings 2</vt:lpstr>
      <vt:lpstr>Personnalisé</vt:lpstr>
      <vt:lpstr>Tech-Nova </vt:lpstr>
      <vt:lpstr>Formation Développeur IA</vt:lpstr>
      <vt:lpstr>Le Projet</vt:lpstr>
      <vt:lpstr>ESN TechNova Partners</vt:lpstr>
      <vt:lpstr>Objectif</vt:lpstr>
      <vt:lpstr>Rappel des objectifs</vt:lpstr>
      <vt:lpstr>Les données</vt:lpstr>
      <vt:lpstr>Les Données d’entrée</vt:lpstr>
      <vt:lpstr>Jonction des DataFrames</vt:lpstr>
      <vt:lpstr>Nettoyage des données</vt:lpstr>
      <vt:lpstr>Vérification des erreurs</vt:lpstr>
      <vt:lpstr>Colonnes inutiles</vt:lpstr>
      <vt:lpstr>Conversion des colonnes Non-numériques</vt:lpstr>
      <vt:lpstr>Vérification des outliers</vt:lpstr>
      <vt:lpstr>Vérification des outliers</vt:lpstr>
      <vt:lpstr>Vérification des outliers</vt:lpstr>
      <vt:lpstr>Exploration des données</vt:lpstr>
      <vt:lpstr>Analyse des données</vt:lpstr>
      <vt:lpstr>Matrice de confusion</vt:lpstr>
      <vt:lpstr>Distribution des données</vt:lpstr>
      <vt:lpstr>Distribution des données</vt:lpstr>
      <vt:lpstr>Présentation PowerPoint</vt:lpstr>
      <vt:lpstr>Répartition des Valeurs</vt:lpstr>
      <vt:lpstr>Présentation PowerPoint</vt:lpstr>
      <vt:lpstr>Présentation PowerPoint</vt:lpstr>
      <vt:lpstr>Présentation PowerPoint</vt:lpstr>
      <vt:lpstr>Présentation PowerPoint</vt:lpstr>
      <vt:lpstr>MODELISATION</vt:lpstr>
      <vt:lpstr>séparation train/test </vt:lpstr>
      <vt:lpstr>Scores des prédictions </vt:lpstr>
      <vt:lpstr>Enchainement des entrainements </vt:lpstr>
      <vt:lpstr>EVALUATION Finale </vt:lpstr>
      <vt:lpstr>EVALUATION Finale </vt:lpstr>
      <vt:lpstr>Bilan</vt:lpstr>
      <vt:lpstr>EVALUATION Finale </vt:lpstr>
      <vt:lpstr>EVALUATION Finale </vt:lpstr>
      <vt:lpstr>EVALUATION Finale </vt:lpstr>
      <vt:lpstr>Ce qu’il faut changer pour réduire les démissions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129</cp:revision>
  <dcterms:created xsi:type="dcterms:W3CDTF">2026-06-01T07:45:08Z</dcterms:created>
  <dcterms:modified xsi:type="dcterms:W3CDTF">2026-06-15T09:45:19Z</dcterms:modified>
</cp:coreProperties>
</file>