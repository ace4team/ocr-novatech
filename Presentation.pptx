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32"/>
  </p:notesMasterIdLst>
  <p:handoutMasterIdLst>
    <p:handoutMasterId r:id="rId33"/>
  </p:handoutMasterIdLst>
  <p:sldIdLst>
    <p:sldId id="256" r:id="rId2"/>
    <p:sldId id="262" r:id="rId3"/>
    <p:sldId id="263" r:id="rId4"/>
    <p:sldId id="276" r:id="rId5"/>
    <p:sldId id="264" r:id="rId6"/>
    <p:sldId id="287" r:id="rId7"/>
    <p:sldId id="278" r:id="rId8"/>
    <p:sldId id="277" r:id="rId9"/>
    <p:sldId id="265" r:id="rId10"/>
    <p:sldId id="266" r:id="rId11"/>
    <p:sldId id="267" r:id="rId12"/>
    <p:sldId id="275" r:id="rId13"/>
    <p:sldId id="279" r:id="rId14"/>
    <p:sldId id="269" r:id="rId15"/>
    <p:sldId id="270" r:id="rId16"/>
    <p:sldId id="271" r:id="rId17"/>
    <p:sldId id="273" r:id="rId18"/>
    <p:sldId id="274" r:id="rId19"/>
    <p:sldId id="280" r:id="rId20"/>
    <p:sldId id="288" r:id="rId21"/>
    <p:sldId id="281" r:id="rId22"/>
    <p:sldId id="282" r:id="rId23"/>
    <p:sldId id="268" r:id="rId24"/>
    <p:sldId id="283" r:id="rId25"/>
    <p:sldId id="284" r:id="rId26"/>
    <p:sldId id="285" r:id="rId27"/>
    <p:sldId id="290" r:id="rId28"/>
    <p:sldId id="286" r:id="rId29"/>
    <p:sldId id="289" r:id="rId30"/>
    <p:sldId id="260" r:id="rId31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3385" autoAdjust="0"/>
  </p:normalViewPr>
  <p:slideViewPr>
    <p:cSldViewPr snapToGrid="0">
      <p:cViewPr varScale="1">
        <p:scale>
          <a:sx n="83" d="100"/>
          <a:sy n="83" d="100"/>
        </p:scale>
        <p:origin x="7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11/06/2026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A36-8469-C609-999F-77DE8916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045A04B-830C-2D7C-426E-1F3B39AC2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4936F91-F919-E263-9BD7-F1CEDE0E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seules valeurs corrélées sont plutôt logiques:</a:t>
            </a: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annee_dans_l_entreprise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cap="none" dirty="0" err="1">
                <a:solidFill>
                  <a:srgbClr val="FF0000"/>
                </a:solidFill>
              </a:rPr>
              <a:t>annee_derniere_promotion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>
                <a:solidFill>
                  <a:srgbClr val="FF0000"/>
                </a:solidFill>
              </a:rPr>
              <a:t>Etc…</a:t>
            </a: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CE8220-440C-EB29-CCDF-A5DBCFE1F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146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représentants commerciaux sont les plus touchés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3 </a:t>
            </a:r>
            <a:r>
              <a:rPr lang="fr-FR" dirty="0" err="1"/>
              <a:t>premieres</a:t>
            </a:r>
            <a:r>
              <a:rPr lang="fr-FR" dirty="0"/>
              <a:t> catégories regroupe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Carde commercial, Assistant </a:t>
            </a:r>
            <a:r>
              <a:rPr lang="fr-FR" dirty="0" err="1"/>
              <a:t>Dir</a:t>
            </a:r>
            <a:r>
              <a:rPr lang="fr-FR" dirty="0"/>
              <a:t> et Consultant =&gt; plus nombreux =&gt; plus de démissions (en nombre)</a:t>
            </a:r>
          </a:p>
          <a:p>
            <a:pPr rtl="0"/>
            <a:r>
              <a:rPr lang="fr-FR" dirty="0"/>
              <a:t>MAIS</a:t>
            </a:r>
          </a:p>
          <a:p>
            <a:pPr rtl="0"/>
            <a:r>
              <a:rPr lang="fr-FR" dirty="0"/>
              <a:t>Représentant Commerciaux =&gt; plus de démissions (en %)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Corrélation forte entre le salaire et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81A-1336-4AD5-6AB2-7F9AD3EB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801B0E8-CBA5-EF00-A394-2C78CC3EB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636E031-7D2B-1AD3-AEC0-FA54AE481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7CD18C-2986-E493-9DDE-78F8426C6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880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25C2F-81F7-BFBC-A925-A45C9242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2DA3824-A1C9-F303-7DA5-440A7D3E2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AB31884-9FAC-D974-E65D-DEAD13A8D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683626-03C7-CF8C-0583-1DAA1A2D0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98141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10/06/2026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 err="1">
                <a:solidFill>
                  <a:schemeClr val="bg1"/>
                </a:solidFill>
              </a:rPr>
              <a:t>TechNova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10" y="2168337"/>
            <a:ext cx="1757734" cy="176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990" y="4555704"/>
            <a:ext cx="1353623" cy="1396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733" y="4841103"/>
            <a:ext cx="2306277" cy="12086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mage vectorielle Stock Machine learning icon. Artificial intelligence,  smart machine logo template. Vector illustration. | Adobe Stock">
            <a:extLst>
              <a:ext uri="{FF2B5EF4-FFF2-40B4-BE49-F238E27FC236}">
                <a16:creationId xmlns:a16="http://schemas.microsoft.com/office/drawing/2014/main" id="{EC838F59-608E-2E37-2BB3-753A43C19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0" y="2709163"/>
            <a:ext cx="3429000" cy="342900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3C07D0-0DE7-7EEF-51B0-721C25DAE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520F13-1BC0-00E5-A8FA-348EA6DC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ayant_enfants</a:t>
            </a:r>
            <a:r>
              <a:rPr lang="fr-FR" dirty="0"/>
              <a:t>, </a:t>
            </a:r>
            <a:r>
              <a:rPr lang="fr-FR" dirty="0" err="1"/>
              <a:t>nombre_heures_travailless</a:t>
            </a:r>
            <a:r>
              <a:rPr lang="fr-FR" dirty="0"/>
              <a:t>, </a:t>
            </a:r>
            <a:r>
              <a:rPr lang="fr-FR" dirty="0" err="1"/>
              <a:t>nombre_employee_sous_responsabilite</a:t>
            </a:r>
            <a:r>
              <a:rPr lang="fr-FR" dirty="0"/>
              <a:t> ne sont pas exploitables car toujours la même valeur</a:t>
            </a:r>
          </a:p>
          <a:p>
            <a:r>
              <a:rPr lang="fr-FR" dirty="0" err="1"/>
              <a:t>code_sondage</a:t>
            </a:r>
            <a:r>
              <a:rPr lang="fr-FR" dirty="0"/>
              <a:t>, </a:t>
            </a:r>
            <a:r>
              <a:rPr lang="fr-FR" dirty="0" err="1"/>
              <a:t>id_employee</a:t>
            </a:r>
            <a:r>
              <a:rPr lang="fr-FR" dirty="0"/>
              <a:t> et </a:t>
            </a:r>
            <a:r>
              <a:rPr lang="fr-FR" dirty="0" err="1"/>
              <a:t>eval_number</a:t>
            </a:r>
            <a:r>
              <a:rPr lang="fr-FR" dirty="0"/>
              <a:t> </a:t>
            </a:r>
            <a:r>
              <a:rPr lang="fr-FR" dirty="0" err="1"/>
              <a:t>répéte</a:t>
            </a:r>
            <a:r>
              <a:rPr lang="fr-FR" dirty="0"/>
              <a:t> le même schéma de codification, il est utilisé pour réaliser la jointure des données. NOTE: le nombre d’individus est identique</a:t>
            </a:r>
          </a:p>
          <a:p>
            <a:r>
              <a:rPr lang="fr-FR" dirty="0"/>
              <a:t>Le sondage indique : </a:t>
            </a:r>
            <a:r>
              <a:rPr lang="fr-FR" i="1" dirty="0">
                <a:solidFill>
                  <a:srgbClr val="00B0F0"/>
                </a:solidFill>
              </a:rPr>
              <a:t>Voici à disposition l’extrait du sondage le plus récent. Nous y avons ajouté </a:t>
            </a:r>
            <a:r>
              <a:rPr lang="fr-FR" b="1" i="1" dirty="0">
                <a:solidFill>
                  <a:srgbClr val="00B0F0"/>
                </a:solidFill>
              </a:rPr>
              <a:t>un témoin pour indiquer si l’employé a quitté l’entreprise ou non</a:t>
            </a:r>
            <a:r>
              <a:rPr lang="fr-FR" dirty="0"/>
              <a:t>. Le </a:t>
            </a:r>
            <a:r>
              <a:rPr lang="fr-FR" dirty="0" err="1"/>
              <a:t>status</a:t>
            </a:r>
            <a:r>
              <a:rPr lang="fr-FR" dirty="0"/>
              <a:t> de démission et les infos du sondage a été recueillie dans l’année en cours, peut être à la sortie ou juste après l'annonce de démission, utiliser ces informations ne présente pas un data </a:t>
            </a:r>
            <a:r>
              <a:rPr lang="fr-FR" dirty="0" err="1"/>
              <a:t>leakage</a:t>
            </a:r>
            <a:r>
              <a:rPr lang="fr-FR" dirty="0"/>
              <a:t> car l’information ne déduit pas directement de la démission. </a:t>
            </a:r>
          </a:p>
          <a:p>
            <a:r>
              <a:rPr lang="fr-FR" i="1" dirty="0">
                <a:solidFill>
                  <a:srgbClr val="00B0F0"/>
                </a:solidFill>
              </a:rPr>
              <a:t>L’évaluation annuelle : </a:t>
            </a:r>
            <a:r>
              <a:rPr lang="fr-FR" dirty="0"/>
              <a:t>Permet d’obtenir des informations sur l’année qui précède la démission</a:t>
            </a:r>
            <a:endParaRPr lang="fr-FR" i="1" dirty="0">
              <a:solidFill>
                <a:srgbClr val="00B0F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21905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C744A-20E0-D04E-F4EA-1F8F23FB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Nettoyage des données</a:t>
            </a:r>
          </a:p>
        </p:txBody>
      </p:sp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1944E-D976-AFD6-A029-2AB932029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FBCABC-2343-6D2B-8B60-2CE36432E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F2BC9D-C56A-8848-61AE-D43BAE42B800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F8671AB-ACF1-DA62-0A87-0265F27AE949}"/>
              </a:ext>
            </a:extLst>
          </p:cNvPr>
          <p:cNvSpPr txBox="1"/>
          <p:nvPr/>
        </p:nvSpPr>
        <p:spPr>
          <a:xfrm>
            <a:off x="4123479" y="5292354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Jonction des </a:t>
            </a:r>
            <a:r>
              <a:rPr lang="fr-FR" sz="3600" kern="1200" noProof="0" dirty="0" err="1"/>
              <a:t>DataFrames</a:t>
            </a:r>
            <a:endParaRPr lang="fr-FR" sz="3600" kern="1200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FBD21C7-0E85-5051-E778-2E1AE86B0E51}"/>
              </a:ext>
            </a:extLst>
          </p:cNvPr>
          <p:cNvSpPr txBox="1"/>
          <p:nvPr/>
        </p:nvSpPr>
        <p:spPr>
          <a:xfrm>
            <a:off x="3267139" y="3249045"/>
            <a:ext cx="19066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807956CE-FBE0-5D7A-2465-0B43467A8FAB}"/>
              </a:ext>
            </a:extLst>
          </p:cNvPr>
          <p:cNvSpPr/>
          <p:nvPr/>
        </p:nvSpPr>
        <p:spPr>
          <a:xfrm>
            <a:off x="5184490" y="3152091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DED5A14-EFFB-CF30-1A19-428197F0FD6C}"/>
              </a:ext>
            </a:extLst>
          </p:cNvPr>
          <p:cNvSpPr txBox="1"/>
          <p:nvPr/>
        </p:nvSpPr>
        <p:spPr>
          <a:xfrm>
            <a:off x="5844968" y="3449100"/>
            <a:ext cx="751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ID</a:t>
            </a:r>
            <a:endParaRPr lang="fr-FR" sz="2800" dirty="0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8349C65B-1D8B-594C-F449-3027938263BB}"/>
              </a:ext>
            </a:extLst>
          </p:cNvPr>
          <p:cNvSpPr/>
          <p:nvPr/>
        </p:nvSpPr>
        <p:spPr>
          <a:xfrm>
            <a:off x="6596842" y="3571817"/>
            <a:ext cx="825857" cy="3125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79F0C9F-6F13-3D2B-C0C0-5A638F9AFF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5921" y="3262663"/>
            <a:ext cx="922668" cy="92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304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0450-3551-48DC-6735-C73E4BC7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72FFA-9D94-885B-5A7E-6820016E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A98176-BC8E-61C8-79C8-3A0E504CFCB1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AC6D064-6790-48EF-FE2B-0F0646B84ECD}"/>
              </a:ext>
            </a:extLst>
          </p:cNvPr>
          <p:cNvSpPr txBox="1"/>
          <p:nvPr/>
        </p:nvSpPr>
        <p:spPr>
          <a:xfrm>
            <a:off x="4123479" y="5292354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Colonnes inutiles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D5A1CC-84CF-0682-D7C6-5370FFC9E55F}"/>
              </a:ext>
            </a:extLst>
          </p:cNvPr>
          <p:cNvSpPr txBox="1"/>
          <p:nvPr/>
        </p:nvSpPr>
        <p:spPr>
          <a:xfrm>
            <a:off x="931217" y="3262663"/>
            <a:ext cx="57001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fr-FR" dirty="0" err="1"/>
              <a:t>nombre_heures_travailless</a:t>
            </a:r>
            <a:r>
              <a:rPr lang="fr-FR" dirty="0"/>
              <a:t> = 80</a:t>
            </a:r>
            <a:br>
              <a:rPr lang="fr-FR" dirty="0"/>
            </a:br>
            <a:r>
              <a:rPr lang="fr-FR" dirty="0" err="1"/>
              <a:t>nombre_employee_sous_responsabilite</a:t>
            </a:r>
            <a:r>
              <a:rPr lang="fr-FR" dirty="0"/>
              <a:t> = 1</a:t>
            </a:r>
          </a:p>
          <a:p>
            <a:pPr algn="r"/>
            <a:r>
              <a:rPr lang="fr-FR" dirty="0" err="1"/>
              <a:t>ayant_enfants</a:t>
            </a:r>
            <a:r>
              <a:rPr lang="fr-FR" dirty="0"/>
              <a:t> = Y</a:t>
            </a: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00FC64B-A81C-4EA5-8530-3A5CAFD4D9E8}"/>
              </a:ext>
            </a:extLst>
          </p:cNvPr>
          <p:cNvSpPr/>
          <p:nvPr/>
        </p:nvSpPr>
        <p:spPr>
          <a:xfrm>
            <a:off x="6631325" y="3152091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62EC9F6-5BDE-823D-343B-C3679BF5A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5921" y="3262663"/>
            <a:ext cx="922668" cy="92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8656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33C6-50D7-F508-BAA5-A6CE1FED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124DFC-A1C8-0B18-014B-CDD3CE04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9E2C47-194B-8338-3EEB-E39523CCF0E7}"/>
              </a:ext>
            </a:extLst>
          </p:cNvPr>
          <p:cNvSpPr txBox="1"/>
          <p:nvPr/>
        </p:nvSpPr>
        <p:spPr>
          <a:xfrm>
            <a:off x="3576577" y="5292524"/>
            <a:ext cx="5038846" cy="1166149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Conversion des classes en colonnes numériques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596B1-8347-FE17-116F-EA19276E991D}"/>
              </a:ext>
            </a:extLst>
          </p:cNvPr>
          <p:cNvSpPr txBox="1"/>
          <p:nvPr/>
        </p:nvSpPr>
        <p:spPr>
          <a:xfrm>
            <a:off x="390645" y="2486977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 b="1"/>
            </a:lvl1pPr>
          </a:lstStyle>
          <a:p>
            <a:pPr algn="ctr"/>
            <a:r>
              <a:rPr lang="fr-FR" dirty="0"/>
              <a:t>Qualitative ordinal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A7D7C41-7B70-9C68-85F1-D1076EAB1943}"/>
              </a:ext>
            </a:extLst>
          </p:cNvPr>
          <p:cNvSpPr txBox="1"/>
          <p:nvPr/>
        </p:nvSpPr>
        <p:spPr>
          <a:xfrm>
            <a:off x="3347495" y="2473824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binaire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40FB24C-A5E4-48F0-09BD-099DC2470CED}"/>
              </a:ext>
            </a:extLst>
          </p:cNvPr>
          <p:cNvSpPr txBox="1"/>
          <p:nvPr/>
        </p:nvSpPr>
        <p:spPr>
          <a:xfrm>
            <a:off x="6295180" y="2473823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nominale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5E7C4AB-14CD-61EC-FACF-96DD8DDD96FC}"/>
              </a:ext>
            </a:extLst>
          </p:cNvPr>
          <p:cNvSpPr txBox="1"/>
          <p:nvPr/>
        </p:nvSpPr>
        <p:spPr>
          <a:xfrm>
            <a:off x="442295" y="3188363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 algn="ctr"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fr-FR" dirty="0"/>
              <a:t>Fréquence déplacement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 &lt; 1 &lt; 2 &lt; …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0097B7E-23E6-3983-6650-1DD55BF325C2}"/>
              </a:ext>
            </a:extLst>
          </p:cNvPr>
          <p:cNvSpPr txBox="1"/>
          <p:nvPr/>
        </p:nvSpPr>
        <p:spPr>
          <a:xfrm>
            <a:off x="3373320" y="3175210"/>
            <a:ext cx="2497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Quitté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l’entreprise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?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6CB81AF-8951-C670-D196-E72F4CEBDFAC}"/>
              </a:ext>
            </a:extLst>
          </p:cNvPr>
          <p:cNvSpPr txBox="1"/>
          <p:nvPr/>
        </p:nvSpPr>
        <p:spPr>
          <a:xfrm>
            <a:off x="6321005" y="3120155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</a:t>
            </a:r>
          </a:p>
          <a:p>
            <a:pPr algn="ctr"/>
            <a:endParaRPr lang="en-US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Poste_X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Poste_Y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Poste_Z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…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804D32F-2E36-1E9C-8738-7FBF11671F10}"/>
              </a:ext>
            </a:extLst>
          </p:cNvPr>
          <p:cNvSpPr txBox="1"/>
          <p:nvPr/>
        </p:nvSpPr>
        <p:spPr>
          <a:xfrm>
            <a:off x="9252030" y="2473823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Quantitative discrète / continue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449C0B1-D17E-E7EA-7C35-BB52E2B1B2DA}"/>
              </a:ext>
            </a:extLst>
          </p:cNvPr>
          <p:cNvSpPr txBox="1"/>
          <p:nvPr/>
        </p:nvSpPr>
        <p:spPr>
          <a:xfrm>
            <a:off x="9252031" y="3175209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% augmentation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salaire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46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AEC5-AA74-4883-18BB-EDC83DCB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0A8FB-D594-CF7F-64CB-850DE414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88A2AEA-4BAF-1810-40D4-EED7630C7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17" y="21376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54FA971-AF43-87C4-C8A3-12A3D9DC32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34BE5EB-5877-6073-C9BC-88F5F6435512}"/>
              </a:ext>
            </a:extLst>
          </p:cNvPr>
          <p:cNvSpPr txBox="1"/>
          <p:nvPr/>
        </p:nvSpPr>
        <p:spPr>
          <a:xfrm>
            <a:off x="6096000" y="2510381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Vérification des </a:t>
            </a:r>
            <a:r>
              <a:rPr lang="fr-FR" sz="3600" kern="1200" noProof="0" dirty="0" err="1"/>
              <a:t>outliers</a:t>
            </a:r>
            <a:endParaRPr lang="fr-FR" sz="3600" kern="1200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13E0CBD-3F65-F931-6AD4-DE6D88E6F0BE}"/>
              </a:ext>
            </a:extLst>
          </p:cNvPr>
          <p:cNvSpPr txBox="1"/>
          <p:nvPr/>
        </p:nvSpPr>
        <p:spPr>
          <a:xfrm>
            <a:off x="6095999" y="4318895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Sondages</a:t>
            </a:r>
          </a:p>
        </p:txBody>
      </p:sp>
    </p:spTree>
    <p:extLst>
      <p:ext uri="{BB962C8B-B14F-4D97-AF65-F5344CB8AC3E}">
        <p14:creationId xmlns:p14="http://schemas.microsoft.com/office/powerpoint/2010/main" val="300440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66E3-C82F-DF66-8759-7733BF568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CA291-9CD1-A847-9743-258B65A6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FB824A-C73C-67EA-8E29-DCF74DA8EF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687BD56-18D9-EE09-2D7B-FF4969DC6BB6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F9AAE34-936D-333F-445E-135C0D9BF84D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sirh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964BAB3-7C64-7797-96F1-1E1C6729B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84" y="2120220"/>
            <a:ext cx="11267451" cy="42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794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A3C0-92CB-8C29-7135-24F70C2B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A4323E-4134-FB1C-BE87-E5678A80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5B9582-4D22-9528-D283-4327CC401327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DCCCBF1-DDEE-4EF0-F209-1D9A007FFD5A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</a:t>
            </a:r>
            <a:r>
              <a:rPr lang="fr-FR" sz="3600" kern="1200" noProof="0" dirty="0" err="1">
                <a:solidFill>
                  <a:schemeClr val="bg1"/>
                </a:solidFill>
              </a:rPr>
              <a:t>outliers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EFA856A-AF51-55C0-9A2C-28548C5A30E7}"/>
              </a:ext>
            </a:extLst>
          </p:cNvPr>
          <p:cNvSpPr txBox="1"/>
          <p:nvPr/>
        </p:nvSpPr>
        <p:spPr>
          <a:xfrm>
            <a:off x="5972174" y="936943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bg1"/>
                </a:solidFill>
              </a:rPr>
              <a:t>evaluation</a:t>
            </a:r>
            <a:endParaRPr lang="fr-FR" sz="3600" kern="1200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C48D5BB-E63D-DD3A-E76E-277ADD6A9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054181"/>
            <a:ext cx="11099482" cy="4101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930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des données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84AD649-9B82-FC7E-CECE-2FA50AD8B7E4}"/>
              </a:ext>
            </a:extLst>
          </p:cNvPr>
          <p:cNvSpPr txBox="1"/>
          <p:nvPr/>
        </p:nvSpPr>
        <p:spPr>
          <a:xfrm>
            <a:off x="7851505" y="768196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bg1"/>
                </a:solidFill>
              </a:rPr>
              <a:t>Vérification des erreurs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581192" y="2937510"/>
            <a:ext cx="47895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effectLst/>
                <a:latin typeface="Consolas" panose="020B0609020204030204" pitchFamily="49" charset="0"/>
              </a:rPr>
              <a:t>Pas de présence 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Pas de doublons dans les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Consolas" panose="020B0609020204030204" pitchFamily="49" charset="0"/>
              </a:rPr>
              <a:t>Pas d’</a:t>
            </a:r>
            <a:r>
              <a:rPr lang="fr-FR" dirty="0" err="1">
                <a:latin typeface="Consolas" panose="020B0609020204030204" pitchFamily="49" charset="0"/>
              </a:rPr>
              <a:t>inchoérences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04CE598-C601-97DC-E5BA-EC500C98AF17}"/>
              </a:ext>
            </a:extLst>
          </p:cNvPr>
          <p:cNvSpPr txBox="1"/>
          <p:nvPr/>
        </p:nvSpPr>
        <p:spPr>
          <a:xfrm>
            <a:off x="4825615" y="2845177"/>
            <a:ext cx="697093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Conversions</a:t>
            </a:r>
          </a:p>
          <a:p>
            <a:r>
              <a:rPr lang="fr-FR" dirty="0">
                <a:latin typeface="Consolas" panose="020B0609020204030204" pitchFamily="49" charset="0"/>
              </a:rPr>
              <a:t>0	</a:t>
            </a:r>
            <a:r>
              <a:rPr lang="fr-FR" dirty="0" err="1">
                <a:latin typeface="Consolas" panose="020B0609020204030204" pitchFamily="49" charset="0"/>
              </a:rPr>
              <a:t>a_quitte_l_entreprise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7	</a:t>
            </a:r>
            <a:r>
              <a:rPr lang="fr-FR" dirty="0" err="1">
                <a:latin typeface="Consolas" panose="020B0609020204030204" pitchFamily="49" charset="0"/>
              </a:rPr>
              <a:t>domaine_etude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8	</a:t>
            </a:r>
            <a:r>
              <a:rPr lang="fr-FR" dirty="0" err="1">
                <a:latin typeface="Consolas" panose="020B0609020204030204" pitchFamily="49" charset="0"/>
              </a:rPr>
              <a:t>ayant_enfants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9	</a:t>
            </a:r>
            <a:r>
              <a:rPr lang="fr-FR" dirty="0" err="1">
                <a:latin typeface="Consolas" panose="020B0609020204030204" pitchFamily="49" charset="0"/>
              </a:rPr>
              <a:t>frequence_deplacement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endParaRPr lang="fr-FR" dirty="0">
              <a:latin typeface="Consolas" panose="020B0609020204030204" pitchFamily="49" charset="0"/>
            </a:endParaRPr>
          </a:p>
          <a:p>
            <a:r>
              <a:rPr lang="fr-FR" dirty="0">
                <a:latin typeface="Consolas" panose="020B0609020204030204" pitchFamily="49" charset="0"/>
              </a:rPr>
              <a:t>13	genre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M/F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15	</a:t>
            </a:r>
            <a:r>
              <a:rPr lang="fr-FR" dirty="0" err="1">
                <a:latin typeface="Consolas" panose="020B0609020204030204" pitchFamily="49" charset="0"/>
              </a:rPr>
              <a:t>statut_marital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16	</a:t>
            </a:r>
            <a:r>
              <a:rPr lang="fr-FR" dirty="0" err="1">
                <a:latin typeface="Consolas" panose="020B0609020204030204" pitchFamily="49" charset="0"/>
              </a:rPr>
              <a:t>departement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17	poste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 =&gt; classe</a:t>
            </a:r>
          </a:p>
          <a:p>
            <a:r>
              <a:rPr lang="fr-FR" dirty="0">
                <a:latin typeface="Consolas" panose="020B0609020204030204" pitchFamily="49" charset="0"/>
              </a:rPr>
              <a:t>30	</a:t>
            </a:r>
            <a:r>
              <a:rPr lang="fr-FR" dirty="0" err="1">
                <a:latin typeface="Consolas" panose="020B0609020204030204" pitchFamily="49" charset="0"/>
              </a:rPr>
              <a:t>heure_supplementaires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Oui/Non =&gt; bin</a:t>
            </a:r>
          </a:p>
          <a:p>
            <a:r>
              <a:rPr lang="fr-FR" dirty="0">
                <a:latin typeface="Consolas" panose="020B0609020204030204" pitchFamily="49" charset="0"/>
              </a:rPr>
              <a:t>31	</a:t>
            </a:r>
            <a:r>
              <a:rPr lang="fr-FR" dirty="0" err="1">
                <a:latin typeface="Consolas" panose="020B0609020204030204" pitchFamily="49" charset="0"/>
              </a:rPr>
              <a:t>augementation_salaire_precedente</a:t>
            </a:r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dirty="0" err="1">
                <a:latin typeface="Consolas" panose="020B0609020204030204" pitchFamily="49" charset="0"/>
              </a:rPr>
              <a:t>str</a:t>
            </a:r>
            <a:r>
              <a:rPr lang="fr-FR" dirty="0">
                <a:latin typeface="Consolas" panose="020B0609020204030204" pitchFamily="49" charset="0"/>
              </a:rPr>
              <a:t>	% =&gt; </a:t>
            </a:r>
            <a:r>
              <a:rPr lang="fr-FR" dirty="0" err="1">
                <a:latin typeface="Consolas" panose="020B0609020204030204" pitchFamily="49" charset="0"/>
              </a:rPr>
              <a:t>int</a:t>
            </a:r>
            <a:endParaRPr lang="fr-FR" dirty="0">
              <a:latin typeface="Consolas" panose="020B0609020204030204" pitchFamily="49" charset="0"/>
            </a:endParaRPr>
          </a:p>
          <a:p>
            <a:endParaRPr lang="fr-F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60404-1E2B-4C69-FC0E-B021BEBB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8356271-FEAD-6D57-80F6-B394F2C8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2C3C95-43B8-B09F-7447-E5E3BC5E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6114803-17D7-1EEF-D626-E22245345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54" y="1010236"/>
            <a:ext cx="10918785" cy="483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09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1B9221-AA44-2678-6E37-5A1F33965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04" y="738006"/>
            <a:ext cx="6446163" cy="529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F49EBF9-1153-EFE4-BEC4-52DDC21899BD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est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6F005866-F32E-86A0-D5B5-FFEF2553915D}"/>
              </a:ext>
            </a:extLst>
          </p:cNvPr>
          <p:cNvGrpSpPr/>
          <p:nvPr/>
        </p:nvGrpSpPr>
        <p:grpSpPr>
          <a:xfrm>
            <a:off x="570053" y="1046054"/>
            <a:ext cx="9983164" cy="646331"/>
            <a:chOff x="570053" y="1046054"/>
            <a:chExt cx="9983164" cy="646331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3D6DB1AB-A9B0-FE13-262C-74D1AAA5481B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la note d’évaluation précédente est basse, plus le risque de départ est élevé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5074E18-6AAA-D8FE-2D72-0D03DEB0C6FF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note_evaluation_precedente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4687695-3E2B-0C2F-B77E-61B40E60B899}"/>
              </a:ext>
            </a:extLst>
          </p:cNvPr>
          <p:cNvGrpSpPr/>
          <p:nvPr/>
        </p:nvGrpSpPr>
        <p:grpSpPr>
          <a:xfrm>
            <a:off x="570053" y="3175224"/>
            <a:ext cx="9983164" cy="723275"/>
            <a:chOff x="570053" y="1046054"/>
            <a:chExt cx="9983164" cy="723275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54E8E62A-CBEE-BA1D-035D-024EAF1587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7232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Les postes les plus touchés sont dans l’ordre:</a:t>
              </a:r>
            </a:p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Représentant Commercial &gt; Consultant &gt; Ressource Humaines</a:t>
              </a:r>
              <a:endParaRPr lang="fr-FR" dirty="0">
                <a:solidFill>
                  <a:srgbClr val="BBBEBF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47F30A-EC56-2953-8C3F-FCCA25C275D3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poste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F785AAD-8EB7-16F2-48D8-01987803A361}"/>
              </a:ext>
            </a:extLst>
          </p:cNvPr>
          <p:cNvGrpSpPr/>
          <p:nvPr/>
        </p:nvGrpSpPr>
        <p:grpSpPr>
          <a:xfrm>
            <a:off x="570053" y="2110639"/>
            <a:ext cx="9983164" cy="376128"/>
            <a:chOff x="570053" y="1046054"/>
            <a:chExt cx="9983164" cy="376128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4B171F4-F09E-A4B6-CE72-0339ACBFDB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le salaire est bas, plus le risque de départ est élevé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BEB75898-5F78-B950-1197-46B00326D239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79C7-CAAC-ABA0-9C2E-292B1B88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C0E10E6-18DF-DA30-FA4F-765014E1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67DC30-6603-D6A9-AF6D-26E7F7344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91C777-3DBC-B352-545E-C3A82B420110}"/>
              </a:ext>
            </a:extLst>
          </p:cNvPr>
          <p:cNvSpPr txBox="1"/>
          <p:nvPr/>
        </p:nvSpPr>
        <p:spPr>
          <a:xfrm>
            <a:off x="720524" y="5722178"/>
            <a:ext cx="10414322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36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n’est pas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9A90A57-6F55-27EA-233A-ABDE34D39E63}"/>
              </a:ext>
            </a:extLst>
          </p:cNvPr>
          <p:cNvGrpSpPr/>
          <p:nvPr/>
        </p:nvGrpSpPr>
        <p:grpSpPr>
          <a:xfrm>
            <a:off x="570053" y="1046054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079311-C1CF-A116-2FCA-1692467644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Ne joue quasiment aucun rôle dans le départ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BE3F4F-EA87-FE89-67BD-85B0370E261C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note_evaluation_actuelle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3083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9C5D6-45C9-9FD2-5818-90A35C5E4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2CE558-3C7B-BEAF-2B31-59E67581F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 err="1">
                <a:solidFill>
                  <a:schemeClr val="tx1"/>
                </a:solidFill>
              </a:rPr>
              <a:t>PRéparation</a:t>
            </a:r>
            <a:r>
              <a:rPr lang="fr-FR" sz="6000" dirty="0">
                <a:solidFill>
                  <a:schemeClr val="tx1"/>
                </a:solidFill>
              </a:rPr>
              <a:t> des données</a:t>
            </a:r>
          </a:p>
        </p:txBody>
      </p:sp>
    </p:spTree>
    <p:extLst>
      <p:ext uri="{BB962C8B-B14F-4D97-AF65-F5344CB8AC3E}">
        <p14:creationId xmlns:p14="http://schemas.microsoft.com/office/powerpoint/2010/main" val="2632895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5D0B1-E2B1-616D-4FA7-5573B8FF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9DE0B40-C411-FE98-F183-AA8E304C5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1623DB-45A9-6A60-EE4C-B7B2BCDD9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ADF3D16-A131-AB44-E3A3-C11FD9862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52" y="732238"/>
            <a:ext cx="7268901" cy="539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1232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>
            <a:off x="2561035" y="1716026"/>
            <a:ext cx="60936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0221-61E4-AC57-328E-5EA5E6AB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140A4-BA1D-0E26-385C-9397C6B6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MODELISATION</a:t>
            </a:r>
          </a:p>
        </p:txBody>
      </p:sp>
    </p:spTree>
    <p:extLst>
      <p:ext uri="{BB962C8B-B14F-4D97-AF65-F5344CB8AC3E}">
        <p14:creationId xmlns:p14="http://schemas.microsoft.com/office/powerpoint/2010/main" val="2363152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2A9B6-3BBE-951A-5815-D86C0BB1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5DCDC02-87FC-46B7-AD01-010F358FE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séparation train/test</a:t>
            </a:r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720044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F2BF7-3C40-7C81-EEC4-07D006A9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8166C5-E95B-FBF8-838E-6797E5EA6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Entrainements</a:t>
            </a:r>
            <a:br>
              <a:rPr lang="fr-FR" dirty="0"/>
            </a:br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50802B0C-359D-ED3A-069D-327B85A7CC2B}"/>
              </a:ext>
            </a:extLst>
          </p:cNvPr>
          <p:cNvGrpSpPr/>
          <p:nvPr/>
        </p:nvGrpSpPr>
        <p:grpSpPr>
          <a:xfrm>
            <a:off x="3412120" y="2150740"/>
            <a:ext cx="5367759" cy="1869795"/>
            <a:chOff x="870994" y="2733129"/>
            <a:chExt cx="5367759" cy="1869795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8531E59A-513A-BB3B-06A5-5196AFE50910}"/>
                </a:ext>
              </a:extLst>
            </p:cNvPr>
            <p:cNvSpPr txBox="1"/>
            <p:nvPr/>
          </p:nvSpPr>
          <p:spPr>
            <a:xfrm>
              <a:off x="870994" y="2733129"/>
              <a:ext cx="5367759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BaseTrain</a:t>
              </a: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 &gt; Train1 &gt; Train2 &gt; ETC…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870C4CC7-4FA6-AF29-70EB-ECEBFD20D22F}"/>
                </a:ext>
              </a:extLst>
            </p:cNvPr>
            <p:cNvSpPr txBox="1"/>
            <p:nvPr/>
          </p:nvSpPr>
          <p:spPr>
            <a:xfrm rot="16200000">
              <a:off x="2125883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2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CBA7137-F83F-A807-F8A3-5BA3169B7A1B}"/>
                </a:ext>
              </a:extLst>
            </p:cNvPr>
            <p:cNvSpPr txBox="1"/>
            <p:nvPr/>
          </p:nvSpPr>
          <p:spPr>
            <a:xfrm rot="16200000">
              <a:off x="866172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1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54C891F-6444-8EC7-DF3E-ECF5DD1EBD77}"/>
                </a:ext>
              </a:extLst>
            </p:cNvPr>
            <p:cNvSpPr txBox="1"/>
            <p:nvPr/>
          </p:nvSpPr>
          <p:spPr>
            <a:xfrm rot="16200000">
              <a:off x="3242414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3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B792DA2-C4DF-AE3A-BF73-115532FA32FC}"/>
                </a:ext>
              </a:extLst>
            </p:cNvPr>
            <p:cNvSpPr txBox="1"/>
            <p:nvPr/>
          </p:nvSpPr>
          <p:spPr>
            <a:xfrm rot="16200000">
              <a:off x="4215765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X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68993A9D-717A-12F6-F15D-4576161A6357}"/>
              </a:ext>
            </a:extLst>
          </p:cNvPr>
          <p:cNvSpPr/>
          <p:nvPr/>
        </p:nvSpPr>
        <p:spPr>
          <a:xfrm>
            <a:off x="3946967" y="4020535"/>
            <a:ext cx="367923" cy="4472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A338320-DFC6-FFA8-302D-C94CB849C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200" y="4876883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149C1B1-9D5F-17DA-9A46-BDF6CB0C3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00" y="4724483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005AFF5-3C6D-FA6B-C11C-D8AF59FBC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00" y="4572083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54666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5C10B-C384-CCD5-8EC6-5BE4509C8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23C88F-5C5F-DFC8-3D64-A12EB55A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335648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E41C-1636-12A3-0A35-A0419956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91C64A8-7F0D-3199-816E-1C1EF6A8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Bilan EVALUATION Progressive</a:t>
            </a:r>
            <a:br>
              <a:rPr lang="fr-FR" dirty="0"/>
            </a:b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C85C661-D519-E263-689A-1A6D01068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828" y="2140626"/>
            <a:ext cx="7428344" cy="4447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15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94F0A-57FF-E66A-33A8-5E5922D4C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022CBF-309D-1A58-AF11-BAD873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0E6A2A9-63D6-9EF2-1F48-AA7ABB805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127" y="2805025"/>
            <a:ext cx="5515745" cy="124794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75E44E83-82B1-8472-570C-FA15AE994CB0}"/>
              </a:ext>
            </a:extLst>
          </p:cNvPr>
          <p:cNvSpPr txBox="1"/>
          <p:nvPr/>
        </p:nvSpPr>
        <p:spPr>
          <a:xfrm>
            <a:off x="4123479" y="5292354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Interprétation des résultats du modèle</a:t>
            </a:r>
          </a:p>
        </p:txBody>
      </p:sp>
    </p:spTree>
    <p:extLst>
      <p:ext uri="{BB962C8B-B14F-4D97-AF65-F5344CB8AC3E}">
        <p14:creationId xmlns:p14="http://schemas.microsoft.com/office/powerpoint/2010/main" val="2707618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ous-titre 5">
            <a:extLst>
              <a:ext uri="{FF2B5EF4-FFF2-40B4-BE49-F238E27FC236}">
                <a16:creationId xmlns:a16="http://schemas.microsoft.com/office/drawing/2014/main" id="{9E85F906-1970-B5B8-35E3-272AA9068E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3530</TotalTime>
  <Words>780</Words>
  <Application>Microsoft Office PowerPoint</Application>
  <PresentationFormat>Grand écran</PresentationFormat>
  <Paragraphs>123</Paragraphs>
  <Slides>30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8" baseType="lpstr">
      <vt:lpstr>Aptos Display</vt:lpstr>
      <vt:lpstr>Arial</vt:lpstr>
      <vt:lpstr>Calibri</vt:lpstr>
      <vt:lpstr>Consolas</vt:lpstr>
      <vt:lpstr>Gill Sans MT</vt:lpstr>
      <vt:lpstr>Verdana</vt:lpstr>
      <vt:lpstr>Wingdings 2</vt:lpstr>
      <vt:lpstr>Personnalisé</vt:lpstr>
      <vt:lpstr>TechNova </vt:lpstr>
      <vt:lpstr>Formation Développeur IA</vt:lpstr>
      <vt:lpstr>Analyse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Nettoyage des données</vt:lpstr>
      <vt:lpstr>Exploration des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PRéparation des données</vt:lpstr>
      <vt:lpstr>Présentation PowerPoint</vt:lpstr>
      <vt:lpstr>Ce qu’il faut changer pour réduire les démissions</vt:lpstr>
      <vt:lpstr>MODELISATION</vt:lpstr>
      <vt:lpstr>séparation train/test </vt:lpstr>
      <vt:lpstr>Entrainements </vt:lpstr>
      <vt:lpstr>Bilan</vt:lpstr>
      <vt:lpstr>Bilan EVALUATION Progressive </vt:lpstr>
      <vt:lpstr>EVALUATION Finale 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87</cp:revision>
  <dcterms:created xsi:type="dcterms:W3CDTF">2026-06-01T07:45:08Z</dcterms:created>
  <dcterms:modified xsi:type="dcterms:W3CDTF">2026-06-11T16:06:15Z</dcterms:modified>
</cp:coreProperties>
</file>