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1"/>
  </p:sldMasterIdLst>
  <p:notesMasterIdLst>
    <p:notesMasterId r:id="rId48"/>
  </p:notesMasterIdLst>
  <p:handoutMasterIdLst>
    <p:handoutMasterId r:id="rId49"/>
  </p:handoutMasterIdLst>
  <p:sldIdLst>
    <p:sldId id="256" r:id="rId2"/>
    <p:sldId id="262" r:id="rId3"/>
    <p:sldId id="276" r:id="rId4"/>
    <p:sldId id="298" r:id="rId5"/>
    <p:sldId id="301" r:id="rId6"/>
    <p:sldId id="297" r:id="rId7"/>
    <p:sldId id="296" r:id="rId8"/>
    <p:sldId id="295" r:id="rId9"/>
    <p:sldId id="267" r:id="rId10"/>
    <p:sldId id="287" r:id="rId11"/>
    <p:sldId id="278" r:id="rId12"/>
    <p:sldId id="302" r:id="rId13"/>
    <p:sldId id="275" r:id="rId14"/>
    <p:sldId id="277" r:id="rId15"/>
    <p:sldId id="305" r:id="rId16"/>
    <p:sldId id="306" r:id="rId17"/>
    <p:sldId id="279" r:id="rId18"/>
    <p:sldId id="312" r:id="rId19"/>
    <p:sldId id="269" r:id="rId20"/>
    <p:sldId id="270" r:id="rId21"/>
    <p:sldId id="271" r:id="rId22"/>
    <p:sldId id="273" r:id="rId23"/>
    <p:sldId id="274" r:id="rId24"/>
    <p:sldId id="280" r:id="rId25"/>
    <p:sldId id="288" r:id="rId26"/>
    <p:sldId id="308" r:id="rId27"/>
    <p:sldId id="311" r:id="rId28"/>
    <p:sldId id="282" r:id="rId29"/>
    <p:sldId id="283" r:id="rId30"/>
    <p:sldId id="294" r:id="rId31"/>
    <p:sldId id="284" r:id="rId32"/>
    <p:sldId id="303" r:id="rId33"/>
    <p:sldId id="285" r:id="rId34"/>
    <p:sldId id="307" r:id="rId35"/>
    <p:sldId id="286" r:id="rId36"/>
    <p:sldId id="292" r:id="rId37"/>
    <p:sldId id="290" r:id="rId38"/>
    <p:sldId id="289" r:id="rId39"/>
    <p:sldId id="304" r:id="rId40"/>
    <p:sldId id="314" r:id="rId41"/>
    <p:sldId id="291" r:id="rId42"/>
    <p:sldId id="268" r:id="rId43"/>
    <p:sldId id="313" r:id="rId44"/>
    <p:sldId id="315" r:id="rId45"/>
    <p:sldId id="316" r:id="rId46"/>
    <p:sldId id="260" r:id="rId47"/>
  </p:sldIdLst>
  <p:sldSz cx="12192000" cy="6858000"/>
  <p:notesSz cx="6858000" cy="9144000"/>
  <p:defaultTextStyle>
    <a:defPPr rtl="0">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83" autoAdjust="0"/>
    <p:restoredTop sz="73790" autoAdjust="0"/>
  </p:normalViewPr>
  <p:slideViewPr>
    <p:cSldViewPr snapToGrid="0">
      <p:cViewPr>
        <p:scale>
          <a:sx n="100" d="100"/>
          <a:sy n="100" d="100"/>
        </p:scale>
        <p:origin x="942" y="-64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6" d="100"/>
          <a:sy n="86" d="100"/>
        </p:scale>
        <p:origin x="3114"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3367168-A7C3-4A51-ACFE-4D76B720982F}" type="datetime1">
              <a:rPr lang="fr-FR" smtClean="0"/>
              <a:t>20/06/2026</a:t>
            </a:fld>
            <a:endParaRPr lang="fr-FR"/>
          </a:p>
        </p:txBody>
      </p:sp>
      <p:sp>
        <p:nvSpPr>
          <p:cNvPr id="4" name="Espace réservé du pied de page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D90168E-626C-4E60-93C0-A00D25609468}" type="slidenum">
              <a:rPr lang="fr-FR" smtClean="0"/>
              <a:t>‹N°›</a:t>
            </a:fld>
            <a:endParaRPr lang="fr-FR"/>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CB4F1169-1988-463B-A52C-EF5C9A50040C}" type="datetime1">
              <a:rPr lang="fr-FR" noProof="0" smtClean="0"/>
              <a:t>20/06/2026</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B3AB32-59DF-41F1-9618-EDFBF5049629}" type="slidenum">
              <a:rPr lang="fr-FR" noProof="0" smtClean="0"/>
              <a:t>‹N°›</a:t>
            </a:fld>
            <a:endParaRPr lang="fr-FR" noProof="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r>
              <a:rPr lang="fr-FR" dirty="0"/>
              <a:t>Bonjour</a:t>
            </a:r>
          </a:p>
          <a:p>
            <a:pPr rtl="0"/>
            <a:r>
              <a:rPr lang="fr-FR" dirty="0"/>
              <a:t>Thomas AUGUEY</a:t>
            </a:r>
          </a:p>
          <a:p>
            <a:pPr rtl="0"/>
            <a:r>
              <a:rPr lang="fr-FR" dirty="0"/>
              <a:t>Projet Tech Nova</a:t>
            </a: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a:t>
            </a:fld>
            <a:endParaRPr lang="fr-FR"/>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err="1"/>
              <a:t>Technova</a:t>
            </a:r>
            <a:endParaRPr lang="fr-FR" dirty="0"/>
          </a:p>
          <a:p>
            <a:r>
              <a:rPr lang="fr-FR" dirty="0"/>
              <a:t>Projet </a:t>
            </a:r>
            <a:r>
              <a:rPr lang="fr-FR" dirty="0" err="1"/>
              <a:t>Openclassrooms</a:t>
            </a:r>
            <a:r>
              <a:rPr lang="fr-FR" dirty="0"/>
              <a:t> =&gt; </a:t>
            </a:r>
            <a:r>
              <a:rPr lang="fr-FR" dirty="0" err="1"/>
              <a:t>Developpeur</a:t>
            </a:r>
            <a:r>
              <a:rPr lang="fr-FR" dirty="0"/>
              <a:t> IA</a:t>
            </a:r>
          </a:p>
          <a:p>
            <a:r>
              <a:rPr lang="fr-FR" dirty="0"/>
              <a:t>Stack : </a:t>
            </a:r>
            <a:r>
              <a:rPr lang="fr-FR" dirty="0" err="1"/>
              <a:t>Jupyter</a:t>
            </a:r>
            <a:r>
              <a:rPr lang="fr-FR" dirty="0"/>
              <a:t> + Python, UV Package, Excel</a:t>
            </a:r>
          </a:p>
          <a:p>
            <a:endParaRPr lang="fr-FR" dirty="0"/>
          </a:p>
          <a:p>
            <a:r>
              <a:rPr lang="fr-FR" dirty="0"/>
              <a:t>Machine Learning</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2</a:t>
            </a:fld>
            <a:endParaRPr lang="fr-FR" noProof="0"/>
          </a:p>
        </p:txBody>
      </p:sp>
    </p:spTree>
    <p:extLst>
      <p:ext uri="{BB962C8B-B14F-4D97-AF65-F5344CB8AC3E}">
        <p14:creationId xmlns:p14="http://schemas.microsoft.com/office/powerpoint/2010/main" val="23080328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mandaté en tant que Consultant Data </a:t>
            </a:r>
            <a:r>
              <a:rPr lang="fr-FR" dirty="0" err="1"/>
              <a:t>Scientist</a:t>
            </a:r>
            <a:r>
              <a:rPr lang="fr-FR" dirty="0"/>
              <a:t> par le département RH du client</a:t>
            </a:r>
          </a:p>
          <a:p>
            <a:endParaRPr lang="fr-FR" dirty="0"/>
          </a:p>
          <a:p>
            <a:r>
              <a:rPr lang="fr-FR" i="1" dirty="0"/>
              <a:t>ESN = Entreprise de Services du Numérique</a:t>
            </a:r>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4</a:t>
            </a:fld>
            <a:endParaRPr lang="fr-FR" noProof="0"/>
          </a:p>
        </p:txBody>
      </p:sp>
    </p:spTree>
    <p:extLst>
      <p:ext uri="{BB962C8B-B14F-4D97-AF65-F5344CB8AC3E}">
        <p14:creationId xmlns:p14="http://schemas.microsoft.com/office/powerpoint/2010/main" val="27661234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5</a:t>
            </a:fld>
            <a:endParaRPr lang="fr-FR" noProof="0"/>
          </a:p>
        </p:txBody>
      </p:sp>
    </p:spTree>
    <p:extLst>
      <p:ext uri="{BB962C8B-B14F-4D97-AF65-F5344CB8AC3E}">
        <p14:creationId xmlns:p14="http://schemas.microsoft.com/office/powerpoint/2010/main" val="2947868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6</a:t>
            </a:fld>
            <a:endParaRPr lang="fr-FR" noProof="0"/>
          </a:p>
        </p:txBody>
      </p:sp>
    </p:spTree>
    <p:extLst>
      <p:ext uri="{BB962C8B-B14F-4D97-AF65-F5344CB8AC3E}">
        <p14:creationId xmlns:p14="http://schemas.microsoft.com/office/powerpoint/2010/main" val="36270184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analyser les données nous devons les préparer</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7</a:t>
            </a:fld>
            <a:endParaRPr lang="fr-FR" noProof="0"/>
          </a:p>
        </p:txBody>
      </p:sp>
    </p:spTree>
    <p:extLst>
      <p:ext uri="{BB962C8B-B14F-4D97-AF65-F5344CB8AC3E}">
        <p14:creationId xmlns:p14="http://schemas.microsoft.com/office/powerpoint/2010/main" val="4097205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8</a:t>
            </a:fld>
            <a:endParaRPr lang="fr-FR" noProof="0"/>
          </a:p>
        </p:txBody>
      </p:sp>
    </p:spTree>
    <p:extLst>
      <p:ext uri="{BB962C8B-B14F-4D97-AF65-F5344CB8AC3E}">
        <p14:creationId xmlns:p14="http://schemas.microsoft.com/office/powerpoint/2010/main" val="32410410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Globalement le </a:t>
            </a:r>
            <a:r>
              <a:rPr lang="fr-FR" dirty="0" err="1"/>
              <a:t>dataset</a:t>
            </a:r>
            <a:r>
              <a:rPr lang="fr-FR" dirty="0"/>
              <a:t> est propre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9</a:t>
            </a:fld>
            <a:endParaRPr lang="fr-FR" noProof="0"/>
          </a:p>
        </p:txBody>
      </p:sp>
    </p:spTree>
    <p:extLst>
      <p:ext uri="{BB962C8B-B14F-4D97-AF65-F5344CB8AC3E}">
        <p14:creationId xmlns:p14="http://schemas.microsoft.com/office/powerpoint/2010/main" val="4830673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Ces informations sont soit incorrecte soit inutile dans notre  cas</a:t>
            </a:r>
          </a:p>
          <a:p>
            <a:r>
              <a:rPr lang="fr-FR" dirty="0"/>
              <a:t>Impossible de les retravailler car cela introduirait trop de valeur fictives =&gt; donc suppression</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10</a:t>
            </a:fld>
            <a:endParaRPr lang="fr-FR" noProof="0"/>
          </a:p>
        </p:txBody>
      </p:sp>
    </p:spTree>
    <p:extLst>
      <p:ext uri="{BB962C8B-B14F-4D97-AF65-F5344CB8AC3E}">
        <p14:creationId xmlns:p14="http://schemas.microsoft.com/office/powerpoint/2010/main" val="13632168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B9793-939C-9ED6-1873-A265EF828CD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32ACA2F-97E3-4662-606D-BD06BE23C9D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70703E3-EFD9-09E8-636A-87D376D0EA6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1468EBC-400A-43AB-9A35-311BA4E58402}"/>
              </a:ext>
            </a:extLst>
          </p:cNvPr>
          <p:cNvSpPr>
            <a:spLocks noGrp="1"/>
          </p:cNvSpPr>
          <p:nvPr>
            <p:ph type="sldNum" sz="quarter" idx="5"/>
          </p:nvPr>
        </p:nvSpPr>
        <p:spPr/>
        <p:txBody>
          <a:bodyPr/>
          <a:lstStyle/>
          <a:p>
            <a:pPr rtl="0"/>
            <a:fld id="{C6B3AB32-59DF-41F1-9618-EDFBF5049629}" type="slidenum">
              <a:rPr lang="fr-FR" noProof="0" smtClean="0"/>
              <a:t>12</a:t>
            </a:fld>
            <a:endParaRPr lang="fr-FR" noProof="0"/>
          </a:p>
        </p:txBody>
      </p:sp>
    </p:spTree>
    <p:extLst>
      <p:ext uri="{BB962C8B-B14F-4D97-AF65-F5344CB8AC3E}">
        <p14:creationId xmlns:p14="http://schemas.microsoft.com/office/powerpoint/2010/main" val="18739500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Les </a:t>
            </a:r>
            <a:r>
              <a:rPr lang="fr-FR" dirty="0" err="1"/>
              <a:t>outliers</a:t>
            </a:r>
            <a:r>
              <a:rPr lang="fr-FR" dirty="0"/>
              <a:t> peuvent fortement perturber les modèles de </a:t>
            </a:r>
            <a:r>
              <a:rPr lang="fr-FR" dirty="0" err="1"/>
              <a:t>MachineLearning</a:t>
            </a:r>
            <a:endParaRPr lang="fr-FR" dirty="0"/>
          </a:p>
          <a:p>
            <a:endParaRPr lang="fr-FR" dirty="0"/>
          </a:p>
          <a:p>
            <a:r>
              <a:rPr lang="fr-FR" dirty="0"/>
              <a:t>Pas de </a:t>
            </a:r>
            <a:r>
              <a:rPr lang="fr-FR" dirty="0" err="1"/>
              <a:t>outliers</a:t>
            </a:r>
            <a:r>
              <a:rPr lang="fr-FR" dirty="0"/>
              <a:t> choquant dans Sondages (erreurs) ou </a:t>
            </a:r>
            <a:r>
              <a:rPr lang="fr-FR" dirty="0" err="1"/>
              <a:t>evaluations</a:t>
            </a:r>
            <a:endParaRPr lang="fr-FR" dirty="0"/>
          </a:p>
          <a:p>
            <a:endParaRPr lang="fr-FR" dirty="0"/>
          </a:p>
          <a:p>
            <a:r>
              <a:rPr lang="fr-FR" dirty="0"/>
              <a:t>Voyons SIRH en détail</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14</a:t>
            </a:fld>
            <a:endParaRPr lang="fr-FR" noProof="0"/>
          </a:p>
        </p:txBody>
      </p:sp>
    </p:spTree>
    <p:extLst>
      <p:ext uri="{BB962C8B-B14F-4D97-AF65-F5344CB8AC3E}">
        <p14:creationId xmlns:p14="http://schemas.microsoft.com/office/powerpoint/2010/main" val="39114484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08022-CB32-98F2-4A09-A01DF59E0C4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EF4670C-B126-C596-268A-8C557E651437}"/>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9DFF4E63-FA31-2EED-200D-E28DC0462477}"/>
              </a:ext>
            </a:extLst>
          </p:cNvPr>
          <p:cNvSpPr>
            <a:spLocks noGrp="1"/>
          </p:cNvSpPr>
          <p:nvPr>
            <p:ph type="body" idx="1"/>
          </p:nvPr>
        </p:nvSpPr>
        <p:spPr/>
        <p:txBody>
          <a:bodyPr/>
          <a:lstStyle/>
          <a:p>
            <a:endParaRPr lang="fr-FR" dirty="0"/>
          </a:p>
          <a:p>
            <a:r>
              <a:rPr lang="fr-FR" dirty="0"/>
              <a:t>Revenu mensuel possèdes des </a:t>
            </a:r>
            <a:r>
              <a:rPr lang="fr-FR" dirty="0" err="1"/>
              <a:t>outliers</a:t>
            </a:r>
            <a:r>
              <a:rPr lang="fr-FR" dirty="0"/>
              <a:t> mais doivent être prit en compte tout de </a:t>
            </a:r>
            <a:r>
              <a:rPr lang="fr-FR" dirty="0" err="1"/>
              <a:t>meme</a:t>
            </a:r>
            <a:r>
              <a:rPr lang="fr-FR" dirty="0"/>
              <a:t> dans le </a:t>
            </a:r>
            <a:r>
              <a:rPr lang="fr-FR" dirty="0" err="1"/>
              <a:t>modele</a:t>
            </a:r>
            <a:endParaRPr lang="fr-FR" dirty="0"/>
          </a:p>
          <a:p>
            <a:endParaRPr lang="fr-FR" dirty="0"/>
          </a:p>
          <a:p>
            <a:r>
              <a:rPr lang="fr-FR" dirty="0"/>
              <a:t>le min/max du salaire est de 1009 à 19,999 €/mois</a:t>
            </a:r>
            <a:br>
              <a:rPr lang="fr-FR" dirty="0"/>
            </a:br>
            <a:br>
              <a:rPr lang="fr-FR" dirty="0"/>
            </a:br>
            <a:endParaRPr lang="fr-FR" dirty="0"/>
          </a:p>
        </p:txBody>
      </p:sp>
      <p:sp>
        <p:nvSpPr>
          <p:cNvPr id="4" name="Espace réservé du numéro de diapositive 3">
            <a:extLst>
              <a:ext uri="{FF2B5EF4-FFF2-40B4-BE49-F238E27FC236}">
                <a16:creationId xmlns:a16="http://schemas.microsoft.com/office/drawing/2014/main" id="{BEA5C0C2-CFB4-7FDA-ABA4-737183B05337}"/>
              </a:ext>
            </a:extLst>
          </p:cNvPr>
          <p:cNvSpPr>
            <a:spLocks noGrp="1"/>
          </p:cNvSpPr>
          <p:nvPr>
            <p:ph type="sldNum" sz="quarter" idx="5"/>
          </p:nvPr>
        </p:nvSpPr>
        <p:spPr/>
        <p:txBody>
          <a:bodyPr/>
          <a:lstStyle/>
          <a:p>
            <a:pPr rtl="0"/>
            <a:fld id="{C6B3AB32-59DF-41F1-9618-EDFBF5049629}" type="slidenum">
              <a:rPr lang="fr-FR" noProof="0" smtClean="0"/>
              <a:t>15</a:t>
            </a:fld>
            <a:endParaRPr lang="fr-FR" noProof="0"/>
          </a:p>
        </p:txBody>
      </p:sp>
    </p:spTree>
    <p:extLst>
      <p:ext uri="{BB962C8B-B14F-4D97-AF65-F5344CB8AC3E}">
        <p14:creationId xmlns:p14="http://schemas.microsoft.com/office/powerpoint/2010/main" val="4390043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631E4-8150-EED0-5F21-89DED617CA7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09F272B-95E6-91B8-BBFA-E91F16E00F0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8BED5DB-37D6-DF16-DF58-6F117C909853}"/>
              </a:ext>
            </a:extLst>
          </p:cNvPr>
          <p:cNvSpPr>
            <a:spLocks noGrp="1"/>
          </p:cNvSpPr>
          <p:nvPr>
            <p:ph type="body" idx="1"/>
          </p:nvPr>
        </p:nvSpPr>
        <p:spPr/>
        <p:txBody>
          <a:bodyPr/>
          <a:lstStyle/>
          <a:p>
            <a:endParaRPr lang="fr-FR" dirty="0"/>
          </a:p>
          <a:p>
            <a:r>
              <a:rPr lang="fr-FR" dirty="0"/>
              <a:t>Si on regarde la </a:t>
            </a:r>
            <a:r>
              <a:rPr lang="fr-FR" b="1" dirty="0"/>
              <a:t>DISTIBUTION DES SALAIRES</a:t>
            </a:r>
          </a:p>
          <a:p>
            <a:endParaRPr lang="fr-FR" dirty="0"/>
          </a:p>
          <a:p>
            <a:r>
              <a:rPr lang="fr-FR" dirty="0"/>
              <a:t>le min/max du salaire est de 1009 à 19,999 €/mois</a:t>
            </a:r>
            <a:br>
              <a:rPr lang="fr-FR" dirty="0"/>
            </a:br>
            <a:br>
              <a:rPr lang="fr-FR" dirty="0"/>
            </a:br>
            <a:r>
              <a:rPr lang="fr-FR" dirty="0"/>
              <a:t>Le maximum de 19 999 n'est pas isolé</a:t>
            </a:r>
          </a:p>
          <a:p>
            <a:endParaRPr lang="fr-FR" dirty="0"/>
          </a:p>
          <a:p>
            <a:r>
              <a:rPr lang="fr-FR" dirty="0"/>
              <a:t>mais risque de faire apprendre au modèle salaire bas = démission</a:t>
            </a:r>
          </a:p>
        </p:txBody>
      </p:sp>
      <p:sp>
        <p:nvSpPr>
          <p:cNvPr id="4" name="Espace réservé du numéro de diapositive 3">
            <a:extLst>
              <a:ext uri="{FF2B5EF4-FFF2-40B4-BE49-F238E27FC236}">
                <a16:creationId xmlns:a16="http://schemas.microsoft.com/office/drawing/2014/main" id="{90E02D0F-634D-1135-4F02-927961105F6C}"/>
              </a:ext>
            </a:extLst>
          </p:cNvPr>
          <p:cNvSpPr>
            <a:spLocks noGrp="1"/>
          </p:cNvSpPr>
          <p:nvPr>
            <p:ph type="sldNum" sz="quarter" idx="5"/>
          </p:nvPr>
        </p:nvSpPr>
        <p:spPr/>
        <p:txBody>
          <a:bodyPr/>
          <a:lstStyle/>
          <a:p>
            <a:pPr rtl="0"/>
            <a:fld id="{C6B3AB32-59DF-41F1-9618-EDFBF5049629}" type="slidenum">
              <a:rPr lang="fr-FR" noProof="0" smtClean="0"/>
              <a:t>16</a:t>
            </a:fld>
            <a:endParaRPr lang="fr-FR" noProof="0"/>
          </a:p>
        </p:txBody>
      </p:sp>
    </p:spTree>
    <p:extLst>
      <p:ext uri="{BB962C8B-B14F-4D97-AF65-F5344CB8AC3E}">
        <p14:creationId xmlns:p14="http://schemas.microsoft.com/office/powerpoint/2010/main" val="26965250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89A36-8469-C609-999F-77DE8916C0C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045A04B-830C-2D7C-426E-1F3B39AC2BDD}"/>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04936F91-F919-E263-9BD7-F1CEDE0EF929}"/>
              </a:ext>
            </a:extLst>
          </p:cNvPr>
          <p:cNvSpPr>
            <a:spLocks noGrp="1"/>
          </p:cNvSpPr>
          <p:nvPr>
            <p:ph type="body" idx="1"/>
          </p:nvPr>
        </p:nvSpPr>
        <p:spPr/>
        <p:txBody>
          <a:bodyPr rtlCol="0"/>
          <a:lstStyle/>
          <a:p>
            <a:pPr rtl="0"/>
            <a:r>
              <a:rPr lang="fr-FR" dirty="0"/>
              <a:t>Si on regarde la matrice de confusion seul 1/3 des valeurs présente une </a:t>
            </a:r>
            <a:r>
              <a:rPr lang="fr-FR" dirty="0" err="1"/>
              <a:t>correlation</a:t>
            </a:r>
            <a:endParaRPr lang="fr-FR" sz="1200" cap="none" dirty="0">
              <a:solidFill>
                <a:srgbClr val="FF0000"/>
              </a:solidFill>
            </a:endParaRPr>
          </a:p>
          <a:p>
            <a:pPr rtl="0"/>
            <a:endParaRPr lang="fr-FR" sz="1200" cap="none" dirty="0">
              <a:solidFill>
                <a:srgbClr val="FF0000"/>
              </a:solidFill>
            </a:endParaRPr>
          </a:p>
          <a:p>
            <a:pPr rtl="0"/>
            <a:endParaRPr lang="fr-FR" dirty="0"/>
          </a:p>
        </p:txBody>
      </p:sp>
      <p:sp>
        <p:nvSpPr>
          <p:cNvPr id="4" name="Espace réservé du numéro de diapositive 3">
            <a:extLst>
              <a:ext uri="{FF2B5EF4-FFF2-40B4-BE49-F238E27FC236}">
                <a16:creationId xmlns:a16="http://schemas.microsoft.com/office/drawing/2014/main" id="{1FCE8220-440C-EB29-CCDF-A5DBCFE1FFA3}"/>
              </a:ext>
            </a:extLst>
          </p:cNvPr>
          <p:cNvSpPr>
            <a:spLocks noGrp="1"/>
          </p:cNvSpPr>
          <p:nvPr>
            <p:ph type="sldNum" sz="quarter" idx="5"/>
          </p:nvPr>
        </p:nvSpPr>
        <p:spPr/>
        <p:txBody>
          <a:bodyPr rtlCol="0"/>
          <a:lstStyle/>
          <a:p>
            <a:pPr rtl="0"/>
            <a:fld id="{C6B3AB32-59DF-41F1-9618-EDFBF5049629}" type="slidenum">
              <a:rPr lang="fr-FR" smtClean="0"/>
              <a:t>17</a:t>
            </a:fld>
            <a:endParaRPr lang="fr-FR"/>
          </a:p>
        </p:txBody>
      </p:sp>
    </p:spTree>
    <p:extLst>
      <p:ext uri="{BB962C8B-B14F-4D97-AF65-F5344CB8AC3E}">
        <p14:creationId xmlns:p14="http://schemas.microsoft.com/office/powerpoint/2010/main" val="2176146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F69E8-4F8F-7A9C-7E41-AA70D1AE139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EA969F2-B820-CBA2-78B7-7B988B27B511}"/>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C43E1451-1F8C-8AA9-FE97-EE48132B2D59}"/>
              </a:ext>
            </a:extLst>
          </p:cNvPr>
          <p:cNvSpPr>
            <a:spLocks noGrp="1"/>
          </p:cNvSpPr>
          <p:nvPr>
            <p:ph type="body" idx="1"/>
          </p:nvPr>
        </p:nvSpPr>
        <p:spPr/>
        <p:txBody>
          <a:bodyPr rtlCol="0"/>
          <a:lstStyle/>
          <a:p>
            <a:pPr rtl="0"/>
            <a:r>
              <a:rPr lang="fr-FR" dirty="0"/>
              <a:t>Si on zoom dessus:</a:t>
            </a:r>
          </a:p>
          <a:p>
            <a:pPr rtl="0"/>
            <a:endParaRPr lang="fr-FR" dirty="0"/>
          </a:p>
          <a:p>
            <a:pPr rtl="0"/>
            <a:r>
              <a:rPr lang="fr-FR" dirty="0"/>
              <a:t>On voit que les 2 graphiques sont globalement ressemblant mais plus intense pour les départs</a:t>
            </a:r>
          </a:p>
          <a:p>
            <a:pPr rtl="0"/>
            <a:endParaRPr lang="fr-FR" dirty="0"/>
          </a:p>
          <a:p>
            <a:pPr rtl="0"/>
            <a:r>
              <a:rPr lang="fr-FR" dirty="0"/>
              <a:t>Les valeurs corrélées sont plutôt logiques:</a:t>
            </a:r>
          </a:p>
          <a:p>
            <a:pPr rtl="0"/>
            <a:r>
              <a:rPr lang="fr-FR" dirty="0" err="1"/>
              <a:t>note_evaluation_actuelle</a:t>
            </a:r>
            <a:r>
              <a:rPr lang="fr-FR" dirty="0"/>
              <a:t> &lt;&gt; </a:t>
            </a:r>
            <a:r>
              <a:rPr lang="fr-FR" dirty="0" err="1"/>
              <a:t>augmentation_salaire_precedente</a:t>
            </a:r>
            <a:endParaRPr lang="fr-FR" dirty="0"/>
          </a:p>
          <a:p>
            <a:pPr rtl="0"/>
            <a:r>
              <a:rPr lang="fr-FR" sz="1200" cap="none" dirty="0" err="1">
                <a:solidFill>
                  <a:srgbClr val="FF0000"/>
                </a:solidFill>
              </a:rPr>
              <a:t>annee_experience_totale</a:t>
            </a:r>
            <a:r>
              <a:rPr lang="fr-FR" sz="1200" cap="none" dirty="0">
                <a:solidFill>
                  <a:srgbClr val="FF0000"/>
                </a:solidFill>
              </a:rPr>
              <a:t> &lt;&gt; </a:t>
            </a:r>
            <a:r>
              <a:rPr lang="fr-FR" sz="1200" cap="none" dirty="0" err="1">
                <a:solidFill>
                  <a:srgbClr val="FF0000"/>
                </a:solidFill>
              </a:rPr>
              <a:t>annee_dans_l_entreprise</a:t>
            </a:r>
            <a:endParaRPr lang="fr-FR" sz="1200" cap="none" dirty="0">
              <a:solidFill>
                <a:srgbClr val="FF0000"/>
              </a:solidFill>
            </a:endParaRPr>
          </a:p>
          <a:p>
            <a:pPr rtl="0"/>
            <a:r>
              <a:rPr lang="fr-FR" sz="1200" cap="none" dirty="0" err="1">
                <a:solidFill>
                  <a:srgbClr val="FF0000"/>
                </a:solidFill>
              </a:rPr>
              <a:t>annee_experience_totale</a:t>
            </a:r>
            <a:r>
              <a:rPr lang="fr-FR" sz="1200" cap="none" dirty="0">
                <a:solidFill>
                  <a:srgbClr val="FF0000"/>
                </a:solidFill>
              </a:rPr>
              <a:t> &lt;&gt; </a:t>
            </a:r>
            <a:r>
              <a:rPr lang="fr-FR" sz="1200" cap="none" dirty="0" err="1">
                <a:solidFill>
                  <a:srgbClr val="FF0000"/>
                </a:solidFill>
              </a:rPr>
              <a:t>age</a:t>
            </a:r>
            <a:endParaRPr lang="fr-FR" sz="1200" cap="none" dirty="0">
              <a:solidFill>
                <a:srgbClr val="FF00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cap="none" dirty="0" err="1">
                <a:solidFill>
                  <a:srgbClr val="FF0000"/>
                </a:solidFill>
              </a:rPr>
              <a:t>annee_derniere_promotion</a:t>
            </a:r>
            <a:r>
              <a:rPr lang="fr-FR" sz="1200" cap="none" dirty="0">
                <a:solidFill>
                  <a:srgbClr val="FF0000"/>
                </a:solidFill>
              </a:rPr>
              <a:t> &lt;&gt; </a:t>
            </a:r>
            <a:r>
              <a:rPr lang="fr-FR" sz="1200" cap="none" dirty="0" err="1">
                <a:solidFill>
                  <a:srgbClr val="FF0000"/>
                </a:solidFill>
              </a:rPr>
              <a:t>age</a:t>
            </a:r>
            <a:endParaRPr lang="fr-FR" sz="1200" cap="none" dirty="0">
              <a:solidFill>
                <a:srgbClr val="FF0000"/>
              </a:solidFill>
            </a:endParaRPr>
          </a:p>
          <a:p>
            <a:pPr rtl="0"/>
            <a:r>
              <a:rPr lang="fr-FR" sz="1200" cap="none" dirty="0">
                <a:solidFill>
                  <a:srgbClr val="FF0000"/>
                </a:solidFill>
              </a:rPr>
              <a:t>Etc…</a:t>
            </a:r>
          </a:p>
          <a:p>
            <a:pPr rtl="0"/>
            <a:endParaRPr lang="fr-FR" sz="1200" cap="none" dirty="0">
              <a:solidFill>
                <a:srgbClr val="FF0000"/>
              </a:solidFill>
            </a:endParaRPr>
          </a:p>
          <a:p>
            <a:pPr rtl="0"/>
            <a:endParaRPr lang="fr-FR" dirty="0"/>
          </a:p>
        </p:txBody>
      </p:sp>
      <p:sp>
        <p:nvSpPr>
          <p:cNvPr id="4" name="Espace réservé du numéro de diapositive 3">
            <a:extLst>
              <a:ext uri="{FF2B5EF4-FFF2-40B4-BE49-F238E27FC236}">
                <a16:creationId xmlns:a16="http://schemas.microsoft.com/office/drawing/2014/main" id="{AA86BF09-177A-B396-A089-3AD52328F016}"/>
              </a:ext>
            </a:extLst>
          </p:cNvPr>
          <p:cNvSpPr>
            <a:spLocks noGrp="1"/>
          </p:cNvSpPr>
          <p:nvPr>
            <p:ph type="sldNum" sz="quarter" idx="5"/>
          </p:nvPr>
        </p:nvSpPr>
        <p:spPr/>
        <p:txBody>
          <a:bodyPr rtlCol="0"/>
          <a:lstStyle/>
          <a:p>
            <a:pPr rtl="0"/>
            <a:fld id="{C6B3AB32-59DF-41F1-9618-EDFBF5049629}" type="slidenum">
              <a:rPr lang="fr-FR" smtClean="0"/>
              <a:t>18</a:t>
            </a:fld>
            <a:endParaRPr lang="fr-FR"/>
          </a:p>
        </p:txBody>
      </p:sp>
    </p:spTree>
    <p:extLst>
      <p:ext uri="{BB962C8B-B14F-4D97-AF65-F5344CB8AC3E}">
        <p14:creationId xmlns:p14="http://schemas.microsoft.com/office/powerpoint/2010/main" val="26919228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7DDF-1565-460D-7632-8DB4205BF12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937EF3A-67B8-3982-9B6C-5AFF4168C634}"/>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C6179351-D1B0-8933-365D-1A8449B4557B}"/>
              </a:ext>
            </a:extLst>
          </p:cNvPr>
          <p:cNvSpPr>
            <a:spLocks noGrp="1"/>
          </p:cNvSpPr>
          <p:nvPr>
            <p:ph type="body" idx="1"/>
          </p:nvPr>
        </p:nvSpPr>
        <p:spPr/>
        <p:txBody>
          <a:bodyPr rtlCol="0"/>
          <a:lstStyle/>
          <a:p>
            <a:pPr rtl="0"/>
            <a:endParaRPr lang="fr-FR"/>
          </a:p>
        </p:txBody>
      </p:sp>
      <p:sp>
        <p:nvSpPr>
          <p:cNvPr id="4" name="Espace réservé du numéro de diapositive 3">
            <a:extLst>
              <a:ext uri="{FF2B5EF4-FFF2-40B4-BE49-F238E27FC236}">
                <a16:creationId xmlns:a16="http://schemas.microsoft.com/office/drawing/2014/main" id="{AFB64E2C-F309-26A1-29C7-D147CB8322B7}"/>
              </a:ext>
            </a:extLst>
          </p:cNvPr>
          <p:cNvSpPr>
            <a:spLocks noGrp="1"/>
          </p:cNvSpPr>
          <p:nvPr>
            <p:ph type="sldNum" sz="quarter" idx="5"/>
          </p:nvPr>
        </p:nvSpPr>
        <p:spPr/>
        <p:txBody>
          <a:bodyPr rtlCol="0"/>
          <a:lstStyle/>
          <a:p>
            <a:pPr rtl="0"/>
            <a:fld id="{C6B3AB32-59DF-41F1-9618-EDFBF5049629}" type="slidenum">
              <a:rPr lang="fr-FR" smtClean="0"/>
              <a:t>19</a:t>
            </a:fld>
            <a:endParaRPr lang="fr-FR"/>
          </a:p>
        </p:txBody>
      </p:sp>
    </p:spTree>
    <p:extLst>
      <p:ext uri="{BB962C8B-B14F-4D97-AF65-F5344CB8AC3E}">
        <p14:creationId xmlns:p14="http://schemas.microsoft.com/office/powerpoint/2010/main" val="3500887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7CD09-F6CE-C390-CC5F-14C307D3FC4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3CA679E-56D5-DA9C-3F9E-B7C4D91B89D7}"/>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3BC1A91F-6392-4AB9-EC1C-3EF67A1937CE}"/>
              </a:ext>
            </a:extLst>
          </p:cNvPr>
          <p:cNvSpPr>
            <a:spLocks noGrp="1"/>
          </p:cNvSpPr>
          <p:nvPr>
            <p:ph type="body" idx="1"/>
          </p:nvPr>
        </p:nvSpPr>
        <p:spPr/>
        <p:txBody>
          <a:bodyPr rtlCol="0"/>
          <a:lstStyle/>
          <a:p>
            <a:pPr rtl="0"/>
            <a:r>
              <a:rPr lang="fr-FR" dirty="0"/>
              <a:t>Les représentants commerciaux sont les plus touchés avec 40% dans le poste</a:t>
            </a:r>
          </a:p>
        </p:txBody>
      </p:sp>
      <p:sp>
        <p:nvSpPr>
          <p:cNvPr id="4" name="Espace réservé du numéro de diapositive 3">
            <a:extLst>
              <a:ext uri="{FF2B5EF4-FFF2-40B4-BE49-F238E27FC236}">
                <a16:creationId xmlns:a16="http://schemas.microsoft.com/office/drawing/2014/main" id="{5A9B1C26-D223-45AC-1CF5-942769045A5E}"/>
              </a:ext>
            </a:extLst>
          </p:cNvPr>
          <p:cNvSpPr>
            <a:spLocks noGrp="1"/>
          </p:cNvSpPr>
          <p:nvPr>
            <p:ph type="sldNum" sz="quarter" idx="5"/>
          </p:nvPr>
        </p:nvSpPr>
        <p:spPr/>
        <p:txBody>
          <a:bodyPr rtlCol="0"/>
          <a:lstStyle/>
          <a:p>
            <a:pPr rtl="0"/>
            <a:fld id="{C6B3AB32-59DF-41F1-9618-EDFBF5049629}" type="slidenum">
              <a:rPr lang="fr-FR" smtClean="0"/>
              <a:t>20</a:t>
            </a:fld>
            <a:endParaRPr lang="fr-FR"/>
          </a:p>
        </p:txBody>
      </p:sp>
    </p:spTree>
    <p:extLst>
      <p:ext uri="{BB962C8B-B14F-4D97-AF65-F5344CB8AC3E}">
        <p14:creationId xmlns:p14="http://schemas.microsoft.com/office/powerpoint/2010/main" val="35659045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C820E-D793-0CBB-DB6F-10293059F78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149BE40-1CF7-AB01-2BEB-CC61840177A8}"/>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B147367D-4A1D-3C8D-4DC7-D360D984C790}"/>
              </a:ext>
            </a:extLst>
          </p:cNvPr>
          <p:cNvSpPr>
            <a:spLocks noGrp="1"/>
          </p:cNvSpPr>
          <p:nvPr>
            <p:ph type="body" idx="1"/>
          </p:nvPr>
        </p:nvSpPr>
        <p:spPr/>
        <p:txBody>
          <a:bodyPr rtlCol="0"/>
          <a:lstStyle/>
          <a:p>
            <a:pPr rtl="0"/>
            <a:r>
              <a:rPr lang="fr-FR" dirty="0"/>
              <a:t>Les 3 premières catégories regroupe beaucoup plus de salariés que « Représentant Commerciaux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Ce qui explique </a:t>
            </a:r>
            <a:r>
              <a:rPr lang="fr-FR" sz="1200" cap="none" dirty="0">
                <a:solidFill>
                  <a:srgbClr val="FF0000"/>
                </a:solidFill>
              </a:rPr>
              <a:t>Les postes les plus concernés (en nombres #) par rapport au (%)</a:t>
            </a:r>
          </a:p>
          <a:p>
            <a:pPr rtl="0"/>
            <a:endParaRPr lang="fr-FR" dirty="0"/>
          </a:p>
          <a:p>
            <a:pPr rtl="0"/>
            <a:r>
              <a:rPr lang="fr-FR" dirty="0"/>
              <a:t>Carde commercial, Assistant Direction et Consultant =&gt; plus nombreux =&gt; plus de démissions (en nombre)</a:t>
            </a:r>
          </a:p>
          <a:p>
            <a:pPr rtl="0"/>
            <a:r>
              <a:rPr lang="fr-FR" dirty="0"/>
              <a:t>MAIS</a:t>
            </a:r>
          </a:p>
          <a:p>
            <a:pPr rtl="0"/>
            <a:r>
              <a:rPr lang="fr-FR" dirty="0"/>
              <a:t>Représentant Commerciaux =&gt; plus de démissions (en %)</a:t>
            </a:r>
          </a:p>
        </p:txBody>
      </p:sp>
      <p:sp>
        <p:nvSpPr>
          <p:cNvPr id="4" name="Espace réservé du numéro de diapositive 3">
            <a:extLst>
              <a:ext uri="{FF2B5EF4-FFF2-40B4-BE49-F238E27FC236}">
                <a16:creationId xmlns:a16="http://schemas.microsoft.com/office/drawing/2014/main" id="{F4008FE6-9145-1EF4-4E9B-12F1514B54F2}"/>
              </a:ext>
            </a:extLst>
          </p:cNvPr>
          <p:cNvSpPr>
            <a:spLocks noGrp="1"/>
          </p:cNvSpPr>
          <p:nvPr>
            <p:ph type="sldNum" sz="quarter" idx="5"/>
          </p:nvPr>
        </p:nvSpPr>
        <p:spPr/>
        <p:txBody>
          <a:bodyPr rtlCol="0"/>
          <a:lstStyle/>
          <a:p>
            <a:pPr rtl="0"/>
            <a:fld id="{C6B3AB32-59DF-41F1-9618-EDFBF5049629}" type="slidenum">
              <a:rPr lang="fr-FR" smtClean="0"/>
              <a:t>21</a:t>
            </a:fld>
            <a:endParaRPr lang="fr-FR"/>
          </a:p>
        </p:txBody>
      </p:sp>
    </p:spTree>
    <p:extLst>
      <p:ext uri="{BB962C8B-B14F-4D97-AF65-F5344CB8AC3E}">
        <p14:creationId xmlns:p14="http://schemas.microsoft.com/office/powerpoint/2010/main" val="888355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194FE-373D-42DF-4F35-9D7D3ED617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F3D63DA-8EBB-9954-6921-0D25ACB2B08B}"/>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B08B0656-60A7-5E0A-BDA4-7027E836D2C6}"/>
              </a:ext>
            </a:extLst>
          </p:cNvPr>
          <p:cNvSpPr>
            <a:spLocks noGrp="1"/>
          </p:cNvSpPr>
          <p:nvPr>
            <p:ph type="body" idx="1"/>
          </p:nvPr>
        </p:nvSpPr>
        <p:spPr/>
        <p:txBody>
          <a:bodyPr rtlCol="0"/>
          <a:lstStyle/>
          <a:p>
            <a:pPr rtl="0"/>
            <a:r>
              <a:rPr lang="fr-FR" dirty="0"/>
              <a:t>Corrélation forte entre le salaire et démissions</a:t>
            </a:r>
          </a:p>
        </p:txBody>
      </p:sp>
      <p:sp>
        <p:nvSpPr>
          <p:cNvPr id="4" name="Espace réservé du numéro de diapositive 3">
            <a:extLst>
              <a:ext uri="{FF2B5EF4-FFF2-40B4-BE49-F238E27FC236}">
                <a16:creationId xmlns:a16="http://schemas.microsoft.com/office/drawing/2014/main" id="{289F29C8-0F7B-0D1C-1EE8-A0C284FB2807}"/>
              </a:ext>
            </a:extLst>
          </p:cNvPr>
          <p:cNvSpPr>
            <a:spLocks noGrp="1"/>
          </p:cNvSpPr>
          <p:nvPr>
            <p:ph type="sldNum" sz="quarter" idx="5"/>
          </p:nvPr>
        </p:nvSpPr>
        <p:spPr/>
        <p:txBody>
          <a:bodyPr rtlCol="0"/>
          <a:lstStyle/>
          <a:p>
            <a:pPr rtl="0"/>
            <a:fld id="{C6B3AB32-59DF-41F1-9618-EDFBF5049629}" type="slidenum">
              <a:rPr lang="fr-FR" smtClean="0"/>
              <a:t>22</a:t>
            </a:fld>
            <a:endParaRPr lang="fr-FR"/>
          </a:p>
        </p:txBody>
      </p:sp>
    </p:spTree>
    <p:extLst>
      <p:ext uri="{BB962C8B-B14F-4D97-AF65-F5344CB8AC3E}">
        <p14:creationId xmlns:p14="http://schemas.microsoft.com/office/powerpoint/2010/main" val="3928868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CEC01-C35C-BC0A-706F-5A32A6263C4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7013224-66E6-DE8C-E611-5EFBEABD8C51}"/>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9C3AEEEE-95B4-C7F9-5D14-068E3F5AB893}"/>
              </a:ext>
            </a:extLst>
          </p:cNvPr>
          <p:cNvSpPr>
            <a:spLocks noGrp="1"/>
          </p:cNvSpPr>
          <p:nvPr>
            <p:ph type="body" idx="1"/>
          </p:nvPr>
        </p:nvSpPr>
        <p:spPr/>
        <p:txBody>
          <a:bodyPr rtlCol="0"/>
          <a:lstStyle/>
          <a:p>
            <a:pPr rtl="0"/>
            <a:r>
              <a:rPr lang="fr-FR" dirty="0"/>
              <a:t>Si on regarde le taux de démissions par rapport à l moyenne des salaires on voit clairement une courbe qui se croise !</a:t>
            </a:r>
          </a:p>
        </p:txBody>
      </p:sp>
      <p:sp>
        <p:nvSpPr>
          <p:cNvPr id="4" name="Espace réservé du numéro de diapositive 3">
            <a:extLst>
              <a:ext uri="{FF2B5EF4-FFF2-40B4-BE49-F238E27FC236}">
                <a16:creationId xmlns:a16="http://schemas.microsoft.com/office/drawing/2014/main" id="{33F5DC3A-3C49-8F98-E524-FC9F030943D6}"/>
              </a:ext>
            </a:extLst>
          </p:cNvPr>
          <p:cNvSpPr>
            <a:spLocks noGrp="1"/>
          </p:cNvSpPr>
          <p:nvPr>
            <p:ph type="sldNum" sz="quarter" idx="5"/>
          </p:nvPr>
        </p:nvSpPr>
        <p:spPr/>
        <p:txBody>
          <a:bodyPr rtlCol="0"/>
          <a:lstStyle/>
          <a:p>
            <a:pPr rtl="0"/>
            <a:fld id="{C6B3AB32-59DF-41F1-9618-EDFBF5049629}" type="slidenum">
              <a:rPr lang="fr-FR" smtClean="0"/>
              <a:t>23</a:t>
            </a:fld>
            <a:endParaRPr lang="fr-FR"/>
          </a:p>
        </p:txBody>
      </p:sp>
    </p:spTree>
    <p:extLst>
      <p:ext uri="{BB962C8B-B14F-4D97-AF65-F5344CB8AC3E}">
        <p14:creationId xmlns:p14="http://schemas.microsoft.com/office/powerpoint/2010/main" val="42114299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C332-DDE8-BA4A-0533-7FF445DAD63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B01A4C7-330E-FE92-4E17-B6C510736C55}"/>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B3165E82-4064-7D71-76B7-60D9F593C918}"/>
              </a:ext>
            </a:extLst>
          </p:cNvPr>
          <p:cNvSpPr>
            <a:spLocks noGrp="1"/>
          </p:cNvSpPr>
          <p:nvPr>
            <p:ph type="body" idx="1"/>
          </p:nvPr>
        </p:nvSpPr>
        <p:spPr/>
        <p:txBody>
          <a:bodyPr rtlCol="0"/>
          <a:lstStyle/>
          <a:p>
            <a:pPr rtl="0"/>
            <a:r>
              <a:rPr lang="fr-FR" dirty="0"/>
              <a:t>Alors si on résume l’analyse exploratoire</a:t>
            </a:r>
          </a:p>
        </p:txBody>
      </p:sp>
      <p:sp>
        <p:nvSpPr>
          <p:cNvPr id="4" name="Espace réservé du numéro de diapositive 3">
            <a:extLst>
              <a:ext uri="{FF2B5EF4-FFF2-40B4-BE49-F238E27FC236}">
                <a16:creationId xmlns:a16="http://schemas.microsoft.com/office/drawing/2014/main" id="{C807A573-158F-C57D-9B8F-8EE5429597F5}"/>
              </a:ext>
            </a:extLst>
          </p:cNvPr>
          <p:cNvSpPr>
            <a:spLocks noGrp="1"/>
          </p:cNvSpPr>
          <p:nvPr>
            <p:ph type="sldNum" sz="quarter" idx="5"/>
          </p:nvPr>
        </p:nvSpPr>
        <p:spPr/>
        <p:txBody>
          <a:bodyPr rtlCol="0"/>
          <a:lstStyle/>
          <a:p>
            <a:pPr rtl="0"/>
            <a:fld id="{C6B3AB32-59DF-41F1-9618-EDFBF5049629}" type="slidenum">
              <a:rPr lang="fr-FR" smtClean="0"/>
              <a:t>24</a:t>
            </a:fld>
            <a:endParaRPr lang="fr-FR"/>
          </a:p>
        </p:txBody>
      </p:sp>
    </p:spTree>
    <p:extLst>
      <p:ext uri="{BB962C8B-B14F-4D97-AF65-F5344CB8AC3E}">
        <p14:creationId xmlns:p14="http://schemas.microsoft.com/office/powerpoint/2010/main" val="16284699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0681A-1336-4AD5-6AB2-7F9AD3EB802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801B0E8-CBA5-EF00-A394-2C78CC3EBD78}"/>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D636E031-7D2B-1AD3-AEC0-FA54AE4816F0}"/>
              </a:ext>
            </a:extLst>
          </p:cNvPr>
          <p:cNvSpPr>
            <a:spLocks noGrp="1"/>
          </p:cNvSpPr>
          <p:nvPr>
            <p:ph type="body" idx="1"/>
          </p:nvPr>
        </p:nvSpPr>
        <p:spPr/>
        <p:txBody>
          <a:bodyPr rtlCol="0"/>
          <a:lstStyle/>
          <a:p>
            <a:pPr rtl="0"/>
            <a:r>
              <a:rPr lang="fr-FR" dirty="0"/>
              <a:t>Si on regarde le taux de démissions par rapport à l moyenne des salaires on voit clairement une courbe qui se croise !</a:t>
            </a:r>
          </a:p>
        </p:txBody>
      </p:sp>
      <p:sp>
        <p:nvSpPr>
          <p:cNvPr id="4" name="Espace réservé du numéro de diapositive 3">
            <a:extLst>
              <a:ext uri="{FF2B5EF4-FFF2-40B4-BE49-F238E27FC236}">
                <a16:creationId xmlns:a16="http://schemas.microsoft.com/office/drawing/2014/main" id="{387CD18C-2986-E493-9DDE-78F8426C629D}"/>
              </a:ext>
            </a:extLst>
          </p:cNvPr>
          <p:cNvSpPr>
            <a:spLocks noGrp="1"/>
          </p:cNvSpPr>
          <p:nvPr>
            <p:ph type="sldNum" sz="quarter" idx="5"/>
          </p:nvPr>
        </p:nvSpPr>
        <p:spPr/>
        <p:txBody>
          <a:bodyPr rtlCol="0"/>
          <a:lstStyle/>
          <a:p>
            <a:pPr rtl="0"/>
            <a:fld id="{C6B3AB32-59DF-41F1-9618-EDFBF5049629}" type="slidenum">
              <a:rPr lang="fr-FR" smtClean="0"/>
              <a:t>25</a:t>
            </a:fld>
            <a:endParaRPr lang="fr-FR"/>
          </a:p>
        </p:txBody>
      </p:sp>
    </p:spTree>
    <p:extLst>
      <p:ext uri="{BB962C8B-B14F-4D97-AF65-F5344CB8AC3E}">
        <p14:creationId xmlns:p14="http://schemas.microsoft.com/office/powerpoint/2010/main" val="15178804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325B4-FE81-12AC-D760-14B44E7C5C3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9166934-A7C6-B319-4D0F-C73CEA177A0D}"/>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DF9DC6CA-C40F-E5E6-0846-BAD0B50D0343}"/>
              </a:ext>
            </a:extLst>
          </p:cNvPr>
          <p:cNvSpPr>
            <a:spLocks noGrp="1"/>
          </p:cNvSpPr>
          <p:nvPr>
            <p:ph type="body" idx="1"/>
          </p:nvPr>
        </p:nvSpPr>
        <p:spPr/>
        <p:txBody>
          <a:bodyPr rtlCol="0"/>
          <a:lstStyle/>
          <a:p>
            <a:pPr rtl="0"/>
            <a:r>
              <a:rPr lang="fr-FR" dirty="0"/>
              <a:t>Si on regarde le taux de démissions par rapport à l moyenne des salaires on voit clairement une courbe qui se croise !</a:t>
            </a:r>
          </a:p>
        </p:txBody>
      </p:sp>
      <p:sp>
        <p:nvSpPr>
          <p:cNvPr id="4" name="Espace réservé du numéro de diapositive 3">
            <a:extLst>
              <a:ext uri="{FF2B5EF4-FFF2-40B4-BE49-F238E27FC236}">
                <a16:creationId xmlns:a16="http://schemas.microsoft.com/office/drawing/2014/main" id="{75D38D7A-9FF4-BF3A-3A2B-8FC0DF89BBBD}"/>
              </a:ext>
            </a:extLst>
          </p:cNvPr>
          <p:cNvSpPr>
            <a:spLocks noGrp="1"/>
          </p:cNvSpPr>
          <p:nvPr>
            <p:ph type="sldNum" sz="quarter" idx="5"/>
          </p:nvPr>
        </p:nvSpPr>
        <p:spPr/>
        <p:txBody>
          <a:bodyPr rtlCol="0"/>
          <a:lstStyle/>
          <a:p>
            <a:pPr rtl="0"/>
            <a:fld id="{C6B3AB32-59DF-41F1-9618-EDFBF5049629}" type="slidenum">
              <a:rPr lang="fr-FR" smtClean="0"/>
              <a:t>27</a:t>
            </a:fld>
            <a:endParaRPr lang="fr-FR"/>
          </a:p>
        </p:txBody>
      </p:sp>
    </p:spTree>
    <p:extLst>
      <p:ext uri="{BB962C8B-B14F-4D97-AF65-F5344CB8AC3E}">
        <p14:creationId xmlns:p14="http://schemas.microsoft.com/office/powerpoint/2010/main" val="7283269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25C2F-81F7-BFBC-A925-A45C9242601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2DA3824-A1C9-F303-7DA5-440A7D3E2332}"/>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4AB31884-9FAC-D974-E65D-DEAD13A8D113}"/>
              </a:ext>
            </a:extLst>
          </p:cNvPr>
          <p:cNvSpPr>
            <a:spLocks noGrp="1"/>
          </p:cNvSpPr>
          <p:nvPr>
            <p:ph type="body" idx="1"/>
          </p:nvPr>
        </p:nvSpPr>
        <p:spPr/>
        <p:txBody>
          <a:bodyPr rtlCol="0"/>
          <a:lstStyle/>
          <a:p>
            <a:pPr rtl="0"/>
            <a:r>
              <a:rPr lang="fr-FR" dirty="0"/>
              <a:t>Effectivement nous retrouvons certaines données dans la représentation de la corrélation de Pearson</a:t>
            </a:r>
          </a:p>
          <a:p>
            <a:pPr rtl="0"/>
            <a:endParaRPr lang="fr-FR" dirty="0"/>
          </a:p>
          <a:p>
            <a:pPr rtl="0"/>
            <a:r>
              <a:rPr lang="fr-FR" dirty="0"/>
              <a:t>Mais cette corrélation ne donne pas les raisons, juste une valeur entre -1 et 1 de relation entre 2 variables</a:t>
            </a:r>
          </a:p>
          <a:p>
            <a:pPr rtl="0"/>
            <a:endParaRPr lang="fr-FR" dirty="0"/>
          </a:p>
          <a:p>
            <a:pPr rtl="0"/>
            <a:r>
              <a:rPr lang="fr-FR" dirty="0"/>
              <a:t>La </a:t>
            </a:r>
            <a:r>
              <a:rPr lang="fr-FR" b="1" dirty="0"/>
              <a:t>corrélation de Pearson</a:t>
            </a:r>
            <a:r>
              <a:rPr lang="fr-FR" dirty="0"/>
              <a:t> mesure </a:t>
            </a:r>
            <a:r>
              <a:rPr lang="fr-FR" b="1" dirty="0"/>
              <a:t>la relation linéaire </a:t>
            </a:r>
            <a:r>
              <a:rPr lang="fr-FR" dirty="0"/>
              <a:t>entre deux variables quantitatives</a:t>
            </a:r>
          </a:p>
          <a:p>
            <a:pPr rtl="0"/>
            <a:endParaRPr lang="fr-FR" dirty="0"/>
          </a:p>
          <a:p>
            <a:pPr rtl="0"/>
            <a:r>
              <a:rPr lang="fr-FR" b="1" dirty="0"/>
              <a:t>Corrélation proche de +1</a:t>
            </a:r>
            <a:r>
              <a:rPr lang="fr-FR" dirty="0"/>
              <a:t> → forte relation positive</a:t>
            </a:r>
            <a:br>
              <a:rPr lang="fr-FR" dirty="0"/>
            </a:br>
            <a:r>
              <a:rPr lang="fr-FR" dirty="0"/>
              <a:t>→ quand la variable augmente, </a:t>
            </a:r>
            <a:r>
              <a:rPr lang="fr-FR" sz="1200" kern="1200" dirty="0">
                <a:solidFill>
                  <a:schemeClr val="tx1"/>
                </a:solidFill>
                <a:latin typeface="+mn-lt"/>
                <a:ea typeface="+mn-ea"/>
                <a:cs typeface="+mn-cs"/>
              </a:rPr>
              <a:t>a_quitte_l_entreprise</a:t>
            </a:r>
            <a:r>
              <a:rPr lang="fr-FR" dirty="0"/>
              <a:t> a tendance à augmenter. </a:t>
            </a:r>
          </a:p>
          <a:p>
            <a:pPr rtl="0"/>
            <a:r>
              <a:rPr lang="fr-FR" b="1" dirty="0"/>
              <a:t>Corrélation proche de -1</a:t>
            </a:r>
            <a:r>
              <a:rPr lang="fr-FR" dirty="0"/>
              <a:t> → forte relation négative</a:t>
            </a:r>
            <a:br>
              <a:rPr lang="fr-FR" dirty="0"/>
            </a:br>
            <a:r>
              <a:rPr lang="fr-FR" dirty="0"/>
              <a:t>→ quand la variable augmente, </a:t>
            </a:r>
            <a:r>
              <a:rPr lang="fr-FR" sz="1200" kern="1200" dirty="0">
                <a:solidFill>
                  <a:schemeClr val="tx1"/>
                </a:solidFill>
                <a:latin typeface="+mn-lt"/>
                <a:ea typeface="+mn-ea"/>
                <a:cs typeface="+mn-cs"/>
              </a:rPr>
              <a:t>a_quitte_l_entreprise</a:t>
            </a:r>
            <a:r>
              <a:rPr lang="fr-FR" dirty="0"/>
              <a:t> a tendance à diminuer. </a:t>
            </a:r>
          </a:p>
          <a:p>
            <a:pPr rtl="0"/>
            <a:r>
              <a:rPr lang="fr-FR" b="1" dirty="0"/>
              <a:t>Corrélation proche de 0</a:t>
            </a:r>
            <a:r>
              <a:rPr lang="fr-FR" dirty="0"/>
              <a:t> → pas de relation linéaire détectable.</a:t>
            </a:r>
          </a:p>
        </p:txBody>
      </p:sp>
      <p:sp>
        <p:nvSpPr>
          <p:cNvPr id="4" name="Espace réservé du numéro de diapositive 3">
            <a:extLst>
              <a:ext uri="{FF2B5EF4-FFF2-40B4-BE49-F238E27FC236}">
                <a16:creationId xmlns:a16="http://schemas.microsoft.com/office/drawing/2014/main" id="{11683626-03C7-CF8C-0583-1DAA1A2D0B7E}"/>
              </a:ext>
            </a:extLst>
          </p:cNvPr>
          <p:cNvSpPr>
            <a:spLocks noGrp="1"/>
          </p:cNvSpPr>
          <p:nvPr>
            <p:ph type="sldNum" sz="quarter" idx="5"/>
          </p:nvPr>
        </p:nvSpPr>
        <p:spPr/>
        <p:txBody>
          <a:bodyPr rtlCol="0"/>
          <a:lstStyle/>
          <a:p>
            <a:pPr rtl="0"/>
            <a:fld id="{C6B3AB32-59DF-41F1-9618-EDFBF5049629}" type="slidenum">
              <a:rPr lang="fr-FR" smtClean="0"/>
              <a:t>28</a:t>
            </a:fld>
            <a:endParaRPr lang="fr-FR"/>
          </a:p>
        </p:txBody>
      </p:sp>
    </p:spTree>
    <p:extLst>
      <p:ext uri="{BB962C8B-B14F-4D97-AF65-F5344CB8AC3E}">
        <p14:creationId xmlns:p14="http://schemas.microsoft.com/office/powerpoint/2010/main" val="5198141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BE42-7496-DBF9-1BD7-375DFB214D0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12D5055-B3E3-AC5C-BA6B-F7E5C4F41E0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E3554EF-908A-C0A2-EA8B-E7B9759B9B7C}"/>
              </a:ext>
            </a:extLst>
          </p:cNvPr>
          <p:cNvSpPr>
            <a:spLocks noGrp="1"/>
          </p:cNvSpPr>
          <p:nvPr>
            <p:ph type="body" idx="1"/>
          </p:nvPr>
        </p:nvSpPr>
        <p:spPr/>
        <p:txBody>
          <a:bodyPr/>
          <a:lstStyle/>
          <a:p>
            <a:r>
              <a:rPr lang="fr-FR" dirty="0"/>
              <a:t>Nous utiliserons 3 modèles pour comparer nos </a:t>
            </a:r>
            <a:r>
              <a:rPr lang="fr-FR" dirty="0" err="1"/>
              <a:t>resultats</a:t>
            </a:r>
            <a:endParaRPr lang="fr-FR" dirty="0"/>
          </a:p>
          <a:p>
            <a:endParaRPr lang="fr-FR" dirty="0"/>
          </a:p>
          <a:p>
            <a:r>
              <a:rPr lang="fr-FR" dirty="0"/>
              <a:t>Le </a:t>
            </a:r>
            <a:r>
              <a:rPr lang="fr-FR" dirty="0" err="1"/>
              <a:t>dummy</a:t>
            </a:r>
            <a:r>
              <a:rPr lang="fr-FR" dirty="0"/>
              <a:t> qui est une simple moyenne comme base de comparaison</a:t>
            </a:r>
          </a:p>
          <a:p>
            <a:r>
              <a:rPr lang="fr-FR" dirty="0"/>
              <a:t>Le </a:t>
            </a:r>
            <a:r>
              <a:rPr lang="fr-FR" dirty="0" err="1"/>
              <a:t>LogisicRegression</a:t>
            </a:r>
            <a:r>
              <a:rPr lang="fr-FR" dirty="0"/>
              <a:t> qui se base sur une comparaison linéaire</a:t>
            </a:r>
          </a:p>
          <a:p>
            <a:r>
              <a:rPr lang="fr-FR" dirty="0"/>
              <a:t>Le </a:t>
            </a:r>
            <a:r>
              <a:rPr lang="fr-FR" dirty="0" err="1"/>
              <a:t>XGBoost</a:t>
            </a:r>
            <a:r>
              <a:rPr lang="fr-FR" dirty="0"/>
              <a:t> qui utilise des sous-modèles à base de forêts</a:t>
            </a:r>
          </a:p>
        </p:txBody>
      </p:sp>
      <p:sp>
        <p:nvSpPr>
          <p:cNvPr id="4" name="Espace réservé du numéro de diapositive 3">
            <a:extLst>
              <a:ext uri="{FF2B5EF4-FFF2-40B4-BE49-F238E27FC236}">
                <a16:creationId xmlns:a16="http://schemas.microsoft.com/office/drawing/2014/main" id="{518C4275-4F49-EF25-F89A-C4F510F6C459}"/>
              </a:ext>
            </a:extLst>
          </p:cNvPr>
          <p:cNvSpPr>
            <a:spLocks noGrp="1"/>
          </p:cNvSpPr>
          <p:nvPr>
            <p:ph type="sldNum" sz="quarter" idx="5"/>
          </p:nvPr>
        </p:nvSpPr>
        <p:spPr/>
        <p:txBody>
          <a:bodyPr/>
          <a:lstStyle/>
          <a:p>
            <a:pPr rtl="0"/>
            <a:fld id="{C6B3AB32-59DF-41F1-9618-EDFBF5049629}" type="slidenum">
              <a:rPr lang="fr-FR" noProof="0" smtClean="0"/>
              <a:t>30</a:t>
            </a:fld>
            <a:endParaRPr lang="fr-FR" noProof="0"/>
          </a:p>
        </p:txBody>
      </p:sp>
    </p:spTree>
    <p:extLst>
      <p:ext uri="{BB962C8B-B14F-4D97-AF65-F5344CB8AC3E}">
        <p14:creationId xmlns:p14="http://schemas.microsoft.com/office/powerpoint/2010/main" val="14861054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J’utilise un jeu de données global pour tous les modèles et entrainements</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31</a:t>
            </a:fld>
            <a:endParaRPr lang="fr-FR" noProof="0"/>
          </a:p>
        </p:txBody>
      </p:sp>
    </p:spTree>
    <p:extLst>
      <p:ext uri="{BB962C8B-B14F-4D97-AF65-F5344CB8AC3E}">
        <p14:creationId xmlns:p14="http://schemas.microsoft.com/office/powerpoint/2010/main" val="39102687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62F96-68F8-EA71-BCFB-5B3F1E9AE0C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D51F77F-DEBD-5C8F-BC23-DDFE9E4C5B5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9B96818-68E6-3449-95F7-F792ED2A5C15}"/>
              </a:ext>
            </a:extLst>
          </p:cNvPr>
          <p:cNvSpPr>
            <a:spLocks noGrp="1"/>
          </p:cNvSpPr>
          <p:nvPr>
            <p:ph type="body" idx="1"/>
          </p:nvPr>
        </p:nvSpPr>
        <p:spPr/>
        <p:txBody>
          <a:bodyPr/>
          <a:lstStyle/>
          <a:p>
            <a:r>
              <a:rPr lang="fr-FR" dirty="0"/>
              <a:t>Toutes les prédictions du modèle sont mesurées avec des scores</a:t>
            </a:r>
          </a:p>
          <a:p>
            <a:endParaRPr lang="fr-FR" dirty="0"/>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a:t>distribution des probabilités </a:t>
            </a:r>
            <a:r>
              <a:rPr lang="fr-FR" dirty="0"/>
              <a:t>=&gt; pertinence des choix</a:t>
            </a:r>
          </a:p>
          <a:p>
            <a:r>
              <a:rPr lang="fr-FR" b="1" dirty="0"/>
              <a:t>Matrice de confusion </a:t>
            </a:r>
            <a:r>
              <a:rPr lang="fr-FR" dirty="0"/>
              <a:t>=&gt; les vrais et fausses prédictions</a:t>
            </a:r>
          </a:p>
          <a:p>
            <a:r>
              <a:rPr lang="fr-FR" b="1" dirty="0"/>
              <a:t>Courbe ROC </a:t>
            </a:r>
            <a:r>
              <a:rPr lang="fr-FR" dirty="0"/>
              <a:t>=&gt; la courbe qui montre le compromis entre détection et faux positifs, </a:t>
            </a:r>
            <a:r>
              <a:rPr lang="fr-FR" b="1" dirty="0"/>
              <a:t>AUC </a:t>
            </a:r>
            <a:r>
              <a:rPr lang="fr-FR" dirty="0"/>
              <a:t>= aire de la courbe ROC (un nombre qui résume cette courbe)</a:t>
            </a:r>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kern="1200" dirty="0" err="1">
                <a:solidFill>
                  <a:schemeClr val="tx1"/>
                </a:solidFill>
                <a:effectLst/>
                <a:latin typeface="+mn-lt"/>
                <a:ea typeface="+mn-ea"/>
                <a:cs typeface="+mn-cs"/>
              </a:rPr>
              <a:t>Accuracy</a:t>
            </a:r>
            <a:r>
              <a:rPr lang="fr-FR" dirty="0"/>
              <a:t> =&gt; proportion de correctes</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kern="1200" dirty="0" err="1">
                <a:solidFill>
                  <a:schemeClr val="tx1"/>
                </a:solidFill>
                <a:effectLst/>
                <a:latin typeface="+mn-lt"/>
                <a:ea typeface="+mn-ea"/>
                <a:cs typeface="+mn-cs"/>
              </a:rPr>
              <a:t>Precision</a:t>
            </a:r>
            <a:r>
              <a:rPr lang="fr-FR" sz="1200" b="1" kern="1200" dirty="0">
                <a:solidFill>
                  <a:schemeClr val="tx1"/>
                </a:solidFill>
                <a:effectLst/>
                <a:latin typeface="+mn-lt"/>
                <a:ea typeface="+mn-ea"/>
                <a:cs typeface="+mn-cs"/>
              </a:rPr>
              <a:t> =&gt; </a:t>
            </a:r>
            <a:r>
              <a:rPr lang="fr-FR" sz="1200" kern="1200" dirty="0">
                <a:solidFill>
                  <a:schemeClr val="tx1"/>
                </a:solidFill>
                <a:effectLst/>
                <a:latin typeface="+mn-lt"/>
                <a:ea typeface="+mn-ea"/>
                <a:cs typeface="+mn-cs"/>
              </a:rPr>
              <a:t>fiabilité des prédictions positives</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kern="1200" dirty="0" err="1">
                <a:solidFill>
                  <a:schemeClr val="tx1"/>
                </a:solidFill>
                <a:effectLst/>
                <a:latin typeface="+mn-lt"/>
                <a:ea typeface="+mn-ea"/>
                <a:cs typeface="+mn-cs"/>
              </a:rPr>
              <a:t>Recall</a:t>
            </a:r>
            <a:r>
              <a:rPr lang="fr-FR" sz="1200" b="1" kern="1200" dirty="0">
                <a:solidFill>
                  <a:schemeClr val="tx1"/>
                </a:solidFill>
                <a:effectLst/>
                <a:latin typeface="+mn-lt"/>
                <a:ea typeface="+mn-ea"/>
                <a:cs typeface="+mn-cs"/>
              </a:rPr>
              <a:t> =&gt; </a:t>
            </a:r>
            <a:r>
              <a:rPr lang="fr-FR" sz="1200" kern="1200" dirty="0">
                <a:solidFill>
                  <a:schemeClr val="tx1"/>
                </a:solidFill>
                <a:effectLst/>
                <a:latin typeface="+mn-lt"/>
                <a:ea typeface="+mn-ea"/>
                <a:cs typeface="+mn-cs"/>
              </a:rPr>
              <a:t>capacité à retrouver les vrais positifs (ne pas louper des faux positif)</a:t>
            </a:r>
          </a:p>
          <a:p>
            <a:endParaRPr lang="fr-FR" dirty="0"/>
          </a:p>
          <a:p>
            <a:r>
              <a:rPr lang="fr-FR" dirty="0"/>
              <a:t>Pour un modèle d'attrition RH, on peut lire la ROC ainsi :</a:t>
            </a:r>
          </a:p>
          <a:p>
            <a:r>
              <a:rPr lang="fr-FR" dirty="0"/>
              <a:t>Si on choisit un seuil bas : </a:t>
            </a:r>
          </a:p>
          <a:p>
            <a:pPr lvl="1"/>
            <a:r>
              <a:rPr lang="fr-FR" dirty="0"/>
              <a:t>on détecte beaucoup de départs (</a:t>
            </a:r>
            <a:r>
              <a:rPr lang="fr-FR" dirty="0" err="1"/>
              <a:t>Recall</a:t>
            </a:r>
            <a:r>
              <a:rPr lang="fr-FR" dirty="0"/>
              <a:t> élevé) </a:t>
            </a:r>
          </a:p>
          <a:p>
            <a:pPr lvl="1"/>
            <a:r>
              <a:rPr lang="fr-FR" dirty="0"/>
              <a:t>mais on alerte beaucoup de personnes qui ne partiront pas (FPR élevé) </a:t>
            </a:r>
          </a:p>
          <a:p>
            <a:r>
              <a:rPr lang="fr-FR" dirty="0"/>
              <a:t>Si on choisit un seuil haut : </a:t>
            </a:r>
          </a:p>
          <a:p>
            <a:pPr lvl="1"/>
            <a:r>
              <a:rPr lang="fr-FR" dirty="0"/>
              <a:t>on alerte peu de personnes à tort </a:t>
            </a:r>
          </a:p>
          <a:p>
            <a:pPr lvl="1"/>
            <a:r>
              <a:rPr lang="fr-FR" dirty="0"/>
              <a:t>mais on rate davantage de départs</a:t>
            </a:r>
          </a:p>
          <a:p>
            <a:endParaRPr lang="fr-FR" dirty="0"/>
          </a:p>
        </p:txBody>
      </p:sp>
      <p:sp>
        <p:nvSpPr>
          <p:cNvPr id="4" name="Espace réservé du numéro de diapositive 3">
            <a:extLst>
              <a:ext uri="{FF2B5EF4-FFF2-40B4-BE49-F238E27FC236}">
                <a16:creationId xmlns:a16="http://schemas.microsoft.com/office/drawing/2014/main" id="{8AA8F910-7E0B-B0F0-D8B3-C9A2A11158C4}"/>
              </a:ext>
            </a:extLst>
          </p:cNvPr>
          <p:cNvSpPr>
            <a:spLocks noGrp="1"/>
          </p:cNvSpPr>
          <p:nvPr>
            <p:ph type="sldNum" sz="quarter" idx="5"/>
          </p:nvPr>
        </p:nvSpPr>
        <p:spPr/>
        <p:txBody>
          <a:bodyPr/>
          <a:lstStyle/>
          <a:p>
            <a:pPr rtl="0"/>
            <a:fld id="{C6B3AB32-59DF-41F1-9618-EDFBF5049629}" type="slidenum">
              <a:rPr lang="fr-FR" noProof="0" smtClean="0"/>
              <a:t>32</a:t>
            </a:fld>
            <a:endParaRPr lang="fr-FR" noProof="0"/>
          </a:p>
        </p:txBody>
      </p:sp>
    </p:spTree>
    <p:extLst>
      <p:ext uri="{BB962C8B-B14F-4D97-AF65-F5344CB8AC3E}">
        <p14:creationId xmlns:p14="http://schemas.microsoft.com/office/powerpoint/2010/main" val="463271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Je réalise des entrainements successifs et conserve l’intégralité des scores pour chaque passe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33</a:t>
            </a:fld>
            <a:endParaRPr lang="fr-FR" noProof="0"/>
          </a:p>
        </p:txBody>
      </p:sp>
    </p:spTree>
    <p:extLst>
      <p:ext uri="{BB962C8B-B14F-4D97-AF65-F5344CB8AC3E}">
        <p14:creationId xmlns:p14="http://schemas.microsoft.com/office/powerpoint/2010/main" val="17813189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FD80B-689B-E988-0FDA-CB6CDDB17BA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0C3ED86-FF5F-BEDF-EC9C-22FCAD11A20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ACF4989-E90C-6332-7003-BE3CE0D24971}"/>
              </a:ext>
            </a:extLst>
          </p:cNvPr>
          <p:cNvSpPr>
            <a:spLocks noGrp="1"/>
          </p:cNvSpPr>
          <p:nvPr>
            <p:ph type="body" idx="1"/>
          </p:nvPr>
        </p:nvSpPr>
        <p:spPr/>
        <p:txBody>
          <a:bodyPr/>
          <a:lstStyle/>
          <a:p>
            <a:pPr marL="0" lvl="0" indent="0" defTabSz="1600200">
              <a:lnSpc>
                <a:spcPct val="90000"/>
              </a:lnSpc>
              <a:spcBef>
                <a:spcPct val="0"/>
              </a:spcBef>
              <a:spcAft>
                <a:spcPct val="35000"/>
              </a:spcAft>
              <a:buFont typeface="Arial" panose="020B0604020202020204" pitchFamily="34" charset="0"/>
              <a:buNone/>
            </a:pPr>
            <a:endParaRPr lang="fr-FR" sz="1200" kern="1200" noProof="0" dirty="0">
              <a:latin typeface="Aptos" panose="020B0004020202020204" pitchFamily="34" charset="0"/>
            </a:endParaRPr>
          </a:p>
          <a:p>
            <a:pPr marL="0" lvl="0" indent="0" defTabSz="1600200">
              <a:lnSpc>
                <a:spcPct val="90000"/>
              </a:lnSpc>
              <a:spcBef>
                <a:spcPct val="0"/>
              </a:spcBef>
              <a:spcAft>
                <a:spcPct val="35000"/>
              </a:spcAft>
              <a:buFont typeface="Arial" panose="020B0604020202020204" pitchFamily="34" charset="0"/>
              <a:buNone/>
            </a:pPr>
            <a:r>
              <a:rPr lang="fr-FR" sz="1200" kern="1200" noProof="0" dirty="0" err="1">
                <a:latin typeface="Aptos" panose="020B0004020202020204" pitchFamily="34" charset="0"/>
              </a:rPr>
              <a:t>Features</a:t>
            </a:r>
            <a:r>
              <a:rPr lang="fr-FR" sz="1200" kern="1200" noProof="0" dirty="0">
                <a:latin typeface="Aptos" panose="020B0004020202020204" pitchFamily="34" charset="0"/>
              </a:rPr>
              <a:t> </a:t>
            </a:r>
            <a:r>
              <a:rPr lang="fr-FR" sz="1200" kern="1200" noProof="0" dirty="0" err="1">
                <a:latin typeface="Aptos" panose="020B0004020202020204" pitchFamily="34" charset="0"/>
              </a:rPr>
              <a:t>enginering</a:t>
            </a:r>
            <a:r>
              <a:rPr lang="fr-FR" sz="1200" kern="1200" noProof="0" dirty="0">
                <a:latin typeface="Aptos" panose="020B0004020202020204" pitchFamily="34" charset="0"/>
              </a:rPr>
              <a:t> = Recherche de nouveaux paramètres</a:t>
            </a:r>
          </a:p>
          <a:p>
            <a:pPr marL="0" lvl="0" indent="0" defTabSz="1600200">
              <a:lnSpc>
                <a:spcPct val="90000"/>
              </a:lnSpc>
              <a:spcBef>
                <a:spcPct val="0"/>
              </a:spcBef>
              <a:spcAft>
                <a:spcPct val="35000"/>
              </a:spcAft>
              <a:buFont typeface="Arial" panose="020B0604020202020204" pitchFamily="34" charset="0"/>
              <a:buNone/>
            </a:pPr>
            <a:r>
              <a:rPr lang="fr-FR" sz="1200" dirty="0" err="1">
                <a:latin typeface="Aptos" panose="020B0004020202020204" pitchFamily="34" charset="0"/>
              </a:rPr>
              <a:t>Scaling</a:t>
            </a:r>
            <a:r>
              <a:rPr lang="fr-FR" sz="1200" dirty="0">
                <a:latin typeface="Aptos" panose="020B0004020202020204" pitchFamily="34" charset="0"/>
              </a:rPr>
              <a:t> = Compense le déséquilibrage des classes « départ/reste » par les </a:t>
            </a:r>
            <a:r>
              <a:rPr lang="fr-FR" sz="1200" dirty="0" err="1">
                <a:latin typeface="Aptos" panose="020B0004020202020204" pitchFamily="34" charset="0"/>
              </a:rPr>
              <a:t>Hyper-paramètres</a:t>
            </a:r>
            <a:r>
              <a:rPr lang="fr-FR" sz="1200" dirty="0">
                <a:latin typeface="Aptos" panose="020B0004020202020204" pitchFamily="34" charset="0"/>
              </a:rPr>
              <a:t> du modèle </a:t>
            </a:r>
            <a:endParaRPr lang="fr-FR" sz="1200" kern="1200" noProof="0" dirty="0">
              <a:latin typeface="Aptos" panose="020B0004020202020204" pitchFamily="34" charset="0"/>
            </a:endParaRPr>
          </a:p>
          <a:p>
            <a:pPr marL="0" marR="0" lvl="0" indent="0" algn="l" defTabSz="1600200" rtl="0" eaLnBrk="1" fontAlgn="auto" latinLnBrk="0" hangingPunct="1">
              <a:lnSpc>
                <a:spcPct val="90000"/>
              </a:lnSpc>
              <a:spcBef>
                <a:spcPct val="0"/>
              </a:spcBef>
              <a:spcAft>
                <a:spcPct val="35000"/>
              </a:spcAft>
              <a:buClrTx/>
              <a:buSzTx/>
              <a:buFont typeface="Arial" panose="020B0604020202020204" pitchFamily="34" charset="0"/>
              <a:buNone/>
              <a:tabLst/>
              <a:defRPr/>
            </a:pPr>
            <a:r>
              <a:rPr lang="fr-FR" sz="1200" kern="1200" noProof="0" dirty="0" err="1">
                <a:latin typeface="Aptos" panose="020B0004020202020204" pitchFamily="34" charset="0"/>
              </a:rPr>
              <a:t>Hyper-Paramètres</a:t>
            </a:r>
            <a:r>
              <a:rPr lang="fr-FR" sz="1200" kern="1200" noProof="0" dirty="0">
                <a:latin typeface="Aptos" panose="020B0004020202020204" pitchFamily="34" charset="0"/>
              </a:rPr>
              <a:t> = Paramétrage des modèles par la recherche croisée de </a:t>
            </a:r>
            <a:r>
              <a:rPr lang="fr-FR" sz="1200" kern="1200" noProof="0">
                <a:latin typeface="Aptos" panose="020B0004020202020204" pitchFamily="34" charset="0"/>
              </a:rPr>
              <a:t>paramètres optimaux</a:t>
            </a:r>
            <a:endParaRPr lang="fr-FR" sz="1200" kern="1200" noProof="0" dirty="0">
              <a:latin typeface="Aptos" panose="020B0004020202020204" pitchFamily="34" charset="0"/>
            </a:endParaRPr>
          </a:p>
          <a:p>
            <a:pPr marL="0" marR="0" lvl="0" indent="0" algn="l" defTabSz="1600200" rtl="0" eaLnBrk="1" fontAlgn="auto" latinLnBrk="0" hangingPunct="1">
              <a:lnSpc>
                <a:spcPct val="90000"/>
              </a:lnSpc>
              <a:spcBef>
                <a:spcPct val="0"/>
              </a:spcBef>
              <a:spcAft>
                <a:spcPct val="35000"/>
              </a:spcAft>
              <a:buClrTx/>
              <a:buSzTx/>
              <a:buFont typeface="Arial" panose="020B0604020202020204" pitchFamily="34" charset="0"/>
              <a:buNone/>
              <a:tabLst/>
              <a:defRPr/>
            </a:pPr>
            <a:r>
              <a:rPr lang="fr-FR" sz="1200" kern="1200" noProof="0" dirty="0">
                <a:latin typeface="Aptos" panose="020B0004020202020204" pitchFamily="34" charset="0"/>
              </a:rPr>
              <a:t>Recherche du seuil optimal (F1-Score) = test avec différents seuils pour la meilleur note F1</a:t>
            </a:r>
          </a:p>
          <a:p>
            <a:pPr marL="0" lvl="0" indent="0" defTabSz="1600200">
              <a:lnSpc>
                <a:spcPct val="90000"/>
              </a:lnSpc>
              <a:spcBef>
                <a:spcPct val="0"/>
              </a:spcBef>
              <a:spcAft>
                <a:spcPct val="35000"/>
              </a:spcAft>
              <a:buFont typeface="Arial" panose="020B0604020202020204" pitchFamily="34" charset="0"/>
              <a:buNone/>
            </a:pPr>
            <a:endParaRPr lang="fr-FR" sz="1200" kern="1200" noProof="0" dirty="0">
              <a:latin typeface="Aptos" panose="020B0004020202020204" pitchFamily="34" charset="0"/>
            </a:endParaRPr>
          </a:p>
        </p:txBody>
      </p:sp>
      <p:sp>
        <p:nvSpPr>
          <p:cNvPr id="4" name="Espace réservé du numéro de diapositive 3">
            <a:extLst>
              <a:ext uri="{FF2B5EF4-FFF2-40B4-BE49-F238E27FC236}">
                <a16:creationId xmlns:a16="http://schemas.microsoft.com/office/drawing/2014/main" id="{1852158A-4F6E-3C78-40DD-1BCBF78EEBF0}"/>
              </a:ext>
            </a:extLst>
          </p:cNvPr>
          <p:cNvSpPr>
            <a:spLocks noGrp="1"/>
          </p:cNvSpPr>
          <p:nvPr>
            <p:ph type="sldNum" sz="quarter" idx="5"/>
          </p:nvPr>
        </p:nvSpPr>
        <p:spPr/>
        <p:txBody>
          <a:bodyPr/>
          <a:lstStyle/>
          <a:p>
            <a:pPr rtl="0"/>
            <a:fld id="{C6B3AB32-59DF-41F1-9618-EDFBF5049629}" type="slidenum">
              <a:rPr lang="fr-FR" noProof="0" smtClean="0"/>
              <a:t>34</a:t>
            </a:fld>
            <a:endParaRPr lang="fr-FR" noProof="0"/>
          </a:p>
        </p:txBody>
      </p:sp>
    </p:spTree>
    <p:extLst>
      <p:ext uri="{BB962C8B-B14F-4D97-AF65-F5344CB8AC3E}">
        <p14:creationId xmlns:p14="http://schemas.microsoft.com/office/powerpoint/2010/main" val="24314949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F1-Score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35</a:t>
            </a:fld>
            <a:endParaRPr lang="fr-FR" noProof="0"/>
          </a:p>
        </p:txBody>
      </p:sp>
    </p:spTree>
    <p:extLst>
      <p:ext uri="{BB962C8B-B14F-4D97-AF65-F5344CB8AC3E}">
        <p14:creationId xmlns:p14="http://schemas.microsoft.com/office/powerpoint/2010/main" val="1480080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err="1"/>
              <a:t>Recall</a:t>
            </a:r>
            <a:endParaRPr lang="fr-FR" dirty="0"/>
          </a:p>
          <a:p>
            <a:endParaRPr lang="fr-FR" dirty="0"/>
          </a:p>
          <a:p>
            <a:r>
              <a:rPr lang="fr-FR" dirty="0"/>
              <a:t>Pour minimiser les faux-négatifs idéal dans un cas de démissions RH</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36</a:t>
            </a:fld>
            <a:endParaRPr lang="fr-FR" noProof="0"/>
          </a:p>
        </p:txBody>
      </p:sp>
    </p:spTree>
    <p:extLst>
      <p:ext uri="{BB962C8B-B14F-4D97-AF65-F5344CB8AC3E}">
        <p14:creationId xmlns:p14="http://schemas.microsoft.com/office/powerpoint/2010/main" val="2302664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Dans notre cas nous pouvons dire que:</a:t>
            </a:r>
          </a:p>
          <a:p>
            <a:pPr marL="171450" indent="-171450">
              <a:buFont typeface="Arial" panose="020B0604020202020204" pitchFamily="34" charset="0"/>
              <a:buChar char="•"/>
            </a:pPr>
            <a:r>
              <a:rPr lang="fr-FR" dirty="0"/>
              <a:t>Les deux modèles supervisés apportent une réelle amélioration par rapport au modèle de référence</a:t>
            </a:r>
          </a:p>
          <a:p>
            <a:pPr marL="171450" indent="-171450">
              <a:buFont typeface="Arial" panose="020B0604020202020204" pitchFamily="34" charset="0"/>
              <a:buChar char="•"/>
            </a:pPr>
            <a:r>
              <a:rPr lang="fr-FR" dirty="0"/>
              <a:t>La régression logistique obtient les meilleures performances globales avec une AUC de 0,87 et un meilleur compromis entre précision et rappel</a:t>
            </a:r>
          </a:p>
          <a:p>
            <a:pPr marL="171450" indent="-171450">
              <a:buFont typeface="Arial" panose="020B0604020202020204" pitchFamily="34" charset="0"/>
              <a:buChar char="•"/>
            </a:pPr>
            <a:r>
              <a:rPr lang="fr-FR" dirty="0" err="1"/>
              <a:t>XGBoost</a:t>
            </a:r>
            <a:r>
              <a:rPr lang="fr-FR" dirty="0"/>
              <a:t> présente cependant un rappel supérieur, ce qui lui permet d’identifier davantage de départs potentiels, au prix d’un nombre plus important de faux positifs.</a:t>
            </a:r>
          </a:p>
          <a:p>
            <a:pPr marL="171450" indent="-171450">
              <a:buFont typeface="Arial" panose="020B0604020202020204" pitchFamily="34" charset="0"/>
              <a:buChar char="•"/>
            </a:pPr>
            <a:endParaRPr lang="fr-FR" dirty="0"/>
          </a:p>
          <a:p>
            <a:pPr marL="0" indent="0">
              <a:buFont typeface="Arial" panose="020B0604020202020204" pitchFamily="34" charset="0"/>
              <a:buNone/>
            </a:pPr>
            <a:r>
              <a:rPr lang="fr-FR" dirty="0"/>
              <a:t>Le choix final dépend de la stratégie métier : privilégier la fiabilité des alertes ou maximiser la détection des situations à risque.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38</a:t>
            </a:fld>
            <a:endParaRPr lang="fr-FR" noProof="0"/>
          </a:p>
        </p:txBody>
      </p:sp>
    </p:spTree>
    <p:extLst>
      <p:ext uri="{BB962C8B-B14F-4D97-AF65-F5344CB8AC3E}">
        <p14:creationId xmlns:p14="http://schemas.microsoft.com/office/powerpoint/2010/main" val="5711705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il est utile de compléter l’analyse précédente par la </a:t>
            </a:r>
            <a:r>
              <a:rPr lang="fr-FR" b="1" dirty="0"/>
              <a:t>matrice de confusion de chaque modèle</a:t>
            </a:r>
          </a:p>
          <a:p>
            <a:r>
              <a:rPr lang="fr-FR" b="0" dirty="0"/>
              <a:t>l</a:t>
            </a:r>
            <a:r>
              <a:rPr lang="fr-FR" dirty="0"/>
              <a:t>es valeurs des faux positifs et faux négatifs permettent de voir combien ils représentent concrètement.</a:t>
            </a:r>
          </a:p>
          <a:p>
            <a:endParaRPr lang="fr-FR" dirty="0"/>
          </a:p>
          <a:p>
            <a:endParaRPr lang="fr-FR" dirty="0"/>
          </a:p>
          <a:p>
            <a:pPr marL="171450" indent="-171450">
              <a:buFont typeface="Arial" panose="020B0604020202020204" pitchFamily="34" charset="0"/>
              <a:buChar char="•"/>
            </a:pPr>
            <a:r>
              <a:rPr lang="fr-FR" dirty="0" err="1"/>
              <a:t>LogisticRegression</a:t>
            </a:r>
            <a:r>
              <a:rPr lang="fr-FR" dirty="0"/>
              <a:t> génère peu de fausses alertes, ce qui signifie que les salariés identifiés comme à risque présentent une probabilité élevée d’être réellement concernés. En revanche, le modèle ne détecte pas tous les départs potentiels.</a:t>
            </a:r>
          </a:p>
          <a:p>
            <a:pPr marL="171450" indent="-171450">
              <a:buFont typeface="Arial" panose="020B0604020202020204" pitchFamily="34" charset="0"/>
              <a:buChar char="•"/>
            </a:pPr>
            <a:r>
              <a:rPr lang="fr-FR" dirty="0" err="1"/>
              <a:t>XGBoost</a:t>
            </a:r>
            <a:r>
              <a:rPr lang="fr-FR" dirty="0"/>
              <a:t> maximise la détection des départs potentiels avec un rappel très élevé. En contrepartie, il identifie davantage de salariés comme à risque alors qu’ils ne quitteront finalement pas l’entreprise.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39</a:t>
            </a:fld>
            <a:endParaRPr lang="fr-FR" noProof="0"/>
          </a:p>
        </p:txBody>
      </p:sp>
    </p:spTree>
    <p:extLst>
      <p:ext uri="{BB962C8B-B14F-4D97-AF65-F5344CB8AC3E}">
        <p14:creationId xmlns:p14="http://schemas.microsoft.com/office/powerpoint/2010/main" val="11863800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15C25-228B-8785-1328-76CF45DD24E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F23AE19-236C-F250-6248-0A646DE85D6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43F74D9-E560-68F8-5F16-7D7DA451E5F6}"/>
              </a:ext>
            </a:extLst>
          </p:cNvPr>
          <p:cNvSpPr>
            <a:spLocks noGrp="1"/>
          </p:cNvSpPr>
          <p:nvPr>
            <p:ph type="body" idx="1"/>
          </p:nvPr>
        </p:nvSpPr>
        <p:spPr/>
        <p:txBody>
          <a:bodyPr/>
          <a:lstStyle/>
          <a:p>
            <a:endParaRPr lang="fr-FR" dirty="0"/>
          </a:p>
          <a:p>
            <a:r>
              <a:rPr lang="fr-FR" dirty="0"/>
              <a:t>Pour un usage RH de prévention des départs, </a:t>
            </a:r>
            <a:r>
              <a:rPr lang="fr-FR" dirty="0" err="1"/>
              <a:t>XGBoost</a:t>
            </a:r>
            <a:r>
              <a:rPr lang="fr-FR" dirty="0"/>
              <a:t> semble généralement plus intéressant car un faux négatif (ne pas accompagner un salarié réellement en risque de départ) peut être plus coûteux </a:t>
            </a:r>
          </a:p>
        </p:txBody>
      </p:sp>
      <p:sp>
        <p:nvSpPr>
          <p:cNvPr id="4" name="Espace réservé du numéro de diapositive 3">
            <a:extLst>
              <a:ext uri="{FF2B5EF4-FFF2-40B4-BE49-F238E27FC236}">
                <a16:creationId xmlns:a16="http://schemas.microsoft.com/office/drawing/2014/main" id="{64BD9169-65B7-90B3-713F-AC77BAFF48B5}"/>
              </a:ext>
            </a:extLst>
          </p:cNvPr>
          <p:cNvSpPr>
            <a:spLocks noGrp="1"/>
          </p:cNvSpPr>
          <p:nvPr>
            <p:ph type="sldNum" sz="quarter" idx="5"/>
          </p:nvPr>
        </p:nvSpPr>
        <p:spPr/>
        <p:txBody>
          <a:bodyPr/>
          <a:lstStyle/>
          <a:p>
            <a:pPr rtl="0"/>
            <a:fld id="{C6B3AB32-59DF-41F1-9618-EDFBF5049629}" type="slidenum">
              <a:rPr lang="fr-FR" noProof="0" smtClean="0"/>
              <a:t>40</a:t>
            </a:fld>
            <a:endParaRPr lang="fr-FR" noProof="0"/>
          </a:p>
        </p:txBody>
      </p:sp>
    </p:spTree>
    <p:extLst>
      <p:ext uri="{BB962C8B-B14F-4D97-AF65-F5344CB8AC3E}">
        <p14:creationId xmlns:p14="http://schemas.microsoft.com/office/powerpoint/2010/main" val="23210149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Selon notre modèle, l’importance global des variables qui influe le plus sur les prédictions sont: </a:t>
            </a:r>
            <a:r>
              <a:rPr lang="fr-FR" b="1" dirty="0"/>
              <a:t>participations, heures sup, pression et revenus</a:t>
            </a:r>
          </a:p>
          <a:p>
            <a:endParaRPr lang="fr-FR" dirty="0"/>
          </a:p>
          <a:p>
            <a:endParaRPr lang="fr-FR" dirty="0"/>
          </a:p>
          <a:p>
            <a:endParaRPr lang="fr-FR" dirty="0"/>
          </a:p>
          <a:p>
            <a:r>
              <a:rPr lang="fr-FR" dirty="0"/>
              <a:t>Bleu = valeur basse</a:t>
            </a:r>
          </a:p>
          <a:p>
            <a:r>
              <a:rPr lang="fr-FR" dirty="0"/>
              <a:t>Rouge = valeur haute</a:t>
            </a: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41</a:t>
            </a:fld>
            <a:endParaRPr lang="fr-FR" noProof="0"/>
          </a:p>
        </p:txBody>
      </p:sp>
    </p:spTree>
    <p:extLst>
      <p:ext uri="{BB962C8B-B14F-4D97-AF65-F5344CB8AC3E}">
        <p14:creationId xmlns:p14="http://schemas.microsoft.com/office/powerpoint/2010/main" val="29680935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CEE5D-BBD3-A2EC-1F05-E46CF48A119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D9FE61C-76CE-1BB9-1395-173342861534}"/>
              </a:ext>
            </a:extLst>
          </p:cNvPr>
          <p:cNvSpPr>
            <a:spLocks noGrp="1" noRot="1" noChangeAspect="1"/>
          </p:cNvSpPr>
          <p:nvPr>
            <p:ph type="sldImg"/>
          </p:nvPr>
        </p:nvSpPr>
        <p:spPr/>
        <p:txBody>
          <a:bodyPr/>
          <a:lstStyle/>
          <a:p>
            <a:endParaRPr lang="fr-FR"/>
          </a:p>
        </p:txBody>
      </p:sp>
      <p:sp>
        <p:nvSpPr>
          <p:cNvPr id="3" name="Espace réservé des commentaires 2">
            <a:extLst>
              <a:ext uri="{FF2B5EF4-FFF2-40B4-BE49-F238E27FC236}">
                <a16:creationId xmlns:a16="http://schemas.microsoft.com/office/drawing/2014/main" id="{EC764E2B-A845-3539-9858-36364E24920E}"/>
              </a:ext>
            </a:extLst>
          </p:cNvPr>
          <p:cNvSpPr>
            <a:spLocks noGrp="1"/>
          </p:cNvSpPr>
          <p:nvPr>
            <p:ph type="body" idx="1"/>
          </p:nvPr>
        </p:nvSpPr>
        <p:spPr/>
        <p:txBody>
          <a:bodyPr rtlCol="0"/>
          <a:lstStyle/>
          <a:p>
            <a:pPr rtl="0"/>
            <a:r>
              <a:rPr lang="fr-FR" dirty="0"/>
              <a:t>Calcule des </a:t>
            </a:r>
            <a:r>
              <a:rPr lang="fr-FR" dirty="0" err="1"/>
              <a:t>counterfactuals</a:t>
            </a:r>
            <a:r>
              <a:rPr lang="fr-FR" dirty="0"/>
              <a:t> sur un échantillon de 20 salariés à risque</a:t>
            </a:r>
          </a:p>
        </p:txBody>
      </p:sp>
      <p:sp>
        <p:nvSpPr>
          <p:cNvPr id="4" name="Espace réservé du numéro de diapositive 3">
            <a:extLst>
              <a:ext uri="{FF2B5EF4-FFF2-40B4-BE49-F238E27FC236}">
                <a16:creationId xmlns:a16="http://schemas.microsoft.com/office/drawing/2014/main" id="{E7399622-8265-25D5-383D-A84B233D5AED}"/>
              </a:ext>
            </a:extLst>
          </p:cNvPr>
          <p:cNvSpPr>
            <a:spLocks noGrp="1"/>
          </p:cNvSpPr>
          <p:nvPr>
            <p:ph type="sldNum" sz="quarter" idx="5"/>
          </p:nvPr>
        </p:nvSpPr>
        <p:spPr/>
        <p:txBody>
          <a:bodyPr rtlCol="0"/>
          <a:lstStyle/>
          <a:p>
            <a:pPr rtl="0"/>
            <a:fld id="{C6B3AB32-59DF-41F1-9618-EDFBF5049629}" type="slidenum">
              <a:rPr lang="fr-FR" smtClean="0"/>
              <a:t>42</a:t>
            </a:fld>
            <a:endParaRPr lang="fr-FR"/>
          </a:p>
        </p:txBody>
      </p:sp>
    </p:spTree>
    <p:extLst>
      <p:ext uri="{BB962C8B-B14F-4D97-AF65-F5344CB8AC3E}">
        <p14:creationId xmlns:p14="http://schemas.microsoft.com/office/powerpoint/2010/main" val="11294517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noProof="0" smtClean="0"/>
              <a:t>44</a:t>
            </a:fld>
            <a:endParaRPr lang="fr-FR" noProof="0"/>
          </a:p>
        </p:txBody>
      </p:sp>
    </p:spTree>
    <p:extLst>
      <p:ext uri="{BB962C8B-B14F-4D97-AF65-F5344CB8AC3E}">
        <p14:creationId xmlns:p14="http://schemas.microsoft.com/office/powerpoint/2010/main" val="16021278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46</a:t>
            </a:fld>
            <a:endParaRPr lang="fr-FR"/>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ctrTitle"/>
          </p:nvPr>
        </p:nvSpPr>
        <p:spPr>
          <a:xfrm>
            <a:off x="581191" y="1020431"/>
            <a:ext cx="10993549" cy="1475013"/>
          </a:xfrm>
          <a:effectLst/>
        </p:spPr>
        <p:txBody>
          <a:bodyPr rtlCol="0" anchor="b">
            <a:normAutofit/>
          </a:bodyPr>
          <a:lstStyle>
            <a:lvl1pPr>
              <a:defRPr sz="3600">
                <a:solidFill>
                  <a:schemeClr val="accent1"/>
                </a:solidFill>
              </a:defRPr>
            </a:lvl1pPr>
          </a:lstStyle>
          <a:p>
            <a:pPr rtl="0"/>
            <a:r>
              <a:rPr lang="fr-FR" noProof="0"/>
              <a:t>Modifiez le style du titre</a:t>
            </a:r>
          </a:p>
        </p:txBody>
      </p:sp>
      <p:sp>
        <p:nvSpPr>
          <p:cNvPr id="3" name="Sous-titre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fr-FR" noProof="0"/>
              <a:t>Modifiez le style des sous-titres du masque</a:t>
            </a:r>
          </a:p>
        </p:txBody>
      </p:sp>
      <p:sp>
        <p:nvSpPr>
          <p:cNvPr id="4" name="Espace réservé de la date 3"/>
          <p:cNvSpPr>
            <a:spLocks noGrp="1"/>
          </p:cNvSpPr>
          <p:nvPr>
            <p:ph type="dt" sz="half" idx="10"/>
          </p:nvPr>
        </p:nvSpPr>
        <p:spPr>
          <a:xfrm>
            <a:off x="7605951" y="5956137"/>
            <a:ext cx="2844800" cy="365125"/>
          </a:xfrm>
        </p:spPr>
        <p:txBody>
          <a:bodyPr rtlCol="0"/>
          <a:lstStyle>
            <a:lvl1pPr>
              <a:defRPr>
                <a:solidFill>
                  <a:schemeClr val="accent1">
                    <a:lumMod val="75000"/>
                    <a:lumOff val="25000"/>
                  </a:schemeClr>
                </a:solidFill>
              </a:defRPr>
            </a:lvl1pPr>
          </a:lstStyle>
          <a:p>
            <a:pPr rtl="0"/>
            <a:fld id="{3F3B20A7-A3FE-46B9-84EA-B4257BA7E60C}" type="datetime1">
              <a:rPr lang="fr-FR" noProof="0" smtClean="0"/>
              <a:t>20/06/2026</a:t>
            </a:fld>
            <a:endParaRPr lang="fr-FR" noProof="0"/>
          </a:p>
        </p:txBody>
      </p:sp>
      <p:sp>
        <p:nvSpPr>
          <p:cNvPr id="5" name="Espace réservé du pied de page 4"/>
          <p:cNvSpPr>
            <a:spLocks noGrp="1"/>
          </p:cNvSpPr>
          <p:nvPr>
            <p:ph type="ftr" sz="quarter" idx="11"/>
          </p:nvPr>
        </p:nvSpPr>
        <p:spPr>
          <a:xfrm>
            <a:off x="581192" y="5951811"/>
            <a:ext cx="6917210" cy="365125"/>
          </a:xfrm>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a:xfrm>
            <a:off x="10558300" y="5956137"/>
            <a:ext cx="1016440"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contenu 2"/>
          <p:cNvSpPr>
            <a:spLocks noGrp="1"/>
          </p:cNvSpPr>
          <p:nvPr>
            <p:ph idx="1" hasCustomPrompt="1"/>
          </p:nvPr>
        </p:nvSpPr>
        <p:spPr>
          <a:xfrm>
            <a:off x="581192" y="2180496"/>
            <a:ext cx="11029615" cy="3678303"/>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29B34D2F-0B02-482E-ABD2-95D8C2FF2A58}" type="datetime1">
              <a:rPr lang="fr-FR" noProof="0" smtClean="0"/>
              <a:t>20/06/2026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a:xfrm>
            <a:off x="10558300" y="5956137"/>
            <a:ext cx="1052508" cy="365125"/>
          </a:xfrm>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3" y="3043910"/>
            <a:ext cx="11029615" cy="1497507"/>
          </a:xfrm>
        </p:spPr>
        <p:txBody>
          <a:bodyPr rtlCol="0" anchor="b">
            <a:normAutofit/>
          </a:bodyPr>
          <a:lstStyle>
            <a:lvl1pPr algn="l">
              <a:defRPr sz="3600" b="0" cap="all">
                <a:solidFill>
                  <a:schemeClr val="accent1"/>
                </a:solidFill>
              </a:defRPr>
            </a:lvl1pPr>
          </a:lstStyle>
          <a:p>
            <a:pPr rtl="0"/>
            <a:r>
              <a:rPr lang="fr-FR" noProof="0"/>
              <a:t>Modifiez le style du titre</a:t>
            </a:r>
          </a:p>
        </p:txBody>
      </p:sp>
      <p:sp>
        <p:nvSpPr>
          <p:cNvPr id="3" name="Espace réservé du texte 2"/>
          <p:cNvSpPr>
            <a:spLocks noGrp="1"/>
          </p:cNvSpPr>
          <p:nvPr>
            <p:ph type="body" idx="1" hasCustomPrompt="1"/>
          </p:nvPr>
        </p:nvSpPr>
        <p:spPr>
          <a:xfrm>
            <a:off x="581192" y="4541417"/>
            <a:ext cx="11029615" cy="600556"/>
          </a:xfrm>
        </p:spPr>
        <p:txBody>
          <a:bodyPr rtlCol="0"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noProof="0"/>
              <a:t>Modifiez les styles du texte du masque</a:t>
            </a:r>
          </a:p>
        </p:txBody>
      </p:sp>
      <p:sp>
        <p:nvSpPr>
          <p:cNvPr id="4" name="Espace réservé de la date 3"/>
          <p:cNvSpPr>
            <a:spLocks noGrp="1"/>
          </p:cNvSpPr>
          <p:nvPr>
            <p:ph type="dt" sz="half" idx="10"/>
          </p:nvPr>
        </p:nvSpPr>
        <p:spPr/>
        <p:txBody>
          <a:bodyPr rtlCol="0"/>
          <a:lstStyle>
            <a:lvl1pPr>
              <a:defRPr>
                <a:solidFill>
                  <a:schemeClr val="accent1">
                    <a:lumMod val="75000"/>
                    <a:lumOff val="25000"/>
                  </a:schemeClr>
                </a:solidFill>
              </a:defRPr>
            </a:lvl1pPr>
          </a:lstStyle>
          <a:p>
            <a:pPr rtl="0"/>
            <a:fld id="{126ECFBB-4871-428F-B4AE-1EF357E63674}" type="datetime1">
              <a:rPr lang="fr-FR" noProof="0" smtClean="0"/>
              <a:t>20/06/2026</a:t>
            </a:fld>
            <a:endParaRPr lang="fr-FR" noProof="0"/>
          </a:p>
        </p:txBody>
      </p:sp>
      <p:sp>
        <p:nvSpPr>
          <p:cNvPr id="5" name="Espace réservé du pied de page 4"/>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contenu 2"/>
          <p:cNvSpPr>
            <a:spLocks noGrp="1"/>
          </p:cNvSpPr>
          <p:nvPr>
            <p:ph sz="half" idx="1" hasCustomPrompt="1"/>
          </p:nvPr>
        </p:nvSpPr>
        <p:spPr>
          <a:xfrm>
            <a:off x="581193" y="2228003"/>
            <a:ext cx="5422390"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contenu 3"/>
          <p:cNvSpPr>
            <a:spLocks noGrp="1"/>
          </p:cNvSpPr>
          <p:nvPr>
            <p:ph sz="half" idx="2" hasCustomPrompt="1"/>
          </p:nvPr>
        </p:nvSpPr>
        <p:spPr>
          <a:xfrm>
            <a:off x="6188417" y="2228003"/>
            <a:ext cx="5422392"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e la date 4"/>
          <p:cNvSpPr>
            <a:spLocks noGrp="1"/>
          </p:cNvSpPr>
          <p:nvPr>
            <p:ph type="dt" sz="half" idx="10"/>
          </p:nvPr>
        </p:nvSpPr>
        <p:spPr/>
        <p:txBody>
          <a:bodyPr rtlCol="0"/>
          <a:lstStyle/>
          <a:p>
            <a:pPr rtl="0"/>
            <a:fld id="{75517F14-0D9C-452E-A596-36902551AE9C}" type="datetime1">
              <a:rPr lang="fr-FR" noProof="0" smtClean="0"/>
              <a:t>20/06/2026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texte 2"/>
          <p:cNvSpPr>
            <a:spLocks noGrp="1"/>
          </p:cNvSpPr>
          <p:nvPr>
            <p:ph type="body" idx="1" hasCustomPrompt="1"/>
          </p:nvPr>
        </p:nvSpPr>
        <p:spPr>
          <a:xfrm>
            <a:off x="887219" y="2250892"/>
            <a:ext cx="5087075" cy="536005"/>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4" name="Espace réservé du contenu 3"/>
          <p:cNvSpPr>
            <a:spLocks noGrp="1"/>
          </p:cNvSpPr>
          <p:nvPr>
            <p:ph sz="half" idx="2" hasCustomPrompt="1"/>
          </p:nvPr>
        </p:nvSpPr>
        <p:spPr>
          <a:xfrm>
            <a:off x="581194"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p:cNvSpPr>
            <a:spLocks noGrp="1"/>
          </p:cNvSpPr>
          <p:nvPr>
            <p:ph type="body" sz="quarter" idx="3" hasCustomPrompt="1"/>
          </p:nvPr>
        </p:nvSpPr>
        <p:spPr>
          <a:xfrm>
            <a:off x="6523735" y="2250892"/>
            <a:ext cx="5087073" cy="553373"/>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6" name="Espace réservé du contenu 5"/>
          <p:cNvSpPr>
            <a:spLocks noGrp="1"/>
          </p:cNvSpPr>
          <p:nvPr>
            <p:ph sz="quarter" idx="4" hasCustomPrompt="1"/>
          </p:nvPr>
        </p:nvSpPr>
        <p:spPr>
          <a:xfrm>
            <a:off x="6217709"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p:cNvSpPr>
            <a:spLocks noGrp="1"/>
          </p:cNvSpPr>
          <p:nvPr>
            <p:ph type="dt" sz="half" idx="10"/>
          </p:nvPr>
        </p:nvSpPr>
        <p:spPr/>
        <p:txBody>
          <a:bodyPr rtlCol="0"/>
          <a:lstStyle/>
          <a:p>
            <a:pPr rtl="0"/>
            <a:fld id="{FA9BF800-A62B-4735-B9A7-5450007C0A78}" type="datetime1">
              <a:rPr lang="fr-FR" noProof="0" smtClean="0"/>
              <a:t>20/06/2026</a:t>
            </a:fld>
            <a:endParaRPr lang="fr-FR" noProof="0"/>
          </a:p>
        </p:txBody>
      </p:sp>
      <p:sp>
        <p:nvSpPr>
          <p:cNvPr id="8" name="Espace réservé du pied de page 7"/>
          <p:cNvSpPr>
            <a:spLocks noGrp="1"/>
          </p:cNvSpPr>
          <p:nvPr>
            <p:ph type="ftr" sz="quarter" idx="11"/>
          </p:nvPr>
        </p:nvSpPr>
        <p:spPr/>
        <p:txBody>
          <a:bodyPr rtlCol="0"/>
          <a:lstStyle/>
          <a:p>
            <a:pPr rtl="0"/>
            <a:endParaRPr lang="fr-FR" noProof="0"/>
          </a:p>
        </p:txBody>
      </p:sp>
      <p:sp>
        <p:nvSpPr>
          <p:cNvPr id="9" name="Espace réservé du numéro de diapositive 8"/>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3" name="Espace réservé de la date 2"/>
          <p:cNvSpPr>
            <a:spLocks noGrp="1"/>
          </p:cNvSpPr>
          <p:nvPr>
            <p:ph type="dt" sz="half" idx="10"/>
          </p:nvPr>
        </p:nvSpPr>
        <p:spPr/>
        <p:txBody>
          <a:bodyPr rtlCol="0"/>
          <a:lstStyle/>
          <a:p>
            <a:pPr rtl="0"/>
            <a:fld id="{F47267E0-A979-4430-94B4-54611641D8EE}" type="datetime1">
              <a:rPr lang="fr-FR" noProof="0" smtClean="0"/>
              <a:t>20/06/2026</a:t>
            </a:fld>
            <a:endParaRPr lang="fr-FR" noProof="0"/>
          </a:p>
        </p:txBody>
      </p:sp>
      <p:sp>
        <p:nvSpPr>
          <p:cNvPr id="4" name="Espace réservé du pied de page 3"/>
          <p:cNvSpPr>
            <a:spLocks noGrp="1"/>
          </p:cNvSpPr>
          <p:nvPr>
            <p:ph type="ftr" sz="quarter" idx="11"/>
          </p:nvPr>
        </p:nvSpPr>
        <p:spPr/>
        <p:txBody>
          <a:bodyPr rtlCol="0"/>
          <a:lstStyle/>
          <a:p>
            <a:pPr rtl="0"/>
            <a:endParaRPr lang="fr-FR" noProof="0"/>
          </a:p>
        </p:txBody>
      </p:sp>
      <p:sp>
        <p:nvSpPr>
          <p:cNvPr id="5" name="Espace réservé du numéro de diapositive 4"/>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8" name="Titre 1"/>
          <p:cNvSpPr>
            <a:spLocks noGrp="1"/>
          </p:cNvSpPr>
          <p:nvPr>
            <p:ph type="title"/>
          </p:nvPr>
        </p:nvSpPr>
        <p:spPr>
          <a:xfrm>
            <a:off x="575894" y="729658"/>
            <a:ext cx="11029616" cy="988332"/>
          </a:xfrm>
        </p:spPr>
        <p:txBody>
          <a:bodyPr rtlCol="0"/>
          <a:lstStyle/>
          <a:p>
            <a:pPr rtl="0"/>
            <a:r>
              <a:rPr lang="fr-FR" noProof="0"/>
              <a:t>Modifiez le style du titre</a:t>
            </a:r>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C58A73B6-B077-488D-82CF-3056D5BAC73E}" type="datetime1">
              <a:rPr lang="fr-FR" noProof="0" smtClean="0"/>
              <a:t>20/06/2026</a:t>
            </a:fld>
            <a:endParaRPr lang="fr-FR" noProof="0"/>
          </a:p>
        </p:txBody>
      </p:sp>
      <p:sp>
        <p:nvSpPr>
          <p:cNvPr id="3" name="Espace réservé du pied de page 2"/>
          <p:cNvSpPr>
            <a:spLocks noGrp="1"/>
          </p:cNvSpPr>
          <p:nvPr>
            <p:ph type="ftr" sz="quarter" idx="11"/>
          </p:nvPr>
        </p:nvSpPr>
        <p:spPr/>
        <p:txBody>
          <a:bodyPr rtlCol="0"/>
          <a:lstStyle/>
          <a:p>
            <a:pPr rtl="0"/>
            <a:endParaRPr lang="fr-FR" noProof="0"/>
          </a:p>
        </p:txBody>
      </p:sp>
      <p:sp>
        <p:nvSpPr>
          <p:cNvPr id="4" name="Espace réservé du numéro de diapositive 3"/>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2" y="5262296"/>
            <a:ext cx="4909445" cy="689514"/>
          </a:xfrm>
        </p:spPr>
        <p:txBody>
          <a:bodyPr rtlCol="0" anchor="ctr"/>
          <a:lstStyle>
            <a:lvl1pPr algn="l">
              <a:defRPr sz="2000" b="0">
                <a:solidFill>
                  <a:schemeClr val="accent1">
                    <a:lumMod val="75000"/>
                    <a:lumOff val="25000"/>
                  </a:schemeClr>
                </a:solidFill>
              </a:defRPr>
            </a:lvl1pPr>
          </a:lstStyle>
          <a:p>
            <a:pPr rtl="0"/>
            <a:r>
              <a:rPr lang="fr-FR" noProof="0"/>
              <a:t>Modifiez le style du titre</a:t>
            </a:r>
          </a:p>
        </p:txBody>
      </p:sp>
      <p:sp>
        <p:nvSpPr>
          <p:cNvPr id="3" name="Espace réservé du contenu 2"/>
          <p:cNvSpPr>
            <a:spLocks noGrp="1"/>
          </p:cNvSpPr>
          <p:nvPr>
            <p:ph idx="1" hasCustomPrompt="1"/>
          </p:nvPr>
        </p:nvSpPr>
        <p:spPr>
          <a:xfrm>
            <a:off x="447816" y="601200"/>
            <a:ext cx="11292840" cy="4204800"/>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texte 3"/>
          <p:cNvSpPr>
            <a:spLocks noGrp="1"/>
          </p:cNvSpPr>
          <p:nvPr>
            <p:ph type="body" sz="half" idx="2" hasCustomPrompt="1"/>
          </p:nvPr>
        </p:nvSpPr>
        <p:spPr>
          <a:xfrm>
            <a:off x="5740823" y="5262296"/>
            <a:ext cx="5869987" cy="689515"/>
          </a:xfrm>
        </p:spPr>
        <p:txBody>
          <a:bodyPr rtlCol="0"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lvl1pPr>
              <a:defRPr>
                <a:solidFill>
                  <a:schemeClr val="accent1">
                    <a:lumMod val="75000"/>
                    <a:lumOff val="25000"/>
                  </a:schemeClr>
                </a:solidFill>
              </a:defRPr>
            </a:lvl1pPr>
          </a:lstStyle>
          <a:p>
            <a:pPr rtl="0"/>
            <a:fld id="{98F108A3-3495-404B-9869-1BA62DF0E465}" type="datetime1">
              <a:rPr lang="fr-FR" noProof="0" smtClean="0"/>
              <a:t>20/06/2026</a:t>
            </a:fld>
            <a:endParaRPr lang="fr-FR" noProof="0"/>
          </a:p>
        </p:txBody>
      </p:sp>
      <p:sp>
        <p:nvSpPr>
          <p:cNvPr id="6" name="Espace réservé du pied de page 5"/>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7" name="Espace réservé du numéro de diapositive 6"/>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81193" y="4693389"/>
            <a:ext cx="11029616" cy="566738"/>
          </a:xfrm>
        </p:spPr>
        <p:txBody>
          <a:bodyPr rtlCol="0" anchor="b">
            <a:normAutofit/>
          </a:bodyPr>
          <a:lstStyle>
            <a:lvl1pPr algn="l">
              <a:defRPr sz="2400" b="0">
                <a:solidFill>
                  <a:schemeClr val="accent1"/>
                </a:solidFill>
              </a:defRPr>
            </a:lvl1pPr>
          </a:lstStyle>
          <a:p>
            <a:pPr rtl="0"/>
            <a:r>
              <a:rPr lang="fr-FR" noProof="0"/>
              <a:t>Modifiez le style du titre</a:t>
            </a:r>
          </a:p>
        </p:txBody>
      </p:sp>
      <p:sp>
        <p:nvSpPr>
          <p:cNvPr id="3" name="Espace réservé d’image 2"/>
          <p:cNvSpPr>
            <a:spLocks noGrp="1" noChangeAspect="1"/>
          </p:cNvSpPr>
          <p:nvPr>
            <p:ph type="pic" idx="1" hasCustomPrompt="1"/>
          </p:nvPr>
        </p:nvSpPr>
        <p:spPr>
          <a:xfrm>
            <a:off x="447817" y="599725"/>
            <a:ext cx="11290859" cy="3557252"/>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fr-FR" noProof="0"/>
              <a:t>Cliquez sur l’icône pour ajouter une image</a:t>
            </a:r>
          </a:p>
        </p:txBody>
      </p:sp>
      <p:sp>
        <p:nvSpPr>
          <p:cNvPr id="4" name="Espace réservé du texte 3"/>
          <p:cNvSpPr>
            <a:spLocks noGrp="1"/>
          </p:cNvSpPr>
          <p:nvPr>
            <p:ph type="body" sz="half" idx="2" hasCustomPrompt="1"/>
          </p:nvPr>
        </p:nvSpPr>
        <p:spPr>
          <a:xfrm>
            <a:off x="581192" y="5260127"/>
            <a:ext cx="11029617" cy="598671"/>
          </a:xfrm>
        </p:spPr>
        <p:txBody>
          <a:bodyPr rtlCol="0">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p>
            <a:pPr rtl="0"/>
            <a:fld id="{94B550F6-4238-41AE-B6F4-4D375745C983}" type="datetime1">
              <a:rPr lang="fr-FR" noProof="0" smtClean="0"/>
              <a:t>20/06/2026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9"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texte vertical 2"/>
          <p:cNvSpPr>
            <a:spLocks noGrp="1"/>
          </p:cNvSpPr>
          <p:nvPr>
            <p:ph type="body" orient="vert" idx="1" hasCustomPrompt="1"/>
          </p:nvPr>
        </p:nvSpPr>
        <p:spPr/>
        <p:txBody>
          <a:bodyPr vert="eaVert" rtlCol="0" anchor="t"/>
          <a:lstStyle>
            <a:lvl1pPr algn="l">
              <a:defRPr/>
            </a:lvl1pPr>
            <a:lvl2pPr algn="l">
              <a:defRPr/>
            </a:lvl2pPr>
            <a:lvl3pPr algn="l">
              <a:defRPr/>
            </a:lvl3pPr>
            <a:lvl4pPr algn="l">
              <a:defRPr/>
            </a:lvl4pPr>
            <a:lvl5pPr algn="l">
              <a:defRPr/>
            </a:lvl5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7E5E3FBB-57D2-4FB3-B51E-0FDE8CEE6791}" type="datetime1">
              <a:rPr lang="fr-FR" noProof="0" smtClean="0"/>
              <a:t>20/06/2026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vertical 1"/>
          <p:cNvSpPr>
            <a:spLocks noGrp="1"/>
          </p:cNvSpPr>
          <p:nvPr>
            <p:ph type="title" orient="vert"/>
          </p:nvPr>
        </p:nvSpPr>
        <p:spPr>
          <a:xfrm>
            <a:off x="8839201" y="675726"/>
            <a:ext cx="2004164" cy="5183073"/>
          </a:xfrm>
        </p:spPr>
        <p:txBody>
          <a:bodyPr vert="eaVert" rtlCol="0"/>
          <a:lstStyle/>
          <a:p>
            <a:pPr rtl="0"/>
            <a:r>
              <a:rPr lang="fr-FR" noProof="0"/>
              <a:t>Modifiez le style du titre</a:t>
            </a:r>
          </a:p>
        </p:txBody>
      </p:sp>
      <p:sp>
        <p:nvSpPr>
          <p:cNvPr id="3" name="Espace réservé du texte vertical 2"/>
          <p:cNvSpPr>
            <a:spLocks noGrp="1"/>
          </p:cNvSpPr>
          <p:nvPr>
            <p:ph type="body" orient="vert" idx="1" hasCustomPrompt="1"/>
          </p:nvPr>
        </p:nvSpPr>
        <p:spPr>
          <a:xfrm>
            <a:off x="774923" y="675726"/>
            <a:ext cx="7896279" cy="5183073"/>
          </a:xfrm>
        </p:spPr>
        <p:txBody>
          <a:bodyPr vert="eaVert" rtlCol="0" anchor="t"/>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a:xfrm>
            <a:off x="8993673" y="5956137"/>
            <a:ext cx="1328141" cy="365125"/>
          </a:xfrm>
        </p:spPr>
        <p:txBody>
          <a:bodyPr rtlCol="0"/>
          <a:lstStyle>
            <a:lvl1pPr>
              <a:defRPr>
                <a:solidFill>
                  <a:schemeClr val="accent1">
                    <a:lumMod val="75000"/>
                    <a:lumOff val="25000"/>
                  </a:schemeClr>
                </a:solidFill>
              </a:defRPr>
            </a:lvl1pPr>
          </a:lstStyle>
          <a:p>
            <a:pPr rtl="0"/>
            <a:fld id="{BE9F9435-70D7-42BA-8564-5EC34B97B69E}" type="datetime1">
              <a:rPr lang="fr-FR" noProof="0" smtClean="0"/>
              <a:t>20/06/2026</a:t>
            </a:fld>
            <a:endParaRPr lang="fr-FR" noProof="0"/>
          </a:p>
        </p:txBody>
      </p:sp>
      <p:sp>
        <p:nvSpPr>
          <p:cNvPr id="5" name="Espace réservé du pied de page 4"/>
          <p:cNvSpPr>
            <a:spLocks noGrp="1"/>
          </p:cNvSpPr>
          <p:nvPr>
            <p:ph type="ftr" sz="quarter" idx="11"/>
          </p:nvPr>
        </p:nvSpPr>
        <p:spPr>
          <a:xfrm>
            <a:off x="774923" y="5951811"/>
            <a:ext cx="7896279" cy="365125"/>
          </a:xfrm>
        </p:spPr>
        <p:txBody>
          <a:bodyPr rtlCol="0"/>
          <a:lstStyle/>
          <a:p>
            <a:pPr rtl="0"/>
            <a:endParaRPr lang="fr-FR" noProof="0"/>
          </a:p>
        </p:txBody>
      </p:sp>
      <p:sp>
        <p:nvSpPr>
          <p:cNvPr id="6" name="Espace réservé du numéro de diapositive 5"/>
          <p:cNvSpPr>
            <a:spLocks noGrp="1"/>
          </p:cNvSpPr>
          <p:nvPr>
            <p:ph type="sldNum" sz="quarter" idx="12"/>
          </p:nvPr>
        </p:nvSpPr>
        <p:spPr>
          <a:xfrm>
            <a:off x="10446615" y="5956137"/>
            <a:ext cx="1164195"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fr-FR" noProof="0"/>
              <a:t>Modifiez le style du titre</a:t>
            </a:r>
          </a:p>
        </p:txBody>
      </p:sp>
      <p:sp>
        <p:nvSpPr>
          <p:cNvPr id="3" name="Espace réservé du texte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rtl="0"/>
            <a:fld id="{BBB97F02-5EDD-4BF6-BE41-AB41D1FEABF8}" type="datetime1">
              <a:rPr lang="fr-FR" noProof="0" smtClean="0"/>
              <a:t>20/06/2026</a:t>
            </a:fld>
            <a:endParaRPr lang="fr-FR" noProof="0"/>
          </a:p>
        </p:txBody>
      </p:sp>
      <p:sp>
        <p:nvSpPr>
          <p:cNvPr id="5" name="Espace réservé du pied de page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pPr rtl="0"/>
            <a:endParaRPr lang="fr-FR" noProof="0"/>
          </a:p>
        </p:txBody>
      </p:sp>
      <p:sp>
        <p:nvSpPr>
          <p:cNvPr id="6" name="Espace réservé du numéro de diapositive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rtl="0"/>
            <a:fld id="{D57F1E4F-1CFF-5643-939E-217C01CDF565}" type="slidenum">
              <a:rPr lang="fr-FR" noProof="0" smtClean="0"/>
              <a:pPr/>
              <a:t>‹N°›</a:t>
            </a:fld>
            <a:endParaRPr lang="fr-FR" noProof="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pic>
        <p:nvPicPr>
          <p:cNvPr id="7" name="Image 6" descr="Connexions numérique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3265" t="9091" r="3502" b="-1"/>
          <a:stretch/>
        </p:blipFill>
        <p:spPr>
          <a:xfrm>
            <a:off x="20" y="10"/>
            <a:ext cx="12191980" cy="6857990"/>
          </a:xfrm>
          <a:prstGeom prst="rect">
            <a:avLst/>
          </a:prstGeom>
        </p:spPr>
      </p:pic>
      <p:grpSp>
        <p:nvGrpSpPr>
          <p:cNvPr id="17" name="Groupe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C02C5318-1A1E-49D0-B2E2-A4B0FA9E8A40}"/>
              </a:ext>
            </a:extLst>
          </p:cNvPr>
          <p:cNvSpPr>
            <a:spLocks noGrp="1"/>
          </p:cNvSpPr>
          <p:nvPr>
            <p:ph type="ctrTitle"/>
          </p:nvPr>
        </p:nvSpPr>
        <p:spPr>
          <a:xfrm>
            <a:off x="581191" y="4572000"/>
            <a:ext cx="10993549" cy="895244"/>
          </a:xfrm>
        </p:spPr>
        <p:txBody>
          <a:bodyPr rtlCol="0">
            <a:noAutofit/>
          </a:bodyPr>
          <a:lstStyle/>
          <a:p>
            <a:r>
              <a:rPr lang="fr-FR" sz="6000" dirty="0">
                <a:solidFill>
                  <a:schemeClr val="bg1"/>
                </a:solidFill>
              </a:rPr>
              <a:t>Tech-Nova</a:t>
            </a:r>
            <a:r>
              <a:rPr lang="fr-FR" sz="6000" dirty="0"/>
              <a:t> </a:t>
            </a:r>
            <a:endParaRPr lang="fr-FR" sz="6000" dirty="0">
              <a:solidFill>
                <a:schemeClr val="bg1"/>
              </a:solidFill>
            </a:endParaRPr>
          </a:p>
        </p:txBody>
      </p:sp>
      <p:sp>
        <p:nvSpPr>
          <p:cNvPr id="3" name="Sous-titre 2">
            <a:extLst>
              <a:ext uri="{FF2B5EF4-FFF2-40B4-BE49-F238E27FC236}">
                <a16:creationId xmlns:a16="http://schemas.microsoft.com/office/drawing/2014/main" id="{48B6CF59-4E5B-494D-A2F7-97ADD01E6497}"/>
              </a:ext>
            </a:extLst>
          </p:cNvPr>
          <p:cNvSpPr>
            <a:spLocks noGrp="1"/>
          </p:cNvSpPr>
          <p:nvPr>
            <p:ph type="subTitle" idx="1"/>
          </p:nvPr>
        </p:nvSpPr>
        <p:spPr>
          <a:xfrm>
            <a:off x="581194" y="5467246"/>
            <a:ext cx="10993546" cy="484822"/>
          </a:xfrm>
        </p:spPr>
        <p:txBody>
          <a:bodyPr rtlCol="0">
            <a:normAutofit/>
          </a:bodyPr>
          <a:lstStyle/>
          <a:p>
            <a:r>
              <a:rPr lang="fr-FR" dirty="0"/>
              <a:t>Analyse des causes de démission</a:t>
            </a:r>
            <a:endParaRPr lang="fr-FR" dirty="0">
              <a:solidFill>
                <a:srgbClr val="7CEBFF"/>
              </a:solidFill>
            </a:endParaRP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A887ABB-4D37-F4E5-C72E-05B3951BCC74}"/>
              </a:ext>
            </a:extLst>
          </p:cNvPr>
          <p:cNvSpPr>
            <a:spLocks noGrp="1"/>
          </p:cNvSpPr>
          <p:nvPr>
            <p:ph type="title"/>
          </p:nvPr>
        </p:nvSpPr>
        <p:spPr/>
        <p:txBody>
          <a:bodyPr/>
          <a:lstStyle/>
          <a:p>
            <a:r>
              <a:rPr lang="fr-FR" dirty="0"/>
              <a:t>Formation Développeur IA</a:t>
            </a:r>
          </a:p>
        </p:txBody>
      </p:sp>
      <p:pic>
        <p:nvPicPr>
          <p:cNvPr id="4" name="Picture 6" descr="OpenClassrooms | Spreadshop">
            <a:extLst>
              <a:ext uri="{FF2B5EF4-FFF2-40B4-BE49-F238E27FC236}">
                <a16:creationId xmlns:a16="http://schemas.microsoft.com/office/drawing/2014/main" id="{7A154197-7927-FA64-68F3-8463F8F0BE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7300" y="766902"/>
            <a:ext cx="4933507" cy="88430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Jupyter - Visual Studio Marketplace">
            <a:extLst>
              <a:ext uri="{FF2B5EF4-FFF2-40B4-BE49-F238E27FC236}">
                <a16:creationId xmlns:a16="http://schemas.microsoft.com/office/drawing/2014/main" id="{5BBF6CEF-1ECD-D45B-FECD-1582DE5A93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8026" y="2191487"/>
            <a:ext cx="1757734" cy="1765581"/>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6" name="Picture 4" descr="Microsoft Excel — Wikipédia">
            <a:extLst>
              <a:ext uri="{FF2B5EF4-FFF2-40B4-BE49-F238E27FC236}">
                <a16:creationId xmlns:a16="http://schemas.microsoft.com/office/drawing/2014/main" id="{6F69B809-21C0-9ED3-E817-150D37D803A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32990" y="4555704"/>
            <a:ext cx="1353623" cy="139649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7" name="Picture 6" descr="2. Traitement de données avec PANDAS — Outils numériques avancés en  Mécanique">
            <a:extLst>
              <a:ext uri="{FF2B5EF4-FFF2-40B4-BE49-F238E27FC236}">
                <a16:creationId xmlns:a16="http://schemas.microsoft.com/office/drawing/2014/main" id="{0646F847-D574-9338-7260-840A3FEF8A1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5249" y="4864253"/>
            <a:ext cx="2306277" cy="12086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26" name="Picture 2" descr="UV - Python Package Manager: how to use it, comparisons, and common issues  | Pedro Medinilla Bohorquez - Pedromebo">
            <a:extLst>
              <a:ext uri="{FF2B5EF4-FFF2-40B4-BE49-F238E27FC236}">
                <a16:creationId xmlns:a16="http://schemas.microsoft.com/office/drawing/2014/main" id="{3F04E6DC-A3F1-4760-8863-86893C5A6382}"/>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16823" t="25873" r="21843" b="28412"/>
          <a:stretch>
            <a:fillRect/>
          </a:stretch>
        </p:blipFill>
        <p:spPr bwMode="auto">
          <a:xfrm>
            <a:off x="8534400" y="2421455"/>
            <a:ext cx="3218329" cy="125934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050" name="Picture 2" descr="Image vectorielle Stock Machine learning icon. Artificial intelligence,  smart machine logo template. Vector illustration. | Adobe Stock">
            <a:extLst>
              <a:ext uri="{FF2B5EF4-FFF2-40B4-BE49-F238E27FC236}">
                <a16:creationId xmlns:a16="http://schemas.microsoft.com/office/drawing/2014/main" id="{EC838F59-608E-2E37-2BB3-753A43C19F4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381500" y="2523202"/>
            <a:ext cx="3429000" cy="3429000"/>
          </a:xfrm>
          <a:prstGeom prst="rect">
            <a:avLst/>
          </a:prstGeom>
          <a:ln w="228600" cap="sq" cmpd="thickThin">
            <a:solidFill>
              <a:srgbClr val="000000"/>
            </a:solidFill>
            <a:prstDash val="solid"/>
            <a:miter lim="800000"/>
          </a:ln>
          <a:effectLst>
            <a:innerShdw blurRad="76200">
              <a:srgbClr val="000000"/>
            </a:innerShdw>
          </a:effectLst>
          <a:extLst>
            <a:ext uri="{909E8E84-426E-40DD-AFC4-6F175D3DCCD1}">
              <a14:hiddenFill xmlns:a14="http://schemas.microsoft.com/office/drawing/2010/main">
                <a:solidFill>
                  <a:srgbClr val="FFFFFF"/>
                </a:solidFill>
              </a14:hiddenFill>
            </a:ext>
          </a:extLst>
        </p:spPr>
      </p:pic>
      <p:sp>
        <p:nvSpPr>
          <p:cNvPr id="3" name="Titre 1">
            <a:extLst>
              <a:ext uri="{FF2B5EF4-FFF2-40B4-BE49-F238E27FC236}">
                <a16:creationId xmlns:a16="http://schemas.microsoft.com/office/drawing/2014/main" id="{E540BF55-66A1-AEB9-0C84-37F0833436B0}"/>
              </a:ext>
            </a:extLst>
          </p:cNvPr>
          <p:cNvSpPr txBox="1">
            <a:spLocks/>
          </p:cNvSpPr>
          <p:nvPr/>
        </p:nvSpPr>
        <p:spPr>
          <a:xfrm>
            <a:off x="4978343" y="5648944"/>
            <a:ext cx="2235314" cy="1013800"/>
          </a:xfrm>
          <a:prstGeom prst="rect">
            <a:avLst/>
          </a:prstGeom>
        </p:spPr>
        <p:style>
          <a:lnRef idx="3">
            <a:schemeClr val="lt1"/>
          </a:lnRef>
          <a:fillRef idx="1">
            <a:schemeClr val="accent4"/>
          </a:fillRef>
          <a:effectRef idx="1">
            <a:schemeClr val="accent4"/>
          </a:effectRef>
          <a:fontRef idx="minor">
            <a:schemeClr val="lt1"/>
          </a:fontRef>
        </p:style>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6000" dirty="0">
                <a:solidFill>
                  <a:schemeClr val="tx1"/>
                </a:solidFill>
              </a:rPr>
              <a:t>2026</a:t>
            </a:r>
          </a:p>
        </p:txBody>
      </p:sp>
    </p:spTree>
    <p:extLst>
      <p:ext uri="{BB962C8B-B14F-4D97-AF65-F5344CB8AC3E}">
        <p14:creationId xmlns:p14="http://schemas.microsoft.com/office/powerpoint/2010/main" val="3094922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BF1CB-ED84-7901-5EF7-06E01CBE2F7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D5C744A-20E0-D04E-F4EA-1F8F23FBC1F8}"/>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Le Projet</a:t>
            </a:r>
          </a:p>
        </p:txBody>
      </p:sp>
    </p:spTree>
    <p:extLst>
      <p:ext uri="{BB962C8B-B14F-4D97-AF65-F5344CB8AC3E}">
        <p14:creationId xmlns:p14="http://schemas.microsoft.com/office/powerpoint/2010/main" val="17902946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0DD231E-6BC7-5409-B17C-F97858C1A75C}"/>
              </a:ext>
            </a:extLst>
          </p:cNvPr>
          <p:cNvSpPr>
            <a:spLocks noGrp="1"/>
          </p:cNvSpPr>
          <p:nvPr>
            <p:ph type="title"/>
          </p:nvPr>
        </p:nvSpPr>
        <p:spPr/>
        <p:txBody>
          <a:bodyPr/>
          <a:lstStyle/>
          <a:p>
            <a:pPr algn="ctr"/>
            <a:r>
              <a:rPr lang="fr-FR" dirty="0"/>
              <a:t>Le CLIENT</a:t>
            </a:r>
            <a:br>
              <a:rPr lang="fr-FR" dirty="0"/>
            </a:br>
            <a:r>
              <a:rPr lang="fr-FR" sz="2000" dirty="0"/>
              <a:t>ESN </a:t>
            </a:r>
            <a:r>
              <a:rPr lang="fr-FR" sz="2000" dirty="0" err="1"/>
              <a:t>TechNova</a:t>
            </a:r>
            <a:r>
              <a:rPr lang="fr-FR" sz="2000" dirty="0"/>
              <a:t> </a:t>
            </a:r>
            <a:r>
              <a:rPr lang="fr-FR" sz="2000" dirty="0" err="1"/>
              <a:t>Partners</a:t>
            </a:r>
            <a:endParaRPr lang="fr-FR" dirty="0"/>
          </a:p>
        </p:txBody>
      </p:sp>
      <p:sp>
        <p:nvSpPr>
          <p:cNvPr id="3" name="Espace réservé du contenu 2">
            <a:extLst>
              <a:ext uri="{FF2B5EF4-FFF2-40B4-BE49-F238E27FC236}">
                <a16:creationId xmlns:a16="http://schemas.microsoft.com/office/drawing/2014/main" id="{C05A31AB-4ABD-834A-DA20-9B709688FC0D}"/>
              </a:ext>
            </a:extLst>
          </p:cNvPr>
          <p:cNvSpPr>
            <a:spLocks noGrp="1"/>
          </p:cNvSpPr>
          <p:nvPr>
            <p:ph idx="1"/>
          </p:nvPr>
        </p:nvSpPr>
        <p:spPr/>
        <p:txBody>
          <a:bodyPr>
            <a:normAutofit/>
          </a:bodyPr>
          <a:lstStyle/>
          <a:p>
            <a:r>
              <a:rPr lang="fr-FR" sz="2800" dirty="0"/>
              <a:t>Spécialisée dans le conseil en transformation digitale et la vente d’applications en SaaS.</a:t>
            </a:r>
          </a:p>
          <a:p>
            <a:endParaRPr lang="fr-FR" sz="2800" dirty="0"/>
          </a:p>
          <a:p>
            <a:r>
              <a:rPr lang="fr-FR" sz="2800" dirty="0"/>
              <a:t>Turnover élevé</a:t>
            </a:r>
          </a:p>
          <a:p>
            <a:endParaRPr lang="fr-FR" sz="2800" dirty="0"/>
          </a:p>
          <a:p>
            <a:r>
              <a:rPr lang="fr-FR" sz="2800" dirty="0"/>
              <a:t>Identifier les causes racines des démissions.</a:t>
            </a:r>
          </a:p>
        </p:txBody>
      </p:sp>
    </p:spTree>
    <p:extLst>
      <p:ext uri="{BB962C8B-B14F-4D97-AF65-F5344CB8AC3E}">
        <p14:creationId xmlns:p14="http://schemas.microsoft.com/office/powerpoint/2010/main" val="41690816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BFD14-57F0-79C4-00C5-7F01836BA48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E92C8EE-0A54-B2A4-2ED6-628262FC7149}"/>
              </a:ext>
            </a:extLst>
          </p:cNvPr>
          <p:cNvSpPr>
            <a:spLocks noGrp="1"/>
          </p:cNvSpPr>
          <p:nvPr>
            <p:ph type="title"/>
          </p:nvPr>
        </p:nvSpPr>
        <p:spPr/>
        <p:txBody>
          <a:bodyPr/>
          <a:lstStyle/>
          <a:p>
            <a:pPr algn="ctr"/>
            <a:r>
              <a:rPr lang="fr-FR" dirty="0"/>
              <a:t>objectifs</a:t>
            </a:r>
          </a:p>
        </p:txBody>
      </p:sp>
      <p:sp>
        <p:nvSpPr>
          <p:cNvPr id="3" name="Espace réservé du contenu 2">
            <a:extLst>
              <a:ext uri="{FF2B5EF4-FFF2-40B4-BE49-F238E27FC236}">
                <a16:creationId xmlns:a16="http://schemas.microsoft.com/office/drawing/2014/main" id="{0D1001FF-76C3-E532-2793-4CD75E5466B0}"/>
              </a:ext>
            </a:extLst>
          </p:cNvPr>
          <p:cNvSpPr>
            <a:spLocks noGrp="1"/>
          </p:cNvSpPr>
          <p:nvPr>
            <p:ph idx="1"/>
          </p:nvPr>
        </p:nvSpPr>
        <p:spPr/>
        <p:txBody>
          <a:bodyPr>
            <a:normAutofit/>
          </a:bodyPr>
          <a:lstStyle/>
          <a:p>
            <a:r>
              <a:rPr lang="fr-FR" sz="2800" dirty="0"/>
              <a:t>Préparer et Analyser les données d’entrée</a:t>
            </a:r>
          </a:p>
          <a:p>
            <a:endParaRPr lang="fr-FR" sz="2800" dirty="0"/>
          </a:p>
          <a:p>
            <a:r>
              <a:rPr lang="fr-FR" sz="2800" dirty="0"/>
              <a:t>Réaliser un modèle de prédiction de Machine Learning</a:t>
            </a:r>
          </a:p>
          <a:p>
            <a:endParaRPr lang="fr-FR" sz="2800" dirty="0"/>
          </a:p>
          <a:p>
            <a:r>
              <a:rPr lang="fr-FR" sz="2800" dirty="0"/>
              <a:t>Présenter les conclusions de nos résultats</a:t>
            </a:r>
          </a:p>
        </p:txBody>
      </p:sp>
    </p:spTree>
    <p:extLst>
      <p:ext uri="{BB962C8B-B14F-4D97-AF65-F5344CB8AC3E}">
        <p14:creationId xmlns:p14="http://schemas.microsoft.com/office/powerpoint/2010/main" val="3244018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115D40F-A33F-F56F-2E3F-0D2B12B18D33}"/>
              </a:ext>
            </a:extLst>
          </p:cNvPr>
          <p:cNvSpPr>
            <a:spLocks noGrp="1"/>
          </p:cNvSpPr>
          <p:nvPr>
            <p:ph type="title"/>
          </p:nvPr>
        </p:nvSpPr>
        <p:spPr/>
        <p:txBody>
          <a:bodyPr/>
          <a:lstStyle/>
          <a:p>
            <a:pPr algn="ctr"/>
            <a:r>
              <a:rPr lang="fr-FR" dirty="0"/>
              <a:t>Les Données d’entrée</a:t>
            </a:r>
          </a:p>
        </p:txBody>
      </p:sp>
      <p:pic>
        <p:nvPicPr>
          <p:cNvPr id="4" name="Picture 4" descr="Microsoft Excel — Wikipédia">
            <a:extLst>
              <a:ext uri="{FF2B5EF4-FFF2-40B4-BE49-F238E27FC236}">
                <a16:creationId xmlns:a16="http://schemas.microsoft.com/office/drawing/2014/main" id="{6F604B7A-1DEF-9038-F66D-0CE1153DCB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622" y="3658177"/>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5" name="Picture 4" descr="Microsoft Excel — Wikipédia">
            <a:extLst>
              <a:ext uri="{FF2B5EF4-FFF2-40B4-BE49-F238E27FC236}">
                <a16:creationId xmlns:a16="http://schemas.microsoft.com/office/drawing/2014/main" id="{DFFBD9B2-9352-B994-A86D-732AD2E2B5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88" y="2107170"/>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6" name="Picture 4" descr="Microsoft Excel — Wikipédia">
            <a:extLst>
              <a:ext uri="{FF2B5EF4-FFF2-40B4-BE49-F238E27FC236}">
                <a16:creationId xmlns:a16="http://schemas.microsoft.com/office/drawing/2014/main" id="{8AEF5D28-0F0E-C92C-B8CC-58FCC55012A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88" y="5247381"/>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7" name="ZoneTexte 6">
            <a:extLst>
              <a:ext uri="{FF2B5EF4-FFF2-40B4-BE49-F238E27FC236}">
                <a16:creationId xmlns:a16="http://schemas.microsoft.com/office/drawing/2014/main" id="{71605D77-0F9C-18D0-07A7-ADA1AADF4FE2}"/>
              </a:ext>
            </a:extLst>
          </p:cNvPr>
          <p:cNvSpPr txBox="1"/>
          <p:nvPr/>
        </p:nvSpPr>
        <p:spPr>
          <a:xfrm>
            <a:off x="552076" y="4528674"/>
            <a:ext cx="1646266" cy="369332"/>
          </a:xfrm>
          <a:prstGeom prst="rect">
            <a:avLst/>
          </a:prstGeom>
          <a:noFill/>
        </p:spPr>
        <p:txBody>
          <a:bodyPr wrap="square">
            <a:spAutoFit/>
          </a:bodyPr>
          <a:lstStyle/>
          <a:p>
            <a:pPr algn="ctr"/>
            <a:r>
              <a:rPr lang="fr-FR" dirty="0">
                <a:solidFill>
                  <a:schemeClr val="accent1">
                    <a:lumMod val="60000"/>
                    <a:lumOff val="40000"/>
                  </a:schemeClr>
                </a:solidFill>
              </a:rPr>
              <a:t>extrait_eval.csv</a:t>
            </a:r>
          </a:p>
        </p:txBody>
      </p:sp>
      <p:sp>
        <p:nvSpPr>
          <p:cNvPr id="8" name="ZoneTexte 7">
            <a:extLst>
              <a:ext uri="{FF2B5EF4-FFF2-40B4-BE49-F238E27FC236}">
                <a16:creationId xmlns:a16="http://schemas.microsoft.com/office/drawing/2014/main" id="{132D200A-2631-7FD2-C62D-3019D9B55BB2}"/>
              </a:ext>
            </a:extLst>
          </p:cNvPr>
          <p:cNvSpPr txBox="1"/>
          <p:nvPr/>
        </p:nvSpPr>
        <p:spPr>
          <a:xfrm>
            <a:off x="592642" y="3004944"/>
            <a:ext cx="1646266" cy="369332"/>
          </a:xfrm>
          <a:prstGeom prst="rect">
            <a:avLst/>
          </a:prstGeom>
          <a:noFill/>
        </p:spPr>
        <p:txBody>
          <a:bodyPr wrap="square">
            <a:spAutoFit/>
          </a:bodyPr>
          <a:lstStyle/>
          <a:p>
            <a:pPr algn="ctr"/>
            <a:r>
              <a:rPr lang="fr-FR" dirty="0">
                <a:solidFill>
                  <a:srgbClr val="C00000"/>
                </a:solidFill>
              </a:rPr>
              <a:t>extrait_sirh.csv</a:t>
            </a:r>
          </a:p>
        </p:txBody>
      </p:sp>
      <p:sp>
        <p:nvSpPr>
          <p:cNvPr id="9" name="ZoneTexte 8">
            <a:extLst>
              <a:ext uri="{FF2B5EF4-FFF2-40B4-BE49-F238E27FC236}">
                <a16:creationId xmlns:a16="http://schemas.microsoft.com/office/drawing/2014/main" id="{9FB313CA-647D-B41F-2892-9FCD370AD68B}"/>
              </a:ext>
            </a:extLst>
          </p:cNvPr>
          <p:cNvSpPr txBox="1"/>
          <p:nvPr/>
        </p:nvSpPr>
        <p:spPr>
          <a:xfrm>
            <a:off x="361273" y="6262085"/>
            <a:ext cx="2109005" cy="369332"/>
          </a:xfrm>
          <a:prstGeom prst="rect">
            <a:avLst/>
          </a:prstGeom>
          <a:noFill/>
        </p:spPr>
        <p:txBody>
          <a:bodyPr wrap="square">
            <a:spAutoFit/>
          </a:bodyPr>
          <a:lstStyle/>
          <a:p>
            <a:pPr algn="ctr"/>
            <a:r>
              <a:rPr lang="fr-FR" dirty="0">
                <a:solidFill>
                  <a:schemeClr val="accent6">
                    <a:lumMod val="75000"/>
                  </a:schemeClr>
                </a:solidFill>
              </a:rPr>
              <a:t>extrait_sondage.csv</a:t>
            </a:r>
          </a:p>
        </p:txBody>
      </p:sp>
      <p:sp>
        <p:nvSpPr>
          <p:cNvPr id="12" name="ZoneTexte 11">
            <a:extLst>
              <a:ext uri="{FF2B5EF4-FFF2-40B4-BE49-F238E27FC236}">
                <a16:creationId xmlns:a16="http://schemas.microsoft.com/office/drawing/2014/main" id="{9932F998-FE93-157B-19CD-C21D3AA96942}"/>
              </a:ext>
            </a:extLst>
          </p:cNvPr>
          <p:cNvSpPr txBox="1"/>
          <p:nvPr/>
        </p:nvSpPr>
        <p:spPr>
          <a:xfrm>
            <a:off x="2470278" y="2192121"/>
            <a:ext cx="9347474" cy="707886"/>
          </a:xfrm>
          <a:prstGeom prst="rect">
            <a:avLst/>
          </a:prstGeom>
          <a:noFill/>
        </p:spPr>
        <p:txBody>
          <a:bodyPr wrap="square" rtlCol="0">
            <a:spAutoFit/>
          </a:bodyPr>
          <a:lstStyle/>
          <a:p>
            <a:r>
              <a:rPr lang="fr-FR" sz="2000" b="1" dirty="0">
                <a:solidFill>
                  <a:srgbClr val="C00000"/>
                </a:solidFill>
              </a:rPr>
              <a:t>Un extrait de notre système SIRH</a:t>
            </a:r>
          </a:p>
          <a:p>
            <a:r>
              <a:rPr lang="fr-FR" sz="2000" dirty="0"/>
              <a:t>Fonction de l’employé, âge, salaire, ancienneté etc... / Informations sociodémographiques.</a:t>
            </a:r>
          </a:p>
        </p:txBody>
      </p:sp>
      <p:sp>
        <p:nvSpPr>
          <p:cNvPr id="16" name="ZoneTexte 15">
            <a:extLst>
              <a:ext uri="{FF2B5EF4-FFF2-40B4-BE49-F238E27FC236}">
                <a16:creationId xmlns:a16="http://schemas.microsoft.com/office/drawing/2014/main" id="{0A37E39E-E3FA-B41E-6958-927E579F1893}"/>
              </a:ext>
            </a:extLst>
          </p:cNvPr>
          <p:cNvSpPr txBox="1"/>
          <p:nvPr/>
        </p:nvSpPr>
        <p:spPr>
          <a:xfrm>
            <a:off x="2470278" y="3743128"/>
            <a:ext cx="8457872" cy="707886"/>
          </a:xfrm>
          <a:prstGeom prst="rect">
            <a:avLst/>
          </a:prstGeom>
          <a:noFill/>
        </p:spPr>
        <p:txBody>
          <a:bodyPr wrap="square">
            <a:spAutoFit/>
          </a:bodyPr>
          <a:lstStyle/>
          <a:p>
            <a:r>
              <a:rPr lang="fr-FR" sz="2000" b="1" dirty="0">
                <a:solidFill>
                  <a:schemeClr val="accent1">
                    <a:lumMod val="60000"/>
                    <a:lumOff val="40000"/>
                  </a:schemeClr>
                </a:solidFill>
              </a:rPr>
              <a:t>Un extrait des évaluations annuelles de performance.</a:t>
            </a:r>
          </a:p>
          <a:p>
            <a:r>
              <a:rPr lang="fr-FR" sz="2000" dirty="0"/>
              <a:t>Notes des évaluations et notes de satisfaction données par les employés.</a:t>
            </a:r>
          </a:p>
        </p:txBody>
      </p:sp>
      <p:sp>
        <p:nvSpPr>
          <p:cNvPr id="18" name="ZoneTexte 17">
            <a:extLst>
              <a:ext uri="{FF2B5EF4-FFF2-40B4-BE49-F238E27FC236}">
                <a16:creationId xmlns:a16="http://schemas.microsoft.com/office/drawing/2014/main" id="{20374D29-576F-4401-68F6-8641E0156AC2}"/>
              </a:ext>
            </a:extLst>
          </p:cNvPr>
          <p:cNvSpPr txBox="1"/>
          <p:nvPr/>
        </p:nvSpPr>
        <p:spPr>
          <a:xfrm>
            <a:off x="2470278" y="5192159"/>
            <a:ext cx="9023383" cy="1015663"/>
          </a:xfrm>
          <a:prstGeom prst="rect">
            <a:avLst/>
          </a:prstGeom>
          <a:noFill/>
        </p:spPr>
        <p:txBody>
          <a:bodyPr wrap="square">
            <a:spAutoFit/>
          </a:bodyPr>
          <a:lstStyle/>
          <a:p>
            <a:r>
              <a:rPr lang="fr-FR" sz="2000" b="1" dirty="0">
                <a:solidFill>
                  <a:schemeClr val="accent6">
                    <a:lumMod val="75000"/>
                  </a:schemeClr>
                </a:solidFill>
              </a:rPr>
              <a:t>Sondage annuel des employés</a:t>
            </a:r>
          </a:p>
          <a:p>
            <a:r>
              <a:rPr lang="fr-FR" sz="2000" dirty="0"/>
              <a:t>Aide à mettre en place des actions pour le bien-être des employés.</a:t>
            </a:r>
          </a:p>
          <a:p>
            <a:r>
              <a:rPr lang="fr-FR" sz="2000" dirty="0"/>
              <a:t>+ Témoin pour indiquer si l’employé a quitté l’entreprise ou non.</a:t>
            </a:r>
          </a:p>
        </p:txBody>
      </p:sp>
    </p:spTree>
    <p:extLst>
      <p:ext uri="{BB962C8B-B14F-4D97-AF65-F5344CB8AC3E}">
        <p14:creationId xmlns:p14="http://schemas.microsoft.com/office/powerpoint/2010/main" val="40543395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C5D48-1FC5-0A32-4C4C-EECEACC58E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F632967-CAE6-E6EE-17DA-3304CBCA71B7}"/>
              </a:ext>
            </a:extLst>
          </p:cNvPr>
          <p:cNvSpPr>
            <a:spLocks noGrp="1"/>
          </p:cNvSpPr>
          <p:nvPr>
            <p:ph type="title"/>
          </p:nvPr>
        </p:nvSpPr>
        <p:spPr>
          <a:xfrm>
            <a:off x="581192" y="3179137"/>
            <a:ext cx="11029616" cy="1013800"/>
          </a:xfrm>
        </p:spPr>
        <p:txBody>
          <a:bodyPr>
            <a:normAutofit/>
          </a:bodyPr>
          <a:lstStyle/>
          <a:p>
            <a:pPr algn="ctr"/>
            <a:r>
              <a:rPr lang="fr-FR" sz="6000" dirty="0">
                <a:solidFill>
                  <a:schemeClr val="tx1"/>
                </a:solidFill>
              </a:rPr>
              <a:t>Préparation des données</a:t>
            </a:r>
          </a:p>
        </p:txBody>
      </p:sp>
    </p:spTree>
    <p:extLst>
      <p:ext uri="{BB962C8B-B14F-4D97-AF65-F5344CB8AC3E}">
        <p14:creationId xmlns:p14="http://schemas.microsoft.com/office/powerpoint/2010/main" val="1960994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B871A-6B20-1A70-020B-978DE8C6831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ED2DA52-6ED2-6207-14B7-F51F5E5BCAC4}"/>
              </a:ext>
            </a:extLst>
          </p:cNvPr>
          <p:cNvSpPr>
            <a:spLocks noGrp="1"/>
          </p:cNvSpPr>
          <p:nvPr>
            <p:ph type="title"/>
          </p:nvPr>
        </p:nvSpPr>
        <p:spPr/>
        <p:txBody>
          <a:bodyPr/>
          <a:lstStyle/>
          <a:p>
            <a:pPr lvl="0" algn="ctr" defTabSz="1600200">
              <a:lnSpc>
                <a:spcPct val="90000"/>
              </a:lnSpc>
              <a:spcAft>
                <a:spcPct val="35000"/>
              </a:spcAft>
            </a:pPr>
            <a:r>
              <a:rPr lang="fr-FR" dirty="0"/>
              <a:t>Jonction des Données</a:t>
            </a:r>
          </a:p>
        </p:txBody>
      </p:sp>
      <p:sp>
        <p:nvSpPr>
          <p:cNvPr id="9" name="Rectangle 8">
            <a:extLst>
              <a:ext uri="{FF2B5EF4-FFF2-40B4-BE49-F238E27FC236}">
                <a16:creationId xmlns:a16="http://schemas.microsoft.com/office/drawing/2014/main" id="{A6FAAE93-9F46-D0FC-F0AE-7B4BFDC437E5}"/>
              </a:ext>
            </a:extLst>
          </p:cNvPr>
          <p:cNvSpPr/>
          <p:nvPr/>
        </p:nvSpPr>
        <p:spPr>
          <a:xfrm>
            <a:off x="3876550" y="2779633"/>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4" name="ZoneTexte 3">
            <a:extLst>
              <a:ext uri="{FF2B5EF4-FFF2-40B4-BE49-F238E27FC236}">
                <a16:creationId xmlns:a16="http://schemas.microsoft.com/office/drawing/2014/main" id="{8A852E63-D843-F726-5C58-0C3114BA8E03}"/>
              </a:ext>
            </a:extLst>
          </p:cNvPr>
          <p:cNvSpPr txBox="1"/>
          <p:nvPr/>
        </p:nvSpPr>
        <p:spPr>
          <a:xfrm>
            <a:off x="418887" y="3715949"/>
            <a:ext cx="1906681" cy="923330"/>
          </a:xfrm>
          <a:prstGeom prst="rect">
            <a:avLst/>
          </a:prstGeom>
          <a:noFill/>
        </p:spPr>
        <p:txBody>
          <a:bodyPr wrap="square">
            <a:spAutoFit/>
          </a:bodyPr>
          <a:lstStyle/>
          <a:p>
            <a:pPr algn="r"/>
            <a:r>
              <a:rPr lang="en-US" dirty="0" err="1">
                <a:solidFill>
                  <a:schemeClr val="tx2"/>
                </a:solidFill>
                <a:latin typeface="Verdana" panose="020B0604030504040204" pitchFamily="34" charset="0"/>
                <a:ea typeface="Verdana" panose="020B0604030504040204" pitchFamily="34" charset="0"/>
              </a:rPr>
              <a:t>eval_number</a:t>
            </a:r>
            <a:br>
              <a:rPr lang="en-US" dirty="0">
                <a:solidFill>
                  <a:schemeClr val="tx2"/>
                </a:solidFill>
                <a:latin typeface="Verdana" panose="020B0604030504040204" pitchFamily="34" charset="0"/>
                <a:ea typeface="Verdana" panose="020B0604030504040204" pitchFamily="34" charset="0"/>
              </a:rPr>
            </a:br>
            <a:r>
              <a:rPr lang="en-US" dirty="0" err="1">
                <a:solidFill>
                  <a:schemeClr val="tx2"/>
                </a:solidFill>
                <a:latin typeface="Verdana" panose="020B0604030504040204" pitchFamily="34" charset="0"/>
                <a:ea typeface="Verdana" panose="020B0604030504040204" pitchFamily="34" charset="0"/>
              </a:rPr>
              <a:t>id_employee</a:t>
            </a:r>
            <a:br>
              <a:rPr lang="en-US" dirty="0">
                <a:solidFill>
                  <a:schemeClr val="tx2"/>
                </a:solidFill>
                <a:latin typeface="Verdana" panose="020B0604030504040204" pitchFamily="34" charset="0"/>
                <a:ea typeface="Verdana" panose="020B0604030504040204" pitchFamily="34" charset="0"/>
              </a:rPr>
            </a:br>
            <a:r>
              <a:rPr lang="en-US" dirty="0" err="1">
                <a:solidFill>
                  <a:schemeClr val="tx2"/>
                </a:solidFill>
                <a:latin typeface="Verdana" panose="020B0604030504040204" pitchFamily="34" charset="0"/>
                <a:ea typeface="Verdana" panose="020B0604030504040204" pitchFamily="34" charset="0"/>
              </a:rPr>
              <a:t>code_sondage</a:t>
            </a:r>
            <a:endParaRPr lang="fr-FR" dirty="0">
              <a:solidFill>
                <a:schemeClr val="tx2"/>
              </a:solidFill>
              <a:latin typeface="Verdana" panose="020B0604030504040204" pitchFamily="34" charset="0"/>
              <a:ea typeface="Verdana" panose="020B0604030504040204" pitchFamily="34" charset="0"/>
            </a:endParaRPr>
          </a:p>
        </p:txBody>
      </p:sp>
      <p:sp>
        <p:nvSpPr>
          <p:cNvPr id="5" name="Accolade fermante 4">
            <a:extLst>
              <a:ext uri="{FF2B5EF4-FFF2-40B4-BE49-F238E27FC236}">
                <a16:creationId xmlns:a16="http://schemas.microsoft.com/office/drawing/2014/main" id="{01BF1C81-BA45-B1A3-D247-82034EE29130}"/>
              </a:ext>
            </a:extLst>
          </p:cNvPr>
          <p:cNvSpPr/>
          <p:nvPr/>
        </p:nvSpPr>
        <p:spPr>
          <a:xfrm flipH="1">
            <a:off x="4458865" y="1956700"/>
            <a:ext cx="882241" cy="4524247"/>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6" name="ZoneTexte 5">
            <a:extLst>
              <a:ext uri="{FF2B5EF4-FFF2-40B4-BE49-F238E27FC236}">
                <a16:creationId xmlns:a16="http://schemas.microsoft.com/office/drawing/2014/main" id="{1FBE0BCA-3474-A5F3-F4D6-D63A906E3BC8}"/>
              </a:ext>
            </a:extLst>
          </p:cNvPr>
          <p:cNvSpPr txBox="1"/>
          <p:nvPr/>
        </p:nvSpPr>
        <p:spPr>
          <a:xfrm>
            <a:off x="3247622" y="3803324"/>
            <a:ext cx="1046836" cy="830997"/>
          </a:xfrm>
          <a:prstGeom prst="rect">
            <a:avLst/>
          </a:prstGeom>
          <a:noFill/>
        </p:spPr>
        <p:txBody>
          <a:bodyPr wrap="square">
            <a:spAutoFit/>
          </a:bodyPr>
          <a:lstStyle/>
          <a:p>
            <a:pPr algn="ctr"/>
            <a:r>
              <a:rPr lang="en-US" sz="4800" dirty="0"/>
              <a:t>ID</a:t>
            </a:r>
            <a:endParaRPr lang="fr-FR" sz="4800" dirty="0"/>
          </a:p>
        </p:txBody>
      </p:sp>
      <p:pic>
        <p:nvPicPr>
          <p:cNvPr id="8" name="Picture 4" descr="Microsoft Excel — Wikipédia">
            <a:extLst>
              <a:ext uri="{FF2B5EF4-FFF2-40B4-BE49-F238E27FC236}">
                <a16:creationId xmlns:a16="http://schemas.microsoft.com/office/drawing/2014/main" id="{472E0447-52B9-C185-4646-EB126B0D13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8291" y="3507707"/>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 name="Picture 4" descr="Microsoft Excel — Wikipédia">
            <a:extLst>
              <a:ext uri="{FF2B5EF4-FFF2-40B4-BE49-F238E27FC236}">
                <a16:creationId xmlns:a16="http://schemas.microsoft.com/office/drawing/2014/main" id="{25E746B1-165C-0064-528D-CBEFCCF42A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8857" y="1956700"/>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2" name="Picture 4" descr="Microsoft Excel — Wikipédia">
            <a:extLst>
              <a:ext uri="{FF2B5EF4-FFF2-40B4-BE49-F238E27FC236}">
                <a16:creationId xmlns:a16="http://schemas.microsoft.com/office/drawing/2014/main" id="{CE7B75CD-B6AE-FE17-706D-76E85ED7C6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8857" y="5096911"/>
            <a:ext cx="791174" cy="8162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4" name="ZoneTexte 13">
            <a:extLst>
              <a:ext uri="{FF2B5EF4-FFF2-40B4-BE49-F238E27FC236}">
                <a16:creationId xmlns:a16="http://schemas.microsoft.com/office/drawing/2014/main" id="{D3EB20A5-3FBF-AF03-3B8A-E34B24949570}"/>
              </a:ext>
            </a:extLst>
          </p:cNvPr>
          <p:cNvSpPr txBox="1"/>
          <p:nvPr/>
        </p:nvSpPr>
        <p:spPr>
          <a:xfrm>
            <a:off x="5451311" y="2974753"/>
            <a:ext cx="1646266" cy="369332"/>
          </a:xfrm>
          <a:prstGeom prst="rect">
            <a:avLst/>
          </a:prstGeom>
          <a:noFill/>
        </p:spPr>
        <p:txBody>
          <a:bodyPr wrap="square">
            <a:spAutoFit/>
          </a:bodyPr>
          <a:lstStyle/>
          <a:p>
            <a:pPr algn="ctr"/>
            <a:r>
              <a:rPr lang="fr-FR" dirty="0"/>
              <a:t>extrait_eval.csv</a:t>
            </a:r>
          </a:p>
        </p:txBody>
      </p:sp>
      <p:sp>
        <p:nvSpPr>
          <p:cNvPr id="15" name="ZoneTexte 14">
            <a:extLst>
              <a:ext uri="{FF2B5EF4-FFF2-40B4-BE49-F238E27FC236}">
                <a16:creationId xmlns:a16="http://schemas.microsoft.com/office/drawing/2014/main" id="{14FFA27A-E068-8EDF-F942-C6DB5EB6B501}"/>
              </a:ext>
            </a:extLst>
          </p:cNvPr>
          <p:cNvSpPr txBox="1"/>
          <p:nvPr/>
        </p:nvSpPr>
        <p:spPr>
          <a:xfrm>
            <a:off x="5440531" y="4525760"/>
            <a:ext cx="1646266" cy="369332"/>
          </a:xfrm>
          <a:prstGeom prst="rect">
            <a:avLst/>
          </a:prstGeom>
          <a:noFill/>
        </p:spPr>
        <p:txBody>
          <a:bodyPr wrap="square">
            <a:spAutoFit/>
          </a:bodyPr>
          <a:lstStyle/>
          <a:p>
            <a:pPr algn="ctr"/>
            <a:r>
              <a:rPr lang="fr-FR" dirty="0"/>
              <a:t>extrait_sirh.csv</a:t>
            </a:r>
          </a:p>
        </p:txBody>
      </p:sp>
      <p:sp>
        <p:nvSpPr>
          <p:cNvPr id="16" name="ZoneTexte 15">
            <a:extLst>
              <a:ext uri="{FF2B5EF4-FFF2-40B4-BE49-F238E27FC236}">
                <a16:creationId xmlns:a16="http://schemas.microsoft.com/office/drawing/2014/main" id="{99950FDA-57FE-35B9-FD03-EDA40A8D76BB}"/>
              </a:ext>
            </a:extLst>
          </p:cNvPr>
          <p:cNvSpPr txBox="1"/>
          <p:nvPr/>
        </p:nvSpPr>
        <p:spPr>
          <a:xfrm>
            <a:off x="5219942" y="6111615"/>
            <a:ext cx="2109005" cy="369332"/>
          </a:xfrm>
          <a:prstGeom prst="rect">
            <a:avLst/>
          </a:prstGeom>
          <a:noFill/>
        </p:spPr>
        <p:txBody>
          <a:bodyPr wrap="square">
            <a:spAutoFit/>
          </a:bodyPr>
          <a:lstStyle/>
          <a:p>
            <a:pPr algn="ctr"/>
            <a:r>
              <a:rPr lang="fr-FR" dirty="0"/>
              <a:t>extrait_sondage.csv</a:t>
            </a:r>
          </a:p>
        </p:txBody>
      </p:sp>
      <p:sp>
        <p:nvSpPr>
          <p:cNvPr id="10" name="Accolade fermante 9">
            <a:extLst>
              <a:ext uri="{FF2B5EF4-FFF2-40B4-BE49-F238E27FC236}">
                <a16:creationId xmlns:a16="http://schemas.microsoft.com/office/drawing/2014/main" id="{BE0B4983-937F-2819-03F7-4CFCDDC260E2}"/>
              </a:ext>
            </a:extLst>
          </p:cNvPr>
          <p:cNvSpPr/>
          <p:nvPr/>
        </p:nvSpPr>
        <p:spPr>
          <a:xfrm>
            <a:off x="2472171" y="3660204"/>
            <a:ext cx="486136" cy="1117238"/>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dirty="0"/>
          </a:p>
        </p:txBody>
      </p:sp>
      <p:sp>
        <p:nvSpPr>
          <p:cNvPr id="13" name="Accolade fermante 12">
            <a:extLst>
              <a:ext uri="{FF2B5EF4-FFF2-40B4-BE49-F238E27FC236}">
                <a16:creationId xmlns:a16="http://schemas.microsoft.com/office/drawing/2014/main" id="{AEB94E49-D196-2A08-139B-87249C788876}"/>
              </a:ext>
            </a:extLst>
          </p:cNvPr>
          <p:cNvSpPr/>
          <p:nvPr/>
        </p:nvSpPr>
        <p:spPr>
          <a:xfrm>
            <a:off x="7241200" y="1990426"/>
            <a:ext cx="985542" cy="4524247"/>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pic>
        <p:nvPicPr>
          <p:cNvPr id="2050" name="Picture 2" descr="Update Details - Python: Styled DataFrame Viewer 0.12.0 | JetBrains  Marketplace">
            <a:extLst>
              <a:ext uri="{FF2B5EF4-FFF2-40B4-BE49-F238E27FC236}">
                <a16:creationId xmlns:a16="http://schemas.microsoft.com/office/drawing/2014/main" id="{7BB78091-4BC7-B781-64F3-D97DDD9DF9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78009" y="2903178"/>
            <a:ext cx="2698741" cy="2698741"/>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95769421-52AF-D437-7A9B-938BC8BCB7FE}"/>
              </a:ext>
            </a:extLst>
          </p:cNvPr>
          <p:cNvSpPr txBox="1"/>
          <p:nvPr/>
        </p:nvSpPr>
        <p:spPr>
          <a:xfrm rot="16200000">
            <a:off x="9331584" y="3855009"/>
            <a:ext cx="4051546" cy="830997"/>
          </a:xfrm>
          <a:prstGeom prst="rect">
            <a:avLst/>
          </a:prstGeom>
          <a:noFill/>
        </p:spPr>
        <p:txBody>
          <a:bodyPr wrap="square">
            <a:spAutoFit/>
          </a:bodyPr>
          <a:lstStyle/>
          <a:p>
            <a:pPr algn="ctr"/>
            <a:r>
              <a:rPr lang="en-US" sz="4800" dirty="0" err="1">
                <a:solidFill>
                  <a:schemeClr val="tx1">
                    <a:lumMod val="65000"/>
                    <a:lumOff val="35000"/>
                  </a:schemeClr>
                </a:solidFill>
                <a:latin typeface="Segoe UI Black" panose="020B0A02040204020203" pitchFamily="34" charset="0"/>
                <a:ea typeface="Segoe UI Black" panose="020B0A02040204020203" pitchFamily="34" charset="0"/>
              </a:rPr>
              <a:t>DataFrame</a:t>
            </a:r>
            <a:endParaRPr lang="fr-FR" sz="4800" dirty="0">
              <a:solidFill>
                <a:schemeClr val="tx1">
                  <a:lumMod val="65000"/>
                  <a:lumOff val="35000"/>
                </a:schemeClr>
              </a:solidFill>
              <a:latin typeface="Segoe UI Black" panose="020B0A02040204020203" pitchFamily="34" charset="0"/>
              <a:ea typeface="Segoe UI Black" panose="020B0A02040204020203" pitchFamily="34" charset="0"/>
            </a:endParaRPr>
          </a:p>
        </p:txBody>
      </p:sp>
    </p:spTree>
    <p:extLst>
      <p:ext uri="{BB962C8B-B14F-4D97-AF65-F5344CB8AC3E}">
        <p14:creationId xmlns:p14="http://schemas.microsoft.com/office/powerpoint/2010/main" val="606584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98046-2BF9-5B7C-A704-4B1650CF47B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0B02E4-8809-9679-899B-CFFDD72BB2B2}"/>
              </a:ext>
            </a:extLst>
          </p:cNvPr>
          <p:cNvSpPr>
            <a:spLocks noGrp="1"/>
          </p:cNvSpPr>
          <p:nvPr>
            <p:ph type="title"/>
          </p:nvPr>
        </p:nvSpPr>
        <p:spPr/>
        <p:txBody>
          <a:bodyPr/>
          <a:lstStyle/>
          <a:p>
            <a:pPr lvl="0" algn="ctr" defTabSz="1600200">
              <a:lnSpc>
                <a:spcPct val="90000"/>
              </a:lnSpc>
              <a:spcAft>
                <a:spcPct val="35000"/>
              </a:spcAft>
            </a:pPr>
            <a:r>
              <a:rPr lang="fr-FR" dirty="0"/>
              <a:t>Vérification des erreurs</a:t>
            </a:r>
          </a:p>
        </p:txBody>
      </p:sp>
      <p:sp>
        <p:nvSpPr>
          <p:cNvPr id="9" name="Rectangle 8">
            <a:extLst>
              <a:ext uri="{FF2B5EF4-FFF2-40B4-BE49-F238E27FC236}">
                <a16:creationId xmlns:a16="http://schemas.microsoft.com/office/drawing/2014/main" id="{67FF2D77-324E-B715-B171-719BB1129C12}"/>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5" name="ZoneTexte 4">
            <a:extLst>
              <a:ext uri="{FF2B5EF4-FFF2-40B4-BE49-F238E27FC236}">
                <a16:creationId xmlns:a16="http://schemas.microsoft.com/office/drawing/2014/main" id="{FC6EEE0F-3724-2B60-9E4D-7BA17A12791C}"/>
              </a:ext>
            </a:extLst>
          </p:cNvPr>
          <p:cNvSpPr txBox="1"/>
          <p:nvPr/>
        </p:nvSpPr>
        <p:spPr>
          <a:xfrm>
            <a:off x="2610538" y="2821762"/>
            <a:ext cx="7760378" cy="2246769"/>
          </a:xfrm>
          <a:prstGeom prst="rect">
            <a:avLst/>
          </a:prstGeom>
          <a:noFill/>
        </p:spPr>
        <p:txBody>
          <a:bodyPr wrap="square">
            <a:spAutoFit/>
          </a:bodyPr>
          <a:lstStyle/>
          <a:p>
            <a:pPr marL="285750" indent="-285750">
              <a:buFont typeface="Arial" panose="020B0604020202020204" pitchFamily="34" charset="0"/>
              <a:buChar char="•"/>
            </a:pPr>
            <a:r>
              <a:rPr lang="fr-FR" sz="2800" dirty="0">
                <a:latin typeface="Consolas" panose="020B0609020204030204" pitchFamily="49" charset="0"/>
              </a:rPr>
              <a:t>Format invalide</a:t>
            </a:r>
          </a:p>
          <a:p>
            <a:pPr marL="285750" indent="-285750">
              <a:buFont typeface="Arial" panose="020B0604020202020204" pitchFamily="34" charset="0"/>
              <a:buChar char="•"/>
            </a:pPr>
            <a:r>
              <a:rPr lang="fr-FR" sz="2800" dirty="0">
                <a:latin typeface="Consolas" panose="020B0609020204030204" pitchFamily="49" charset="0"/>
              </a:rPr>
              <a:t>Valeurs aberrantes</a:t>
            </a:r>
          </a:p>
          <a:p>
            <a:pPr marL="285750" indent="-285750">
              <a:buFont typeface="Arial" panose="020B0604020202020204" pitchFamily="34" charset="0"/>
              <a:buChar char="•"/>
            </a:pPr>
            <a:r>
              <a:rPr lang="fr-FR" sz="2800" dirty="0">
                <a:latin typeface="Consolas" panose="020B0609020204030204" pitchFamily="49" charset="0"/>
              </a:rPr>
              <a:t>Valeurs vides ou manquantes</a:t>
            </a:r>
          </a:p>
          <a:p>
            <a:pPr marL="285750" indent="-285750">
              <a:buFont typeface="Arial" panose="020B0604020202020204" pitchFamily="34" charset="0"/>
              <a:buChar char="•"/>
            </a:pPr>
            <a:r>
              <a:rPr lang="fr-FR" sz="2800" dirty="0">
                <a:latin typeface="Consolas" panose="020B0609020204030204" pitchFamily="49" charset="0"/>
              </a:rPr>
              <a:t>Doublons dans les Id</a:t>
            </a:r>
          </a:p>
          <a:p>
            <a:pPr marL="285750" indent="-285750">
              <a:buFont typeface="Arial" panose="020B0604020202020204" pitchFamily="34" charset="0"/>
              <a:buChar char="•"/>
            </a:pPr>
            <a:r>
              <a:rPr lang="fr-FR" sz="2800" dirty="0">
                <a:latin typeface="Consolas" panose="020B0609020204030204" pitchFamily="49" charset="0"/>
              </a:rPr>
              <a:t>Incohérences</a:t>
            </a:r>
            <a:endParaRPr lang="fr-FR" sz="2800" dirty="0"/>
          </a:p>
        </p:txBody>
      </p:sp>
    </p:spTree>
    <p:extLst>
      <p:ext uri="{BB962C8B-B14F-4D97-AF65-F5344CB8AC3E}">
        <p14:creationId xmlns:p14="http://schemas.microsoft.com/office/powerpoint/2010/main" val="554302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C0450-3551-48DC-6735-C73E4BC7C13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B772FFA-9D94-885B-5A7E-6820016E5D5E}"/>
              </a:ext>
            </a:extLst>
          </p:cNvPr>
          <p:cNvSpPr>
            <a:spLocks noGrp="1"/>
          </p:cNvSpPr>
          <p:nvPr>
            <p:ph type="title"/>
          </p:nvPr>
        </p:nvSpPr>
        <p:spPr/>
        <p:txBody>
          <a:bodyPr/>
          <a:lstStyle/>
          <a:p>
            <a:pPr lvl="0" algn="ctr" defTabSz="1600200">
              <a:lnSpc>
                <a:spcPct val="90000"/>
              </a:lnSpc>
              <a:spcAft>
                <a:spcPct val="35000"/>
              </a:spcAft>
            </a:pPr>
            <a:r>
              <a:rPr lang="fr-FR" dirty="0"/>
              <a:t>Colonnes inutiles</a:t>
            </a:r>
          </a:p>
        </p:txBody>
      </p:sp>
      <p:sp>
        <p:nvSpPr>
          <p:cNvPr id="9" name="Rectangle 8">
            <a:extLst>
              <a:ext uri="{FF2B5EF4-FFF2-40B4-BE49-F238E27FC236}">
                <a16:creationId xmlns:a16="http://schemas.microsoft.com/office/drawing/2014/main" id="{4AA98176-BC8E-61C8-79C8-3A0E504CFCB1}"/>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4" name="ZoneTexte 3">
            <a:extLst>
              <a:ext uri="{FF2B5EF4-FFF2-40B4-BE49-F238E27FC236}">
                <a16:creationId xmlns:a16="http://schemas.microsoft.com/office/drawing/2014/main" id="{5FD5A1CC-84CF-0682-D7C6-5370FFC9E55F}"/>
              </a:ext>
            </a:extLst>
          </p:cNvPr>
          <p:cNvSpPr txBox="1"/>
          <p:nvPr/>
        </p:nvSpPr>
        <p:spPr>
          <a:xfrm>
            <a:off x="782676" y="3109294"/>
            <a:ext cx="5700108" cy="2308324"/>
          </a:xfrm>
          <a:prstGeom prst="rect">
            <a:avLst/>
          </a:prstGeom>
          <a:noFill/>
        </p:spPr>
        <p:txBody>
          <a:bodyPr wrap="square">
            <a:spAutoFit/>
          </a:bodyPr>
          <a:lstStyle>
            <a:defPPr rtl="0">
              <a:defRPr lang="fr-FR"/>
            </a:defPPr>
            <a:lvl1pPr>
              <a:defRPr>
                <a:solidFill>
                  <a:schemeClr val="tx2"/>
                </a:solidFill>
                <a:latin typeface="Verdana" panose="020B0604030504040204" pitchFamily="34" charset="0"/>
                <a:ea typeface="Verdana" panose="020B0604030504040204" pitchFamily="34" charset="0"/>
              </a:defRPr>
            </a:lvl1pPr>
          </a:lstStyle>
          <a:p>
            <a:pPr algn="r"/>
            <a:r>
              <a:rPr lang="en-US" dirty="0" err="1"/>
              <a:t>eval_number</a:t>
            </a:r>
            <a:br>
              <a:rPr lang="en-US" dirty="0"/>
            </a:br>
            <a:r>
              <a:rPr lang="en-US" dirty="0" err="1"/>
              <a:t>id_employee</a:t>
            </a:r>
            <a:br>
              <a:rPr lang="en-US" dirty="0"/>
            </a:br>
            <a:r>
              <a:rPr lang="en-US" dirty="0" err="1"/>
              <a:t>code_sondage</a:t>
            </a:r>
            <a:endParaRPr lang="fr-FR" dirty="0"/>
          </a:p>
          <a:p>
            <a:pPr algn="r"/>
            <a:endParaRPr lang="fr-FR" dirty="0"/>
          </a:p>
          <a:p>
            <a:pPr algn="r"/>
            <a:endParaRPr lang="fr-FR" dirty="0"/>
          </a:p>
          <a:p>
            <a:pPr algn="r"/>
            <a:r>
              <a:rPr lang="fr-FR" dirty="0" err="1"/>
              <a:t>nombre_heures_travailless</a:t>
            </a:r>
            <a:r>
              <a:rPr lang="fr-FR" dirty="0"/>
              <a:t> = 80</a:t>
            </a:r>
            <a:br>
              <a:rPr lang="fr-FR" dirty="0"/>
            </a:br>
            <a:r>
              <a:rPr lang="fr-FR" dirty="0" err="1"/>
              <a:t>nombre_employee_sous_responsabilite</a:t>
            </a:r>
            <a:r>
              <a:rPr lang="fr-FR" dirty="0"/>
              <a:t> = 1</a:t>
            </a:r>
          </a:p>
          <a:p>
            <a:pPr algn="r"/>
            <a:r>
              <a:rPr lang="fr-FR" dirty="0" err="1"/>
              <a:t>ayant_enfants</a:t>
            </a:r>
            <a:r>
              <a:rPr lang="fr-FR" dirty="0"/>
              <a:t> = Y</a:t>
            </a:r>
          </a:p>
        </p:txBody>
      </p:sp>
      <p:sp>
        <p:nvSpPr>
          <p:cNvPr id="5" name="Accolade fermante 4">
            <a:extLst>
              <a:ext uri="{FF2B5EF4-FFF2-40B4-BE49-F238E27FC236}">
                <a16:creationId xmlns:a16="http://schemas.microsoft.com/office/drawing/2014/main" id="{000FC64B-A81C-4EA5-8530-3A5CAFD4D9E8}"/>
              </a:ext>
            </a:extLst>
          </p:cNvPr>
          <p:cNvSpPr/>
          <p:nvPr/>
        </p:nvSpPr>
        <p:spPr>
          <a:xfrm>
            <a:off x="6631325" y="2789500"/>
            <a:ext cx="486136" cy="2947914"/>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pic>
        <p:nvPicPr>
          <p:cNvPr id="1026" name="Picture 2" descr="Croix Rouge Stock Illustrations, Vecteurs, &amp; Clipart – (106,646 Stock  Illustrations)">
            <a:extLst>
              <a:ext uri="{FF2B5EF4-FFF2-40B4-BE49-F238E27FC236}">
                <a16:creationId xmlns:a16="http://schemas.microsoft.com/office/drawing/2014/main" id="{562EC9F6-5BDE-823D-343B-C3679BF5A7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10348" y="3382331"/>
            <a:ext cx="1762251" cy="17622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86567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833C6-50D7-F508-BAA5-A6CE1FEDE19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2124DFC-A1C8-0B18-014B-CDD3CE045AE0}"/>
              </a:ext>
            </a:extLst>
          </p:cNvPr>
          <p:cNvSpPr>
            <a:spLocks noGrp="1"/>
          </p:cNvSpPr>
          <p:nvPr>
            <p:ph type="title"/>
          </p:nvPr>
        </p:nvSpPr>
        <p:spPr/>
        <p:txBody>
          <a:bodyPr/>
          <a:lstStyle/>
          <a:p>
            <a:pPr lvl="0" algn="ctr" defTabSz="1600200">
              <a:lnSpc>
                <a:spcPct val="90000"/>
              </a:lnSpc>
              <a:spcAft>
                <a:spcPct val="35000"/>
              </a:spcAft>
            </a:pPr>
            <a:r>
              <a:rPr lang="fr-FR" dirty="0"/>
              <a:t>Conversion des colonnes Non-numériques</a:t>
            </a:r>
          </a:p>
        </p:txBody>
      </p:sp>
      <p:sp>
        <p:nvSpPr>
          <p:cNvPr id="10" name="ZoneTexte 9">
            <a:extLst>
              <a:ext uri="{FF2B5EF4-FFF2-40B4-BE49-F238E27FC236}">
                <a16:creationId xmlns:a16="http://schemas.microsoft.com/office/drawing/2014/main" id="{B29E2C47-194B-8338-3EEB-E39523CCF0E7}"/>
              </a:ext>
            </a:extLst>
          </p:cNvPr>
          <p:cNvSpPr txBox="1"/>
          <p:nvPr/>
        </p:nvSpPr>
        <p:spPr>
          <a:xfrm>
            <a:off x="3576577" y="5292524"/>
            <a:ext cx="5038846" cy="11661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Conversion des classes en colonnes numériques</a:t>
            </a:r>
          </a:p>
        </p:txBody>
      </p:sp>
      <p:sp>
        <p:nvSpPr>
          <p:cNvPr id="5" name="ZoneTexte 4">
            <a:extLst>
              <a:ext uri="{FF2B5EF4-FFF2-40B4-BE49-F238E27FC236}">
                <a16:creationId xmlns:a16="http://schemas.microsoft.com/office/drawing/2014/main" id="{88D596B1-8347-FE17-116F-EA19276E991D}"/>
              </a:ext>
            </a:extLst>
          </p:cNvPr>
          <p:cNvSpPr txBox="1"/>
          <p:nvPr/>
        </p:nvSpPr>
        <p:spPr>
          <a:xfrm>
            <a:off x="390645" y="2486977"/>
            <a:ext cx="2549324" cy="369332"/>
          </a:xfrm>
          <a:prstGeom prst="rect">
            <a:avLst/>
          </a:prstGeom>
          <a:noFill/>
        </p:spPr>
        <p:txBody>
          <a:bodyPr wrap="square">
            <a:spAutoFit/>
          </a:bodyPr>
          <a:lstStyle>
            <a:defPPr rtl="0">
              <a:defRPr lang="fr-FR"/>
            </a:defPPr>
            <a:lvl1pPr>
              <a:defRPr b="1"/>
            </a:lvl1pPr>
          </a:lstStyle>
          <a:p>
            <a:pPr algn="ctr"/>
            <a:r>
              <a:rPr lang="fr-FR" dirty="0"/>
              <a:t>Qualitative ordinal</a:t>
            </a:r>
          </a:p>
        </p:txBody>
      </p:sp>
      <p:sp>
        <p:nvSpPr>
          <p:cNvPr id="7" name="ZoneTexte 6">
            <a:extLst>
              <a:ext uri="{FF2B5EF4-FFF2-40B4-BE49-F238E27FC236}">
                <a16:creationId xmlns:a16="http://schemas.microsoft.com/office/drawing/2014/main" id="{CA7D7C41-7B70-9C68-85F1-D1076EAB1943}"/>
              </a:ext>
            </a:extLst>
          </p:cNvPr>
          <p:cNvSpPr txBox="1"/>
          <p:nvPr/>
        </p:nvSpPr>
        <p:spPr>
          <a:xfrm>
            <a:off x="3347495" y="2473824"/>
            <a:ext cx="2549324" cy="369332"/>
          </a:xfrm>
          <a:prstGeom prst="rect">
            <a:avLst/>
          </a:prstGeom>
          <a:noFill/>
        </p:spPr>
        <p:txBody>
          <a:bodyPr wrap="square">
            <a:spAutoFit/>
          </a:bodyPr>
          <a:lstStyle/>
          <a:p>
            <a:pPr algn="ctr"/>
            <a:r>
              <a:rPr lang="fr-FR" b="1" dirty="0"/>
              <a:t>Qualitative binaire</a:t>
            </a:r>
            <a:endParaRPr lang="fr-FR" dirty="0"/>
          </a:p>
        </p:txBody>
      </p:sp>
      <p:sp>
        <p:nvSpPr>
          <p:cNvPr id="8" name="ZoneTexte 7">
            <a:extLst>
              <a:ext uri="{FF2B5EF4-FFF2-40B4-BE49-F238E27FC236}">
                <a16:creationId xmlns:a16="http://schemas.microsoft.com/office/drawing/2014/main" id="{640FB24C-A5E4-48F0-09BD-099DC2470CED}"/>
              </a:ext>
            </a:extLst>
          </p:cNvPr>
          <p:cNvSpPr txBox="1"/>
          <p:nvPr/>
        </p:nvSpPr>
        <p:spPr>
          <a:xfrm>
            <a:off x="6295180" y="2473823"/>
            <a:ext cx="2549324" cy="369332"/>
          </a:xfrm>
          <a:prstGeom prst="rect">
            <a:avLst/>
          </a:prstGeom>
          <a:noFill/>
        </p:spPr>
        <p:txBody>
          <a:bodyPr wrap="square">
            <a:spAutoFit/>
          </a:bodyPr>
          <a:lstStyle/>
          <a:p>
            <a:pPr algn="ctr"/>
            <a:r>
              <a:rPr lang="fr-FR" b="1" dirty="0"/>
              <a:t>Qualitative nominale</a:t>
            </a:r>
            <a:endParaRPr lang="fr-FR" dirty="0"/>
          </a:p>
        </p:txBody>
      </p:sp>
      <p:sp>
        <p:nvSpPr>
          <p:cNvPr id="12" name="ZoneTexte 11">
            <a:extLst>
              <a:ext uri="{FF2B5EF4-FFF2-40B4-BE49-F238E27FC236}">
                <a16:creationId xmlns:a16="http://schemas.microsoft.com/office/drawing/2014/main" id="{95E7C4AB-14CD-61EC-FACF-96DD8DDD96FC}"/>
              </a:ext>
            </a:extLst>
          </p:cNvPr>
          <p:cNvSpPr txBox="1"/>
          <p:nvPr/>
        </p:nvSpPr>
        <p:spPr>
          <a:xfrm>
            <a:off x="442295" y="3188363"/>
            <a:ext cx="2497674" cy="2308324"/>
          </a:xfrm>
          <a:prstGeom prst="rect">
            <a:avLst/>
          </a:prstGeom>
          <a:noFill/>
        </p:spPr>
        <p:txBody>
          <a:bodyPr wrap="square">
            <a:spAutoFit/>
          </a:bodyPr>
          <a:lstStyle>
            <a:defPPr rtl="0">
              <a:defRPr lang="fr-FR"/>
            </a:defPPr>
            <a:lvl1pPr algn="ctr">
              <a:defRPr>
                <a:solidFill>
                  <a:schemeClr val="tx2"/>
                </a:solidFill>
                <a:latin typeface="Verdana" panose="020B0604030504040204" pitchFamily="34" charset="0"/>
                <a:ea typeface="Verdana" panose="020B0604030504040204" pitchFamily="34" charset="0"/>
              </a:defRPr>
            </a:lvl1pPr>
          </a:lstStyle>
          <a:p>
            <a:r>
              <a:rPr lang="fr-FR" dirty="0"/>
              <a:t>Fréquence déplacement</a:t>
            </a:r>
          </a:p>
          <a:p>
            <a:endParaRPr lang="en-US" dirty="0"/>
          </a:p>
          <a:p>
            <a:r>
              <a:rPr lang="fr-FR" dirty="0">
                <a:solidFill>
                  <a:schemeClr val="accent1">
                    <a:lumMod val="60000"/>
                    <a:lumOff val="40000"/>
                  </a:schemeClr>
                </a:solidFill>
              </a:rPr>
              <a:t>Aucun</a:t>
            </a:r>
            <a:endParaRPr lang="en-US" dirty="0">
              <a:solidFill>
                <a:schemeClr val="accent1">
                  <a:lumMod val="60000"/>
                  <a:lumOff val="40000"/>
                </a:schemeClr>
              </a:solidFill>
            </a:endParaRPr>
          </a:p>
          <a:p>
            <a:r>
              <a:rPr lang="en-US" dirty="0">
                <a:solidFill>
                  <a:schemeClr val="accent1">
                    <a:lumMod val="60000"/>
                    <a:lumOff val="40000"/>
                  </a:schemeClr>
                </a:solidFill>
              </a:rPr>
              <a:t>&lt;</a:t>
            </a:r>
          </a:p>
          <a:p>
            <a:r>
              <a:rPr lang="fr-FR" dirty="0">
                <a:solidFill>
                  <a:schemeClr val="accent1">
                    <a:lumMod val="60000"/>
                    <a:lumOff val="40000"/>
                  </a:schemeClr>
                </a:solidFill>
              </a:rPr>
              <a:t>Occasionnel</a:t>
            </a:r>
            <a:endParaRPr lang="en-US" dirty="0">
              <a:solidFill>
                <a:schemeClr val="accent1">
                  <a:lumMod val="60000"/>
                  <a:lumOff val="40000"/>
                </a:schemeClr>
              </a:solidFill>
            </a:endParaRPr>
          </a:p>
          <a:p>
            <a:r>
              <a:rPr lang="en-US" dirty="0">
                <a:solidFill>
                  <a:schemeClr val="accent1">
                    <a:lumMod val="60000"/>
                    <a:lumOff val="40000"/>
                  </a:schemeClr>
                </a:solidFill>
              </a:rPr>
              <a:t>&lt;</a:t>
            </a:r>
          </a:p>
          <a:p>
            <a:r>
              <a:rPr lang="fr-FR" dirty="0">
                <a:solidFill>
                  <a:schemeClr val="accent1">
                    <a:lumMod val="60000"/>
                    <a:lumOff val="40000"/>
                  </a:schemeClr>
                </a:solidFill>
              </a:rPr>
              <a:t>Fréquent</a:t>
            </a:r>
          </a:p>
        </p:txBody>
      </p:sp>
      <p:sp>
        <p:nvSpPr>
          <p:cNvPr id="14" name="ZoneTexte 13">
            <a:extLst>
              <a:ext uri="{FF2B5EF4-FFF2-40B4-BE49-F238E27FC236}">
                <a16:creationId xmlns:a16="http://schemas.microsoft.com/office/drawing/2014/main" id="{C0097B7E-23E6-3983-6650-1DD55BF325C2}"/>
              </a:ext>
            </a:extLst>
          </p:cNvPr>
          <p:cNvSpPr txBox="1"/>
          <p:nvPr/>
        </p:nvSpPr>
        <p:spPr>
          <a:xfrm>
            <a:off x="3373320" y="3175210"/>
            <a:ext cx="2497674" cy="1200329"/>
          </a:xfrm>
          <a:prstGeom prst="rect">
            <a:avLst/>
          </a:prstGeom>
          <a:noFill/>
        </p:spPr>
        <p:txBody>
          <a:bodyPr wrap="square">
            <a:spAutoFit/>
          </a:bodyPr>
          <a:lstStyle/>
          <a:p>
            <a:pPr algn="ctr"/>
            <a:r>
              <a:rPr lang="en-US" dirty="0" err="1">
                <a:solidFill>
                  <a:schemeClr val="tx2"/>
                </a:solidFill>
                <a:latin typeface="Verdana" panose="020B0604030504040204" pitchFamily="34" charset="0"/>
                <a:ea typeface="Verdana" panose="020B0604030504040204" pitchFamily="34" charset="0"/>
              </a:rPr>
              <a:t>Quitté</a:t>
            </a:r>
            <a:r>
              <a:rPr lang="en-US" dirty="0">
                <a:solidFill>
                  <a:schemeClr val="tx2"/>
                </a:solidFill>
                <a:latin typeface="Verdana" panose="020B0604030504040204" pitchFamily="34" charset="0"/>
                <a:ea typeface="Verdana" panose="020B0604030504040204" pitchFamily="34" charset="0"/>
              </a:rPr>
              <a:t> </a:t>
            </a:r>
            <a:r>
              <a:rPr lang="en-US" dirty="0" err="1">
                <a:solidFill>
                  <a:schemeClr val="tx2"/>
                </a:solidFill>
                <a:latin typeface="Verdana" panose="020B0604030504040204" pitchFamily="34" charset="0"/>
                <a:ea typeface="Verdana" panose="020B0604030504040204" pitchFamily="34" charset="0"/>
              </a:rPr>
              <a:t>l’entreprise</a:t>
            </a:r>
            <a:r>
              <a:rPr lang="en-US" dirty="0">
                <a:solidFill>
                  <a:schemeClr val="tx2"/>
                </a:solidFill>
                <a:latin typeface="Verdana" panose="020B0604030504040204" pitchFamily="34" charset="0"/>
                <a:ea typeface="Verdana" panose="020B0604030504040204" pitchFamily="34" charset="0"/>
              </a:rPr>
              <a:t> ?</a:t>
            </a:r>
          </a:p>
          <a:p>
            <a:pPr algn="ctr"/>
            <a:endParaRPr lang="en-US" dirty="0">
              <a:solidFill>
                <a:schemeClr val="tx2"/>
              </a:solidFill>
              <a:latin typeface="Verdana" panose="020B0604030504040204" pitchFamily="34" charset="0"/>
              <a:ea typeface="Verdana" panose="020B0604030504040204" pitchFamily="34" charset="0"/>
            </a:endParaRPr>
          </a:p>
          <a:p>
            <a:pPr algn="ctr"/>
            <a:r>
              <a:rPr lang="fr-FR" dirty="0">
                <a:solidFill>
                  <a:schemeClr val="accent1">
                    <a:lumMod val="60000"/>
                    <a:lumOff val="40000"/>
                  </a:schemeClr>
                </a:solidFill>
              </a:rPr>
              <a:t>Oui / Non</a:t>
            </a:r>
          </a:p>
          <a:p>
            <a:pPr algn="ctr"/>
            <a:endParaRPr lang="fr-FR" dirty="0">
              <a:solidFill>
                <a:schemeClr val="tx2"/>
              </a:solidFill>
              <a:latin typeface="Verdana" panose="020B0604030504040204" pitchFamily="34" charset="0"/>
              <a:ea typeface="Verdana" panose="020B0604030504040204" pitchFamily="34" charset="0"/>
            </a:endParaRPr>
          </a:p>
        </p:txBody>
      </p:sp>
      <p:sp>
        <p:nvSpPr>
          <p:cNvPr id="15" name="ZoneTexte 14">
            <a:extLst>
              <a:ext uri="{FF2B5EF4-FFF2-40B4-BE49-F238E27FC236}">
                <a16:creationId xmlns:a16="http://schemas.microsoft.com/office/drawing/2014/main" id="{16CB81AF-8951-C670-D196-E72F4CEBDFAC}"/>
              </a:ext>
            </a:extLst>
          </p:cNvPr>
          <p:cNvSpPr txBox="1"/>
          <p:nvPr/>
        </p:nvSpPr>
        <p:spPr>
          <a:xfrm>
            <a:off x="6321005" y="3120155"/>
            <a:ext cx="2497674" cy="1200329"/>
          </a:xfrm>
          <a:prstGeom prst="rect">
            <a:avLst/>
          </a:prstGeom>
          <a:noFill/>
        </p:spPr>
        <p:txBody>
          <a:bodyPr wrap="square">
            <a:spAutoFit/>
          </a:bodyPr>
          <a:lstStyle/>
          <a:p>
            <a:pPr algn="ctr"/>
            <a:r>
              <a:rPr lang="en-US" dirty="0">
                <a:solidFill>
                  <a:schemeClr val="tx2"/>
                </a:solidFill>
                <a:latin typeface="Verdana" panose="020B0604030504040204" pitchFamily="34" charset="0"/>
                <a:ea typeface="Verdana" panose="020B0604030504040204" pitchFamily="34" charset="0"/>
              </a:rPr>
              <a:t>Poste</a:t>
            </a:r>
          </a:p>
          <a:p>
            <a:pPr algn="ctr"/>
            <a:endParaRPr lang="en-US" dirty="0">
              <a:solidFill>
                <a:schemeClr val="tx2"/>
              </a:solidFill>
              <a:latin typeface="Verdana" panose="020B0604030504040204" pitchFamily="34" charset="0"/>
              <a:ea typeface="Verdana" panose="020B0604030504040204" pitchFamily="34" charset="0"/>
            </a:endParaRPr>
          </a:p>
          <a:p>
            <a:pPr algn="ctr"/>
            <a:r>
              <a:rPr lang="en-US" dirty="0" err="1">
                <a:solidFill>
                  <a:schemeClr val="accent1">
                    <a:lumMod val="60000"/>
                    <a:lumOff val="40000"/>
                  </a:schemeClr>
                </a:solidFill>
                <a:latin typeface="Verdana" panose="020B0604030504040204" pitchFamily="34" charset="0"/>
                <a:ea typeface="Verdana" panose="020B0604030504040204" pitchFamily="34" charset="0"/>
              </a:rPr>
              <a:t>Poste_X</a:t>
            </a:r>
            <a:r>
              <a:rPr lang="en-US" dirty="0">
                <a:solidFill>
                  <a:schemeClr val="accent1">
                    <a:lumMod val="60000"/>
                    <a:lumOff val="40000"/>
                  </a:schemeClr>
                </a:solidFill>
                <a:latin typeface="Verdana" panose="020B0604030504040204" pitchFamily="34" charset="0"/>
                <a:ea typeface="Verdana" panose="020B0604030504040204" pitchFamily="34" charset="0"/>
              </a:rPr>
              <a:t>, </a:t>
            </a:r>
            <a:r>
              <a:rPr lang="en-US" dirty="0" err="1">
                <a:solidFill>
                  <a:schemeClr val="accent1">
                    <a:lumMod val="60000"/>
                    <a:lumOff val="40000"/>
                  </a:schemeClr>
                </a:solidFill>
                <a:latin typeface="Verdana" panose="020B0604030504040204" pitchFamily="34" charset="0"/>
                <a:ea typeface="Verdana" panose="020B0604030504040204" pitchFamily="34" charset="0"/>
              </a:rPr>
              <a:t>Poste_Y</a:t>
            </a:r>
            <a:r>
              <a:rPr lang="en-US" dirty="0">
                <a:solidFill>
                  <a:schemeClr val="accent1">
                    <a:lumMod val="60000"/>
                    <a:lumOff val="40000"/>
                  </a:schemeClr>
                </a:solidFill>
                <a:latin typeface="Verdana" panose="020B0604030504040204" pitchFamily="34" charset="0"/>
                <a:ea typeface="Verdana" panose="020B0604030504040204" pitchFamily="34" charset="0"/>
              </a:rPr>
              <a:t>, </a:t>
            </a:r>
            <a:r>
              <a:rPr lang="en-US" dirty="0" err="1">
                <a:solidFill>
                  <a:schemeClr val="accent1">
                    <a:lumMod val="60000"/>
                    <a:lumOff val="40000"/>
                  </a:schemeClr>
                </a:solidFill>
                <a:latin typeface="Verdana" panose="020B0604030504040204" pitchFamily="34" charset="0"/>
                <a:ea typeface="Verdana" panose="020B0604030504040204" pitchFamily="34" charset="0"/>
              </a:rPr>
              <a:t>Poste_Z</a:t>
            </a:r>
            <a:r>
              <a:rPr lang="en-US" dirty="0">
                <a:solidFill>
                  <a:schemeClr val="accent1">
                    <a:lumMod val="60000"/>
                    <a:lumOff val="40000"/>
                  </a:schemeClr>
                </a:solidFill>
                <a:latin typeface="Verdana" panose="020B0604030504040204" pitchFamily="34" charset="0"/>
                <a:ea typeface="Verdana" panose="020B0604030504040204" pitchFamily="34" charset="0"/>
              </a:rPr>
              <a:t>, …</a:t>
            </a:r>
            <a:endParaRPr lang="fr-FR" dirty="0">
              <a:solidFill>
                <a:schemeClr val="accent1">
                  <a:lumMod val="60000"/>
                  <a:lumOff val="40000"/>
                </a:schemeClr>
              </a:solidFill>
              <a:latin typeface="Verdana" panose="020B0604030504040204" pitchFamily="34" charset="0"/>
              <a:ea typeface="Verdana" panose="020B0604030504040204" pitchFamily="34" charset="0"/>
            </a:endParaRPr>
          </a:p>
        </p:txBody>
      </p:sp>
      <p:sp>
        <p:nvSpPr>
          <p:cNvPr id="17" name="ZoneTexte 16">
            <a:extLst>
              <a:ext uri="{FF2B5EF4-FFF2-40B4-BE49-F238E27FC236}">
                <a16:creationId xmlns:a16="http://schemas.microsoft.com/office/drawing/2014/main" id="{8804D32F-2E36-1E9C-8738-7FBF11671F10}"/>
              </a:ext>
            </a:extLst>
          </p:cNvPr>
          <p:cNvSpPr txBox="1"/>
          <p:nvPr/>
        </p:nvSpPr>
        <p:spPr>
          <a:xfrm>
            <a:off x="9252030" y="2473823"/>
            <a:ext cx="2549324" cy="646331"/>
          </a:xfrm>
          <a:prstGeom prst="rect">
            <a:avLst/>
          </a:prstGeom>
          <a:noFill/>
        </p:spPr>
        <p:txBody>
          <a:bodyPr wrap="square">
            <a:spAutoFit/>
          </a:bodyPr>
          <a:lstStyle/>
          <a:p>
            <a:pPr algn="ctr"/>
            <a:r>
              <a:rPr lang="fr-FR" b="1" dirty="0"/>
              <a:t>Quantitative discrète / continue</a:t>
            </a:r>
            <a:endParaRPr lang="fr-FR" dirty="0"/>
          </a:p>
        </p:txBody>
      </p:sp>
      <p:sp>
        <p:nvSpPr>
          <p:cNvPr id="18" name="ZoneTexte 17">
            <a:extLst>
              <a:ext uri="{FF2B5EF4-FFF2-40B4-BE49-F238E27FC236}">
                <a16:creationId xmlns:a16="http://schemas.microsoft.com/office/drawing/2014/main" id="{9449C0B1-D17E-E7EA-7C35-BB52E2B1B2DA}"/>
              </a:ext>
            </a:extLst>
          </p:cNvPr>
          <p:cNvSpPr txBox="1"/>
          <p:nvPr/>
        </p:nvSpPr>
        <p:spPr>
          <a:xfrm>
            <a:off x="9252031" y="3175209"/>
            <a:ext cx="2549324" cy="646331"/>
          </a:xfrm>
          <a:prstGeom prst="rect">
            <a:avLst/>
          </a:prstGeom>
          <a:noFill/>
        </p:spPr>
        <p:txBody>
          <a:bodyPr wrap="square">
            <a:spAutoFit/>
          </a:bodyPr>
          <a:lstStyle/>
          <a:p>
            <a:pPr algn="ctr"/>
            <a:r>
              <a:rPr lang="en-US" dirty="0">
                <a:solidFill>
                  <a:schemeClr val="tx2"/>
                </a:solidFill>
                <a:latin typeface="Verdana" panose="020B0604030504040204" pitchFamily="34" charset="0"/>
                <a:ea typeface="Verdana" panose="020B0604030504040204" pitchFamily="34" charset="0"/>
              </a:rPr>
              <a:t>% augmentation </a:t>
            </a:r>
            <a:r>
              <a:rPr lang="en-US" dirty="0" err="1">
                <a:solidFill>
                  <a:schemeClr val="tx2"/>
                </a:solidFill>
                <a:latin typeface="Verdana" panose="020B0604030504040204" pitchFamily="34" charset="0"/>
                <a:ea typeface="Verdana" panose="020B0604030504040204" pitchFamily="34" charset="0"/>
              </a:rPr>
              <a:t>salaire</a:t>
            </a:r>
            <a:endParaRPr lang="fr-FR" dirty="0">
              <a:solidFill>
                <a:schemeClr val="tx2"/>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3754640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7CDB8-06B4-26A6-9C29-55AFA9C3EB3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4B186BD-35A8-C0C0-14E7-916A3EEBF267}"/>
              </a:ext>
            </a:extLst>
          </p:cNvPr>
          <p:cNvSpPr>
            <a:spLocks noGrp="1"/>
          </p:cNvSpPr>
          <p:nvPr>
            <p:ph type="title"/>
          </p:nvPr>
        </p:nvSpPr>
        <p:spPr/>
        <p:txBody>
          <a:bodyPr/>
          <a:lstStyle/>
          <a:p>
            <a:pPr lvl="0" algn="ctr" defTabSz="1600200">
              <a:lnSpc>
                <a:spcPct val="90000"/>
              </a:lnSpc>
              <a:spcAft>
                <a:spcPct val="35000"/>
              </a:spcAft>
            </a:pPr>
            <a:r>
              <a:rPr lang="fr-FR" dirty="0" err="1"/>
              <a:t>DataFrame</a:t>
            </a:r>
            <a:r>
              <a:rPr lang="fr-FR" dirty="0"/>
              <a:t> Exploitable</a:t>
            </a:r>
          </a:p>
        </p:txBody>
      </p:sp>
      <p:pic>
        <p:nvPicPr>
          <p:cNvPr id="2050" name="Picture 2" descr="Update Details - Python: Styled DataFrame Viewer 0.12.0 | JetBrains  Marketplace">
            <a:extLst>
              <a:ext uri="{FF2B5EF4-FFF2-40B4-BE49-F238E27FC236}">
                <a16:creationId xmlns:a16="http://schemas.microsoft.com/office/drawing/2014/main" id="{3A7B0C41-3BCF-DFD4-65C6-EF7158DD13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23639" y="2443304"/>
            <a:ext cx="2698741" cy="2698741"/>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E90CD0C4-1001-37F8-2EE5-FA148ED29642}"/>
              </a:ext>
            </a:extLst>
          </p:cNvPr>
          <p:cNvSpPr txBox="1"/>
          <p:nvPr/>
        </p:nvSpPr>
        <p:spPr>
          <a:xfrm>
            <a:off x="3847236" y="4847015"/>
            <a:ext cx="4051546" cy="830997"/>
          </a:xfrm>
          <a:prstGeom prst="rect">
            <a:avLst/>
          </a:prstGeom>
          <a:noFill/>
        </p:spPr>
        <p:txBody>
          <a:bodyPr wrap="square">
            <a:spAutoFit/>
          </a:bodyPr>
          <a:lstStyle/>
          <a:p>
            <a:pPr algn="ctr"/>
            <a:r>
              <a:rPr lang="en-US" sz="4800" dirty="0" err="1">
                <a:solidFill>
                  <a:schemeClr val="tx1">
                    <a:lumMod val="65000"/>
                    <a:lumOff val="35000"/>
                  </a:schemeClr>
                </a:solidFill>
                <a:latin typeface="Segoe UI Black" panose="020B0A02040204020203" pitchFamily="34" charset="0"/>
                <a:ea typeface="Segoe UI Black" panose="020B0A02040204020203" pitchFamily="34" charset="0"/>
              </a:rPr>
              <a:t>DataFrame</a:t>
            </a:r>
            <a:endParaRPr lang="fr-FR" sz="4800" dirty="0">
              <a:solidFill>
                <a:schemeClr val="tx1">
                  <a:lumMod val="65000"/>
                  <a:lumOff val="35000"/>
                </a:schemeClr>
              </a:solidFill>
              <a:latin typeface="Segoe UI Black" panose="020B0A02040204020203" pitchFamily="34" charset="0"/>
              <a:ea typeface="Segoe UI Black" panose="020B0A02040204020203" pitchFamily="34" charset="0"/>
            </a:endParaRPr>
          </a:p>
        </p:txBody>
      </p:sp>
    </p:spTree>
    <p:extLst>
      <p:ext uri="{BB962C8B-B14F-4D97-AF65-F5344CB8AC3E}">
        <p14:creationId xmlns:p14="http://schemas.microsoft.com/office/powerpoint/2010/main" val="28275872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FB21C-D768-766F-9D9C-DC2D650A00B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1BB5EB7-CEEE-149A-1D47-CA6A1A6DE927}"/>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Exploration des données</a:t>
            </a:r>
          </a:p>
        </p:txBody>
      </p:sp>
    </p:spTree>
    <p:extLst>
      <p:ext uri="{BB962C8B-B14F-4D97-AF65-F5344CB8AC3E}">
        <p14:creationId xmlns:p14="http://schemas.microsoft.com/office/powerpoint/2010/main" val="2898063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8AEC5-AA74-4883-18BB-EDC83DCBF3F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B60A8FB-D594-CF7F-64CB-850DE4143165}"/>
              </a:ext>
            </a:extLst>
          </p:cNvPr>
          <p:cNvSpPr>
            <a:spLocks noGrp="1"/>
          </p:cNvSpPr>
          <p:nvPr>
            <p:ph type="title"/>
          </p:nvPr>
        </p:nvSpPr>
        <p:spPr/>
        <p:txBody>
          <a:bodyPr/>
          <a:lstStyle/>
          <a:p>
            <a:pPr lvl="0" algn="ctr" defTabSz="1600200">
              <a:lnSpc>
                <a:spcPct val="90000"/>
              </a:lnSpc>
              <a:spcAft>
                <a:spcPct val="35000"/>
              </a:spcAft>
            </a:pPr>
            <a:r>
              <a:rPr lang="fr-FR" dirty="0"/>
              <a:t>Vérification des </a:t>
            </a:r>
            <a:r>
              <a:rPr lang="fr-FR" dirty="0" err="1"/>
              <a:t>outliers</a:t>
            </a:r>
            <a:endParaRPr lang="fr-FR" dirty="0"/>
          </a:p>
        </p:txBody>
      </p:sp>
      <p:pic>
        <p:nvPicPr>
          <p:cNvPr id="7" name="Image 6">
            <a:extLst>
              <a:ext uri="{FF2B5EF4-FFF2-40B4-BE49-F238E27FC236}">
                <a16:creationId xmlns:a16="http://schemas.microsoft.com/office/drawing/2014/main" id="{588A2AEA-4BAF-1810-40D4-EED7630C7784}"/>
              </a:ext>
            </a:extLst>
          </p:cNvPr>
          <p:cNvPicPr>
            <a:picLocks noChangeAspect="1"/>
          </p:cNvPicPr>
          <p:nvPr/>
        </p:nvPicPr>
        <p:blipFill>
          <a:blip r:embed="rId3"/>
          <a:stretch>
            <a:fillRect/>
          </a:stretch>
        </p:blipFill>
        <p:spPr>
          <a:xfrm>
            <a:off x="417997" y="2175734"/>
            <a:ext cx="3619333" cy="4362523"/>
          </a:xfrm>
          <a:prstGeom prst="rect">
            <a:avLst/>
          </a:prstGeom>
        </p:spPr>
      </p:pic>
      <p:sp>
        <p:nvSpPr>
          <p:cNvPr id="9" name="Rectangle 8">
            <a:extLst>
              <a:ext uri="{FF2B5EF4-FFF2-40B4-BE49-F238E27FC236}">
                <a16:creationId xmlns:a16="http://schemas.microsoft.com/office/drawing/2014/main" id="{454FA971-AF43-87C4-C8A3-12A3D9DC3215}"/>
              </a:ext>
            </a:extLst>
          </p:cNvPr>
          <p:cNvSpPr/>
          <p:nvPr/>
        </p:nvSpPr>
        <p:spPr>
          <a:xfrm>
            <a:off x="5064338" y="31071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1" name="ZoneTexte 10">
            <a:extLst>
              <a:ext uri="{FF2B5EF4-FFF2-40B4-BE49-F238E27FC236}">
                <a16:creationId xmlns:a16="http://schemas.microsoft.com/office/drawing/2014/main" id="{513E0CBD-3F65-F931-6AD4-DE6D88E6F0BE}"/>
              </a:ext>
            </a:extLst>
          </p:cNvPr>
          <p:cNvSpPr txBox="1"/>
          <p:nvPr/>
        </p:nvSpPr>
        <p:spPr>
          <a:xfrm rot="16200000">
            <a:off x="3440337" y="2954223"/>
            <a:ext cx="2090921" cy="56513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2400" kern="1200" noProof="0" dirty="0"/>
              <a:t>Sondages</a:t>
            </a:r>
          </a:p>
        </p:txBody>
      </p:sp>
      <p:pic>
        <p:nvPicPr>
          <p:cNvPr id="3" name="Image 2">
            <a:extLst>
              <a:ext uri="{FF2B5EF4-FFF2-40B4-BE49-F238E27FC236}">
                <a16:creationId xmlns:a16="http://schemas.microsoft.com/office/drawing/2014/main" id="{99DE5AE4-79BC-80D5-9DBA-9458FB6D7A59}"/>
              </a:ext>
            </a:extLst>
          </p:cNvPr>
          <p:cNvPicPr>
            <a:picLocks noChangeAspect="1"/>
          </p:cNvPicPr>
          <p:nvPr/>
        </p:nvPicPr>
        <p:blipFill>
          <a:blip r:embed="rId4"/>
          <a:stretch>
            <a:fillRect/>
          </a:stretch>
        </p:blipFill>
        <p:spPr>
          <a:xfrm>
            <a:off x="4898438" y="2110784"/>
            <a:ext cx="5992541" cy="2246211"/>
          </a:xfrm>
          <a:prstGeom prst="rect">
            <a:avLst/>
          </a:prstGeom>
        </p:spPr>
      </p:pic>
      <p:pic>
        <p:nvPicPr>
          <p:cNvPr id="4" name="Image 3">
            <a:extLst>
              <a:ext uri="{FF2B5EF4-FFF2-40B4-BE49-F238E27FC236}">
                <a16:creationId xmlns:a16="http://schemas.microsoft.com/office/drawing/2014/main" id="{2CF3E418-9D9A-8E1B-79BB-8F2A7E953111}"/>
              </a:ext>
            </a:extLst>
          </p:cNvPr>
          <p:cNvPicPr>
            <a:picLocks noChangeAspect="1"/>
          </p:cNvPicPr>
          <p:nvPr/>
        </p:nvPicPr>
        <p:blipFill>
          <a:blip r:embed="rId5"/>
          <a:stretch>
            <a:fillRect/>
          </a:stretch>
        </p:blipFill>
        <p:spPr>
          <a:xfrm>
            <a:off x="4898438" y="4524040"/>
            <a:ext cx="5992541" cy="2214462"/>
          </a:xfrm>
          <a:prstGeom prst="rect">
            <a:avLst/>
          </a:prstGeom>
        </p:spPr>
      </p:pic>
      <p:sp>
        <p:nvSpPr>
          <p:cNvPr id="5" name="ZoneTexte 4">
            <a:extLst>
              <a:ext uri="{FF2B5EF4-FFF2-40B4-BE49-F238E27FC236}">
                <a16:creationId xmlns:a16="http://schemas.microsoft.com/office/drawing/2014/main" id="{BA46EA0F-D37C-FB35-A854-EAFB3329934A}"/>
              </a:ext>
            </a:extLst>
          </p:cNvPr>
          <p:cNvSpPr txBox="1"/>
          <p:nvPr/>
        </p:nvSpPr>
        <p:spPr>
          <a:xfrm rot="16200000">
            <a:off x="10389520" y="2952266"/>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tx1"/>
                </a:solidFill>
              </a:rPr>
              <a:t>SIRH</a:t>
            </a:r>
          </a:p>
        </p:txBody>
      </p:sp>
      <p:sp>
        <p:nvSpPr>
          <p:cNvPr id="6" name="ZoneTexte 5">
            <a:extLst>
              <a:ext uri="{FF2B5EF4-FFF2-40B4-BE49-F238E27FC236}">
                <a16:creationId xmlns:a16="http://schemas.microsoft.com/office/drawing/2014/main" id="{74CB09BE-FE69-BDE7-96D2-EA0B63299C67}"/>
              </a:ext>
            </a:extLst>
          </p:cNvPr>
          <p:cNvSpPr txBox="1"/>
          <p:nvPr/>
        </p:nvSpPr>
        <p:spPr>
          <a:xfrm rot="16200000">
            <a:off x="10389520" y="5349648"/>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err="1">
                <a:solidFill>
                  <a:schemeClr val="tx1"/>
                </a:solidFill>
              </a:rPr>
              <a:t>evaluation</a:t>
            </a:r>
            <a:endParaRPr lang="fr-FR" sz="3600" kern="1200" noProof="0" dirty="0">
              <a:solidFill>
                <a:schemeClr val="tx1"/>
              </a:solidFill>
            </a:endParaRPr>
          </a:p>
        </p:txBody>
      </p:sp>
    </p:spTree>
    <p:extLst>
      <p:ext uri="{BB962C8B-B14F-4D97-AF65-F5344CB8AC3E}">
        <p14:creationId xmlns:p14="http://schemas.microsoft.com/office/powerpoint/2010/main" val="3004400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8A005-461D-E1A5-334B-DB48910C571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0824C46-0D06-C121-905C-7A99B6D89795}"/>
              </a:ext>
            </a:extLst>
          </p:cNvPr>
          <p:cNvSpPr>
            <a:spLocks noGrp="1"/>
          </p:cNvSpPr>
          <p:nvPr>
            <p:ph type="title"/>
          </p:nvPr>
        </p:nvSpPr>
        <p:spPr/>
        <p:txBody>
          <a:bodyPr/>
          <a:lstStyle/>
          <a:p>
            <a:pPr lvl="0" algn="ctr" defTabSz="1600200">
              <a:lnSpc>
                <a:spcPct val="90000"/>
              </a:lnSpc>
              <a:spcAft>
                <a:spcPct val="35000"/>
              </a:spcAft>
            </a:pPr>
            <a:r>
              <a:rPr lang="fr-FR" dirty="0"/>
              <a:t>Vérification des </a:t>
            </a:r>
            <a:r>
              <a:rPr lang="fr-FR" dirty="0" err="1"/>
              <a:t>outliers</a:t>
            </a:r>
            <a:endParaRPr lang="fr-FR" dirty="0"/>
          </a:p>
        </p:txBody>
      </p:sp>
      <p:sp>
        <p:nvSpPr>
          <p:cNvPr id="9" name="Rectangle 8">
            <a:extLst>
              <a:ext uri="{FF2B5EF4-FFF2-40B4-BE49-F238E27FC236}">
                <a16:creationId xmlns:a16="http://schemas.microsoft.com/office/drawing/2014/main" id="{FFE9AD9E-3C60-DEFE-D8DF-6D71C9418D70}"/>
              </a:ext>
            </a:extLst>
          </p:cNvPr>
          <p:cNvSpPr/>
          <p:nvPr/>
        </p:nvSpPr>
        <p:spPr>
          <a:xfrm>
            <a:off x="5064338" y="31071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pic>
        <p:nvPicPr>
          <p:cNvPr id="3" name="Image 2">
            <a:extLst>
              <a:ext uri="{FF2B5EF4-FFF2-40B4-BE49-F238E27FC236}">
                <a16:creationId xmlns:a16="http://schemas.microsoft.com/office/drawing/2014/main" id="{66846D11-1474-2A22-F649-230BD5ECCB0B}"/>
              </a:ext>
            </a:extLst>
          </p:cNvPr>
          <p:cNvPicPr>
            <a:picLocks noChangeAspect="1"/>
          </p:cNvPicPr>
          <p:nvPr/>
        </p:nvPicPr>
        <p:blipFill>
          <a:blip r:embed="rId3"/>
          <a:srcRect l="15325"/>
          <a:stretch>
            <a:fillRect/>
          </a:stretch>
        </p:blipFill>
        <p:spPr>
          <a:xfrm>
            <a:off x="618973" y="2110783"/>
            <a:ext cx="9656597" cy="4274715"/>
          </a:xfrm>
          <a:prstGeom prst="rect">
            <a:avLst/>
          </a:prstGeom>
        </p:spPr>
      </p:pic>
      <p:sp>
        <p:nvSpPr>
          <p:cNvPr id="5" name="ZoneTexte 4">
            <a:extLst>
              <a:ext uri="{FF2B5EF4-FFF2-40B4-BE49-F238E27FC236}">
                <a16:creationId xmlns:a16="http://schemas.microsoft.com/office/drawing/2014/main" id="{11D6BCF6-296E-BEAE-4DB2-936EB0BA391D}"/>
              </a:ext>
            </a:extLst>
          </p:cNvPr>
          <p:cNvSpPr txBox="1"/>
          <p:nvPr/>
        </p:nvSpPr>
        <p:spPr>
          <a:xfrm rot="16200000">
            <a:off x="9827545" y="3920757"/>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tx1"/>
                </a:solidFill>
              </a:rPr>
              <a:t>SIRH</a:t>
            </a:r>
          </a:p>
        </p:txBody>
      </p:sp>
    </p:spTree>
    <p:extLst>
      <p:ext uri="{BB962C8B-B14F-4D97-AF65-F5344CB8AC3E}">
        <p14:creationId xmlns:p14="http://schemas.microsoft.com/office/powerpoint/2010/main" val="28836483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BF741-6637-02A5-2AC2-3680284CBAE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4841F55-2D68-2F89-4FCA-D4DE6B084A32}"/>
              </a:ext>
            </a:extLst>
          </p:cNvPr>
          <p:cNvSpPr>
            <a:spLocks noGrp="1"/>
          </p:cNvSpPr>
          <p:nvPr>
            <p:ph type="title"/>
          </p:nvPr>
        </p:nvSpPr>
        <p:spPr/>
        <p:txBody>
          <a:bodyPr/>
          <a:lstStyle/>
          <a:p>
            <a:pPr lvl="0" algn="ctr" defTabSz="1600200">
              <a:lnSpc>
                <a:spcPct val="90000"/>
              </a:lnSpc>
              <a:spcAft>
                <a:spcPct val="35000"/>
              </a:spcAft>
            </a:pPr>
            <a:r>
              <a:rPr lang="fr-FR" dirty="0"/>
              <a:t>Vérification des </a:t>
            </a:r>
            <a:r>
              <a:rPr lang="fr-FR" dirty="0" err="1"/>
              <a:t>outliers</a:t>
            </a:r>
            <a:endParaRPr lang="fr-FR" dirty="0"/>
          </a:p>
        </p:txBody>
      </p:sp>
      <p:sp>
        <p:nvSpPr>
          <p:cNvPr id="9" name="Rectangle 8">
            <a:extLst>
              <a:ext uri="{FF2B5EF4-FFF2-40B4-BE49-F238E27FC236}">
                <a16:creationId xmlns:a16="http://schemas.microsoft.com/office/drawing/2014/main" id="{5EE1D330-6C53-60F1-EBA8-46C7686C06BD}"/>
              </a:ext>
            </a:extLst>
          </p:cNvPr>
          <p:cNvSpPr/>
          <p:nvPr/>
        </p:nvSpPr>
        <p:spPr>
          <a:xfrm>
            <a:off x="5064338" y="31071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pic>
        <p:nvPicPr>
          <p:cNvPr id="3" name="Image 2">
            <a:extLst>
              <a:ext uri="{FF2B5EF4-FFF2-40B4-BE49-F238E27FC236}">
                <a16:creationId xmlns:a16="http://schemas.microsoft.com/office/drawing/2014/main" id="{4AF6B27F-0949-000D-09C3-D3A66FEA1E17}"/>
              </a:ext>
            </a:extLst>
          </p:cNvPr>
          <p:cNvPicPr>
            <a:picLocks noChangeAspect="1"/>
          </p:cNvPicPr>
          <p:nvPr/>
        </p:nvPicPr>
        <p:blipFill>
          <a:blip r:embed="rId3"/>
          <a:srcRect l="15325" r="66049"/>
          <a:stretch>
            <a:fillRect/>
          </a:stretch>
        </p:blipFill>
        <p:spPr>
          <a:xfrm>
            <a:off x="618973" y="2110783"/>
            <a:ext cx="2124227" cy="4274715"/>
          </a:xfrm>
          <a:prstGeom prst="rect">
            <a:avLst/>
          </a:prstGeom>
        </p:spPr>
      </p:pic>
      <p:sp>
        <p:nvSpPr>
          <p:cNvPr id="5" name="ZoneTexte 4">
            <a:extLst>
              <a:ext uri="{FF2B5EF4-FFF2-40B4-BE49-F238E27FC236}">
                <a16:creationId xmlns:a16="http://schemas.microsoft.com/office/drawing/2014/main" id="{3AC6146A-43ED-EDC9-1BD6-29D778AF8EF7}"/>
              </a:ext>
            </a:extLst>
          </p:cNvPr>
          <p:cNvSpPr txBox="1"/>
          <p:nvPr/>
        </p:nvSpPr>
        <p:spPr>
          <a:xfrm rot="16200000">
            <a:off x="10528153" y="3920757"/>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tx1"/>
                </a:solidFill>
              </a:rPr>
              <a:t>SIRH</a:t>
            </a:r>
          </a:p>
        </p:txBody>
      </p:sp>
      <p:pic>
        <p:nvPicPr>
          <p:cNvPr id="11" name="Image 10">
            <a:extLst>
              <a:ext uri="{FF2B5EF4-FFF2-40B4-BE49-F238E27FC236}">
                <a16:creationId xmlns:a16="http://schemas.microsoft.com/office/drawing/2014/main" id="{293CBA4B-E563-F937-0596-B21681D710D1}"/>
              </a:ext>
            </a:extLst>
          </p:cNvPr>
          <p:cNvPicPr>
            <a:picLocks noChangeAspect="1"/>
          </p:cNvPicPr>
          <p:nvPr/>
        </p:nvPicPr>
        <p:blipFill>
          <a:blip r:embed="rId4"/>
          <a:srcRect l="504" t="823"/>
          <a:stretch>
            <a:fillRect/>
          </a:stretch>
        </p:blipFill>
        <p:spPr>
          <a:xfrm>
            <a:off x="2743200" y="4009673"/>
            <a:ext cx="7598458" cy="2375825"/>
          </a:xfrm>
          <a:prstGeom prst="rect">
            <a:avLst/>
          </a:prstGeom>
        </p:spPr>
      </p:pic>
      <p:sp>
        <p:nvSpPr>
          <p:cNvPr id="12" name="Titre 1">
            <a:extLst>
              <a:ext uri="{FF2B5EF4-FFF2-40B4-BE49-F238E27FC236}">
                <a16:creationId xmlns:a16="http://schemas.microsoft.com/office/drawing/2014/main" id="{662DB05B-D02A-A458-495D-39F31D1F4DE7}"/>
              </a:ext>
            </a:extLst>
          </p:cNvPr>
          <p:cNvSpPr txBox="1">
            <a:spLocks/>
          </p:cNvSpPr>
          <p:nvPr/>
        </p:nvSpPr>
        <p:spPr>
          <a:xfrm>
            <a:off x="2805475" y="2314673"/>
            <a:ext cx="3649846" cy="792427"/>
          </a:xfrm>
          <a:prstGeom prst="rect">
            <a:avLst/>
          </a:prstGeom>
        </p:spPr>
        <p:txBody>
          <a:bodyPr vert="horz" lIns="91440" tIns="45720" rIns="91440" bIns="45720" rtlCol="0" anchor="b">
            <a:normAutofit lnSpcReduction="1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r-FR" sz="4800" cap="none" dirty="0">
                <a:solidFill>
                  <a:srgbClr val="FF0000"/>
                </a:solidFill>
              </a:rPr>
              <a:t>5% &gt; 17,821€</a:t>
            </a:r>
          </a:p>
        </p:txBody>
      </p:sp>
      <p:cxnSp>
        <p:nvCxnSpPr>
          <p:cNvPr id="6" name="Connecteur droit 5">
            <a:extLst>
              <a:ext uri="{FF2B5EF4-FFF2-40B4-BE49-F238E27FC236}">
                <a16:creationId xmlns:a16="http://schemas.microsoft.com/office/drawing/2014/main" id="{B38E7912-8B3C-328D-F40B-F55D2FC191CC}"/>
              </a:ext>
            </a:extLst>
          </p:cNvPr>
          <p:cNvCxnSpPr/>
          <p:nvPr/>
        </p:nvCxnSpPr>
        <p:spPr>
          <a:xfrm>
            <a:off x="976313" y="3567113"/>
            <a:ext cx="1540791" cy="0"/>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ABB0244B-D360-7A5B-8321-6825E75C4D7B}"/>
              </a:ext>
            </a:extLst>
          </p:cNvPr>
          <p:cNvPicPr>
            <a:picLocks noChangeAspect="1"/>
          </p:cNvPicPr>
          <p:nvPr/>
        </p:nvPicPr>
        <p:blipFill>
          <a:blip r:embed="rId5"/>
          <a:stretch>
            <a:fillRect/>
          </a:stretch>
        </p:blipFill>
        <p:spPr>
          <a:xfrm>
            <a:off x="6681417" y="2046897"/>
            <a:ext cx="3400900" cy="2248214"/>
          </a:xfrm>
          <a:prstGeom prst="rect">
            <a:avLst/>
          </a:prstGeom>
        </p:spPr>
      </p:pic>
      <p:sp>
        <p:nvSpPr>
          <p:cNvPr id="13" name="Rectangle 12">
            <a:extLst>
              <a:ext uri="{FF2B5EF4-FFF2-40B4-BE49-F238E27FC236}">
                <a16:creationId xmlns:a16="http://schemas.microsoft.com/office/drawing/2014/main" id="{455F62BD-6E78-AF27-1B3E-BA7049A1A79F}"/>
              </a:ext>
            </a:extLst>
          </p:cNvPr>
          <p:cNvSpPr/>
          <p:nvPr/>
        </p:nvSpPr>
        <p:spPr>
          <a:xfrm>
            <a:off x="6782988" y="3849505"/>
            <a:ext cx="2226391" cy="21767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576815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360404-1E2B-4C69-FC0E-B021BEBBD6F0}"/>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F8356271-FEAD-6D57-80F6-B394F2C897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362C3C95-43B8-B09F-7447-E5E3BC5E3D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095EFFA0-0CC9-56E8-E5CF-DF02F3D95A15}"/>
              </a:ext>
            </a:extLst>
          </p:cNvPr>
          <p:cNvSpPr>
            <a:spLocks noGrp="1"/>
          </p:cNvSpPr>
          <p:nvPr>
            <p:ph type="title"/>
          </p:nvPr>
        </p:nvSpPr>
        <p:spPr>
          <a:xfrm>
            <a:off x="709060" y="5307488"/>
            <a:ext cx="11029616" cy="1013800"/>
          </a:xfrm>
        </p:spPr>
        <p:txBody>
          <a:bodyPr/>
          <a:lstStyle/>
          <a:p>
            <a:pPr algn="ctr"/>
            <a:r>
              <a:rPr lang="fr-FR" dirty="0"/>
              <a:t>Matrice de confusion</a:t>
            </a:r>
          </a:p>
        </p:txBody>
      </p:sp>
      <p:pic>
        <p:nvPicPr>
          <p:cNvPr id="5" name="Image 4">
            <a:extLst>
              <a:ext uri="{FF2B5EF4-FFF2-40B4-BE49-F238E27FC236}">
                <a16:creationId xmlns:a16="http://schemas.microsoft.com/office/drawing/2014/main" id="{43EE2A35-5224-5A74-C2C0-3EE75A0B3452}"/>
              </a:ext>
            </a:extLst>
          </p:cNvPr>
          <p:cNvPicPr>
            <a:picLocks noChangeAspect="1"/>
          </p:cNvPicPr>
          <p:nvPr/>
        </p:nvPicPr>
        <p:blipFill>
          <a:blip r:embed="rId3"/>
          <a:stretch>
            <a:fillRect/>
          </a:stretch>
        </p:blipFill>
        <p:spPr>
          <a:xfrm>
            <a:off x="887963" y="805122"/>
            <a:ext cx="10671810" cy="4733287"/>
          </a:xfrm>
          <a:prstGeom prst="rect">
            <a:avLst/>
          </a:prstGeom>
        </p:spPr>
      </p:pic>
    </p:spTree>
    <p:extLst>
      <p:ext uri="{BB962C8B-B14F-4D97-AF65-F5344CB8AC3E}">
        <p14:creationId xmlns:p14="http://schemas.microsoft.com/office/powerpoint/2010/main" val="2040009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6D1397-10F0-820A-725B-6D463B62E7F0}"/>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71FF3805-3323-0443-F753-B6151E82F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1AA5619E-23A8-08B1-D62A-6EC273D846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7F3DE91D-8398-3DFB-23D3-0E46C0B3FA50}"/>
              </a:ext>
            </a:extLst>
          </p:cNvPr>
          <p:cNvSpPr>
            <a:spLocks noGrp="1"/>
          </p:cNvSpPr>
          <p:nvPr>
            <p:ph type="title"/>
          </p:nvPr>
        </p:nvSpPr>
        <p:spPr>
          <a:xfrm>
            <a:off x="709060" y="5307488"/>
            <a:ext cx="11029616" cy="1013800"/>
          </a:xfrm>
        </p:spPr>
        <p:txBody>
          <a:bodyPr/>
          <a:lstStyle/>
          <a:p>
            <a:pPr algn="ctr"/>
            <a:r>
              <a:rPr lang="fr-FR" dirty="0"/>
              <a:t>Matrice de confusion</a:t>
            </a:r>
          </a:p>
        </p:txBody>
      </p:sp>
      <p:pic>
        <p:nvPicPr>
          <p:cNvPr id="5" name="Image 4">
            <a:extLst>
              <a:ext uri="{FF2B5EF4-FFF2-40B4-BE49-F238E27FC236}">
                <a16:creationId xmlns:a16="http://schemas.microsoft.com/office/drawing/2014/main" id="{E6FBB40F-AE51-9DE5-5681-A1DF527D8724}"/>
              </a:ext>
            </a:extLst>
          </p:cNvPr>
          <p:cNvPicPr>
            <a:picLocks noChangeAspect="1"/>
          </p:cNvPicPr>
          <p:nvPr/>
        </p:nvPicPr>
        <p:blipFill>
          <a:blip r:embed="rId3"/>
          <a:stretch>
            <a:fillRect/>
          </a:stretch>
        </p:blipFill>
        <p:spPr>
          <a:xfrm>
            <a:off x="351777" y="731000"/>
            <a:ext cx="11482940" cy="5083388"/>
          </a:xfrm>
          <a:prstGeom prst="rect">
            <a:avLst/>
          </a:prstGeom>
        </p:spPr>
      </p:pic>
    </p:spTree>
    <p:extLst>
      <p:ext uri="{BB962C8B-B14F-4D97-AF65-F5344CB8AC3E}">
        <p14:creationId xmlns:p14="http://schemas.microsoft.com/office/powerpoint/2010/main" val="10861247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7D91BC-2A87-779E-5258-A9E8BD4A10BF}"/>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EA4F88AF-2AF3-7515-EBBA-ACD303DCAD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EB30508F-D7DF-F9AD-6E2B-B67CD4D31C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Titre 1">
            <a:extLst>
              <a:ext uri="{FF2B5EF4-FFF2-40B4-BE49-F238E27FC236}">
                <a16:creationId xmlns:a16="http://schemas.microsoft.com/office/drawing/2014/main" id="{61FF514C-3589-53E0-58F5-7F90B18B28D6}"/>
              </a:ext>
            </a:extLst>
          </p:cNvPr>
          <p:cNvSpPr txBox="1">
            <a:spLocks/>
          </p:cNvSpPr>
          <p:nvPr/>
        </p:nvSpPr>
        <p:spPr>
          <a:xfrm>
            <a:off x="5645059" y="1790769"/>
            <a:ext cx="5184866" cy="1427224"/>
          </a:xfrm>
          <a:prstGeom prst="rect">
            <a:avLst/>
          </a:prstGeom>
        </p:spPr>
        <p:txBody>
          <a:bodyPr vert="horz" lIns="91440" tIns="45720" rIns="91440" bIns="45720" rtlCol="0" anchor="b">
            <a:normAutofit fontScale="92500" lnSpcReduction="1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r-FR" sz="4800" cap="none" dirty="0">
                <a:solidFill>
                  <a:srgbClr val="FF0000"/>
                </a:solidFill>
              </a:rPr>
              <a:t>Les postes les plus concernés (#)</a:t>
            </a:r>
          </a:p>
        </p:txBody>
      </p:sp>
      <p:sp>
        <p:nvSpPr>
          <p:cNvPr id="18" name="ZoneTexte 17">
            <a:extLst>
              <a:ext uri="{FF2B5EF4-FFF2-40B4-BE49-F238E27FC236}">
                <a16:creationId xmlns:a16="http://schemas.microsoft.com/office/drawing/2014/main" id="{5AC1AEB7-D60E-5E65-96CE-B822593C1567}"/>
              </a:ext>
            </a:extLst>
          </p:cNvPr>
          <p:cNvSpPr txBox="1"/>
          <p:nvPr/>
        </p:nvSpPr>
        <p:spPr>
          <a:xfrm>
            <a:off x="5645059" y="832348"/>
            <a:ext cx="5336120" cy="461665"/>
          </a:xfrm>
          <a:prstGeom prst="rect">
            <a:avLst/>
          </a:prstGeom>
          <a:noFill/>
        </p:spPr>
        <p:txBody>
          <a:bodyPr wrap="square">
            <a:spAutoFit/>
          </a:bodyPr>
          <a:lstStyle/>
          <a:p>
            <a:r>
              <a:rPr lang="fr-FR" sz="2400" cap="none" dirty="0"/>
              <a:t>Exploration : Postes / Démissions </a:t>
            </a:r>
          </a:p>
        </p:txBody>
      </p:sp>
      <p:pic>
        <p:nvPicPr>
          <p:cNvPr id="9" name="Image 8">
            <a:extLst>
              <a:ext uri="{FF2B5EF4-FFF2-40B4-BE49-F238E27FC236}">
                <a16:creationId xmlns:a16="http://schemas.microsoft.com/office/drawing/2014/main" id="{3FC2BB6D-6F45-8FDB-F8B4-D3F38F116A03}"/>
              </a:ext>
            </a:extLst>
          </p:cNvPr>
          <p:cNvPicPr>
            <a:picLocks noChangeAspect="1"/>
          </p:cNvPicPr>
          <p:nvPr/>
        </p:nvPicPr>
        <p:blipFill>
          <a:blip r:embed="rId3"/>
          <a:stretch>
            <a:fillRect/>
          </a:stretch>
        </p:blipFill>
        <p:spPr>
          <a:xfrm>
            <a:off x="691819" y="832348"/>
            <a:ext cx="4721048" cy="5054102"/>
          </a:xfrm>
          <a:prstGeom prst="rect">
            <a:avLst/>
          </a:prstGeom>
        </p:spPr>
      </p:pic>
      <p:sp>
        <p:nvSpPr>
          <p:cNvPr id="2" name="Titre 1">
            <a:extLst>
              <a:ext uri="{FF2B5EF4-FFF2-40B4-BE49-F238E27FC236}">
                <a16:creationId xmlns:a16="http://schemas.microsoft.com/office/drawing/2014/main" id="{03BF1530-101B-6541-E18B-139A09D99659}"/>
              </a:ext>
            </a:extLst>
          </p:cNvPr>
          <p:cNvSpPr>
            <a:spLocks noGrp="1"/>
          </p:cNvSpPr>
          <p:nvPr>
            <p:ph type="title"/>
          </p:nvPr>
        </p:nvSpPr>
        <p:spPr>
          <a:xfrm>
            <a:off x="709060" y="5307488"/>
            <a:ext cx="11029616" cy="1013800"/>
          </a:xfrm>
        </p:spPr>
        <p:txBody>
          <a:bodyPr/>
          <a:lstStyle/>
          <a:p>
            <a:pPr algn="r"/>
            <a:r>
              <a:rPr lang="fr-FR" dirty="0"/>
              <a:t>Distribution des données</a:t>
            </a:r>
          </a:p>
        </p:txBody>
      </p:sp>
    </p:spTree>
    <p:extLst>
      <p:ext uri="{BB962C8B-B14F-4D97-AF65-F5344CB8AC3E}">
        <p14:creationId xmlns:p14="http://schemas.microsoft.com/office/powerpoint/2010/main" val="38727379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D5EA74-7877-D349-11D4-66B615A71FE2}"/>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82FE038-CFB1-ED4A-3CB1-2AE6662F8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0332C299-DC8C-0AC7-814D-1A9F4E02A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Titre 1">
            <a:extLst>
              <a:ext uri="{FF2B5EF4-FFF2-40B4-BE49-F238E27FC236}">
                <a16:creationId xmlns:a16="http://schemas.microsoft.com/office/drawing/2014/main" id="{882B95FA-0BC6-96E7-DC16-92602E674F20}"/>
              </a:ext>
            </a:extLst>
          </p:cNvPr>
          <p:cNvSpPr txBox="1">
            <a:spLocks/>
          </p:cNvSpPr>
          <p:nvPr/>
        </p:nvSpPr>
        <p:spPr>
          <a:xfrm>
            <a:off x="6093247" y="1901763"/>
            <a:ext cx="4493418" cy="1427224"/>
          </a:xfrm>
          <a:prstGeom prst="rect">
            <a:avLst/>
          </a:prstGeom>
        </p:spPr>
        <p:txBody>
          <a:bodyPr vert="horz" lIns="91440" tIns="45720" rIns="91440" bIns="45720" rtlCol="0" anchor="b">
            <a:normAutofit fontScale="92500" lnSpcReduction="1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r-FR" sz="4800" cap="none" dirty="0">
                <a:solidFill>
                  <a:srgbClr val="FF0000"/>
                </a:solidFill>
              </a:rPr>
              <a:t>Les postes les plus concernés (%)</a:t>
            </a:r>
          </a:p>
        </p:txBody>
      </p:sp>
      <p:sp>
        <p:nvSpPr>
          <p:cNvPr id="18" name="ZoneTexte 17">
            <a:extLst>
              <a:ext uri="{FF2B5EF4-FFF2-40B4-BE49-F238E27FC236}">
                <a16:creationId xmlns:a16="http://schemas.microsoft.com/office/drawing/2014/main" id="{DF6E3307-6BEA-222D-895C-104BF22C4172}"/>
              </a:ext>
            </a:extLst>
          </p:cNvPr>
          <p:cNvSpPr txBox="1"/>
          <p:nvPr/>
        </p:nvSpPr>
        <p:spPr>
          <a:xfrm>
            <a:off x="6093246" y="943342"/>
            <a:ext cx="5284667" cy="461665"/>
          </a:xfrm>
          <a:prstGeom prst="rect">
            <a:avLst/>
          </a:prstGeom>
          <a:noFill/>
        </p:spPr>
        <p:txBody>
          <a:bodyPr wrap="square">
            <a:spAutoFit/>
          </a:bodyPr>
          <a:lstStyle/>
          <a:p>
            <a:r>
              <a:rPr lang="fr-FR" sz="2400" cap="none" dirty="0"/>
              <a:t>Exploration : </a:t>
            </a:r>
            <a:r>
              <a:rPr lang="fr-FR" sz="2400" dirty="0"/>
              <a:t>Postes / Démissions</a:t>
            </a:r>
            <a:r>
              <a:rPr lang="fr-FR" sz="2400" cap="none" dirty="0"/>
              <a:t> </a:t>
            </a:r>
          </a:p>
        </p:txBody>
      </p:sp>
      <p:pic>
        <p:nvPicPr>
          <p:cNvPr id="10" name="Image 9">
            <a:extLst>
              <a:ext uri="{FF2B5EF4-FFF2-40B4-BE49-F238E27FC236}">
                <a16:creationId xmlns:a16="http://schemas.microsoft.com/office/drawing/2014/main" id="{707C98D7-2794-EAD3-534B-382F199955FA}"/>
              </a:ext>
            </a:extLst>
          </p:cNvPr>
          <p:cNvPicPr>
            <a:picLocks noChangeAspect="1"/>
          </p:cNvPicPr>
          <p:nvPr/>
        </p:nvPicPr>
        <p:blipFill>
          <a:blip r:embed="rId3"/>
          <a:stretch>
            <a:fillRect/>
          </a:stretch>
        </p:blipFill>
        <p:spPr>
          <a:xfrm>
            <a:off x="710797" y="710728"/>
            <a:ext cx="5172015" cy="5436544"/>
          </a:xfrm>
          <a:prstGeom prst="rect">
            <a:avLst/>
          </a:prstGeom>
        </p:spPr>
      </p:pic>
      <p:sp>
        <p:nvSpPr>
          <p:cNvPr id="2" name="Titre 1">
            <a:extLst>
              <a:ext uri="{FF2B5EF4-FFF2-40B4-BE49-F238E27FC236}">
                <a16:creationId xmlns:a16="http://schemas.microsoft.com/office/drawing/2014/main" id="{01D67233-15F8-A806-2283-DD8262B73FD8}"/>
              </a:ext>
            </a:extLst>
          </p:cNvPr>
          <p:cNvSpPr>
            <a:spLocks noGrp="1"/>
          </p:cNvSpPr>
          <p:nvPr>
            <p:ph type="title"/>
          </p:nvPr>
        </p:nvSpPr>
        <p:spPr>
          <a:xfrm>
            <a:off x="709060" y="5307488"/>
            <a:ext cx="11029616" cy="1013800"/>
          </a:xfrm>
        </p:spPr>
        <p:txBody>
          <a:bodyPr/>
          <a:lstStyle/>
          <a:p>
            <a:pPr algn="r"/>
            <a:r>
              <a:rPr lang="fr-FR" dirty="0"/>
              <a:t>Distribution des données</a:t>
            </a:r>
          </a:p>
        </p:txBody>
      </p:sp>
    </p:spTree>
    <p:extLst>
      <p:ext uri="{BB962C8B-B14F-4D97-AF65-F5344CB8AC3E}">
        <p14:creationId xmlns:p14="http://schemas.microsoft.com/office/powerpoint/2010/main" val="3990120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513E50-1BEE-2F27-4373-6A5ED599CEC6}"/>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7693503A-19BC-B6DF-4472-97D4A7CD71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E873C457-865C-F62F-F763-C67A22BF5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pic>
        <p:nvPicPr>
          <p:cNvPr id="5" name="Image 4">
            <a:extLst>
              <a:ext uri="{FF2B5EF4-FFF2-40B4-BE49-F238E27FC236}">
                <a16:creationId xmlns:a16="http://schemas.microsoft.com/office/drawing/2014/main" id="{ED702B5F-8A1F-06F5-79F7-6D50EA3ACEEB}"/>
              </a:ext>
            </a:extLst>
          </p:cNvPr>
          <p:cNvPicPr>
            <a:picLocks noChangeAspect="1"/>
          </p:cNvPicPr>
          <p:nvPr/>
        </p:nvPicPr>
        <p:blipFill>
          <a:blip r:embed="rId3"/>
          <a:stretch>
            <a:fillRect/>
          </a:stretch>
        </p:blipFill>
        <p:spPr>
          <a:xfrm>
            <a:off x="1714501" y="712136"/>
            <a:ext cx="8621138" cy="5345763"/>
          </a:xfrm>
          <a:prstGeom prst="rect">
            <a:avLst/>
          </a:prstGeom>
        </p:spPr>
      </p:pic>
    </p:spTree>
    <p:extLst>
      <p:ext uri="{BB962C8B-B14F-4D97-AF65-F5344CB8AC3E}">
        <p14:creationId xmlns:p14="http://schemas.microsoft.com/office/powerpoint/2010/main" val="17922970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60F519-B560-056C-F452-36FC94728154}"/>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033948-FCAD-213F-153E-3FDB75757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74B1952E-FA5F-CB65-BFCC-27ABE74295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Titre 1">
            <a:extLst>
              <a:ext uri="{FF2B5EF4-FFF2-40B4-BE49-F238E27FC236}">
                <a16:creationId xmlns:a16="http://schemas.microsoft.com/office/drawing/2014/main" id="{A62345E8-256A-0FAE-D7DA-9F21B91E572D}"/>
              </a:ext>
            </a:extLst>
          </p:cNvPr>
          <p:cNvSpPr txBox="1">
            <a:spLocks/>
          </p:cNvSpPr>
          <p:nvPr/>
        </p:nvSpPr>
        <p:spPr>
          <a:xfrm>
            <a:off x="7364816" y="2001776"/>
            <a:ext cx="4493418" cy="1427224"/>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r-FR" sz="4800" cap="none" dirty="0">
                <a:solidFill>
                  <a:srgbClr val="FF0000"/>
                </a:solidFill>
              </a:rPr>
              <a:t>Salaires / Poste</a:t>
            </a:r>
          </a:p>
        </p:txBody>
      </p:sp>
      <p:sp>
        <p:nvSpPr>
          <p:cNvPr id="18" name="ZoneTexte 17">
            <a:extLst>
              <a:ext uri="{FF2B5EF4-FFF2-40B4-BE49-F238E27FC236}">
                <a16:creationId xmlns:a16="http://schemas.microsoft.com/office/drawing/2014/main" id="{F92CB732-6464-0024-4591-47B4BDD1D3D3}"/>
              </a:ext>
            </a:extLst>
          </p:cNvPr>
          <p:cNvSpPr txBox="1"/>
          <p:nvPr/>
        </p:nvSpPr>
        <p:spPr>
          <a:xfrm>
            <a:off x="7364816" y="1043355"/>
            <a:ext cx="4284754" cy="461665"/>
          </a:xfrm>
          <a:prstGeom prst="rect">
            <a:avLst/>
          </a:prstGeom>
          <a:noFill/>
        </p:spPr>
        <p:txBody>
          <a:bodyPr wrap="square">
            <a:spAutoFit/>
          </a:bodyPr>
          <a:lstStyle/>
          <a:p>
            <a:r>
              <a:rPr lang="fr-FR" sz="2400" cap="none" dirty="0"/>
              <a:t>Exploration : Corrélations </a:t>
            </a:r>
          </a:p>
        </p:txBody>
      </p:sp>
      <p:pic>
        <p:nvPicPr>
          <p:cNvPr id="3" name="Image 2">
            <a:extLst>
              <a:ext uri="{FF2B5EF4-FFF2-40B4-BE49-F238E27FC236}">
                <a16:creationId xmlns:a16="http://schemas.microsoft.com/office/drawing/2014/main" id="{1D1B9221-AA44-2678-6E37-5A1F33965F58}"/>
              </a:ext>
            </a:extLst>
          </p:cNvPr>
          <p:cNvPicPr>
            <a:picLocks noChangeAspect="1"/>
          </p:cNvPicPr>
          <p:nvPr/>
        </p:nvPicPr>
        <p:blipFill>
          <a:blip r:embed="rId3"/>
          <a:stretch>
            <a:fillRect/>
          </a:stretch>
        </p:blipFill>
        <p:spPr>
          <a:xfrm>
            <a:off x="600304" y="738006"/>
            <a:ext cx="6446163" cy="5292404"/>
          </a:xfrm>
          <a:prstGeom prst="rect">
            <a:avLst/>
          </a:prstGeom>
        </p:spPr>
      </p:pic>
      <p:sp>
        <p:nvSpPr>
          <p:cNvPr id="2" name="Titre 1">
            <a:extLst>
              <a:ext uri="{FF2B5EF4-FFF2-40B4-BE49-F238E27FC236}">
                <a16:creationId xmlns:a16="http://schemas.microsoft.com/office/drawing/2014/main" id="{695879BE-FB13-471B-45F7-3E377AFFA7E1}"/>
              </a:ext>
            </a:extLst>
          </p:cNvPr>
          <p:cNvSpPr>
            <a:spLocks noGrp="1"/>
          </p:cNvSpPr>
          <p:nvPr>
            <p:ph type="title"/>
          </p:nvPr>
        </p:nvSpPr>
        <p:spPr>
          <a:xfrm>
            <a:off x="709060" y="5307488"/>
            <a:ext cx="11029616" cy="1013800"/>
          </a:xfrm>
        </p:spPr>
        <p:txBody>
          <a:bodyPr/>
          <a:lstStyle/>
          <a:p>
            <a:pPr algn="r"/>
            <a:r>
              <a:rPr lang="fr-FR" dirty="0"/>
              <a:t>Répartition des Valeurs</a:t>
            </a:r>
          </a:p>
        </p:txBody>
      </p:sp>
    </p:spTree>
    <p:extLst>
      <p:ext uri="{BB962C8B-B14F-4D97-AF65-F5344CB8AC3E}">
        <p14:creationId xmlns:p14="http://schemas.microsoft.com/office/powerpoint/2010/main" val="15025303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F0C515-52D5-B341-1FF8-299612386330}"/>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6B120996-928B-44B2-D4F1-7360F2D357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88A4F233-6539-F741-3BDA-E738983529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pic>
        <p:nvPicPr>
          <p:cNvPr id="3" name="Image 2">
            <a:extLst>
              <a:ext uri="{FF2B5EF4-FFF2-40B4-BE49-F238E27FC236}">
                <a16:creationId xmlns:a16="http://schemas.microsoft.com/office/drawing/2014/main" id="{0CEF92B0-E3EA-4C2F-B6F3-E66A338413F5}"/>
              </a:ext>
            </a:extLst>
          </p:cNvPr>
          <p:cNvPicPr>
            <a:picLocks noChangeAspect="1"/>
          </p:cNvPicPr>
          <p:nvPr/>
        </p:nvPicPr>
        <p:blipFill>
          <a:blip r:embed="rId3"/>
          <a:stretch>
            <a:fillRect/>
          </a:stretch>
        </p:blipFill>
        <p:spPr>
          <a:xfrm>
            <a:off x="1385230" y="633022"/>
            <a:ext cx="9421540" cy="5591955"/>
          </a:xfrm>
          <a:prstGeom prst="rect">
            <a:avLst/>
          </a:prstGeom>
        </p:spPr>
      </p:pic>
    </p:spTree>
    <p:extLst>
      <p:ext uri="{BB962C8B-B14F-4D97-AF65-F5344CB8AC3E}">
        <p14:creationId xmlns:p14="http://schemas.microsoft.com/office/powerpoint/2010/main" val="34349615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2F4D1F-C5C1-A6B0-16FD-EB21E48CEDB2}"/>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A2A31B-3307-B3E1-47A4-366A2F55CD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9D0B97D9-3116-945C-2F35-00A146E6E2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3" name="ZoneTexte 2">
            <a:extLst>
              <a:ext uri="{FF2B5EF4-FFF2-40B4-BE49-F238E27FC236}">
                <a16:creationId xmlns:a16="http://schemas.microsoft.com/office/drawing/2014/main" id="{AF49EBF9-1153-EFE4-BEC4-52DDC21899BD}"/>
              </a:ext>
            </a:extLst>
          </p:cNvPr>
          <p:cNvSpPr txBox="1"/>
          <p:nvPr/>
        </p:nvSpPr>
        <p:spPr>
          <a:xfrm>
            <a:off x="720524" y="5722178"/>
            <a:ext cx="10414322" cy="358944"/>
          </a:xfrm>
          <a:prstGeom prst="rect">
            <a:avLst/>
          </a:prstGeom>
          <a:noFill/>
        </p:spPr>
        <p:txBody>
          <a:bodyPr wrap="square">
            <a:spAutoFit/>
          </a:bodyPr>
          <a:lstStyle/>
          <a:p>
            <a:pPr>
              <a:lnSpc>
                <a:spcPts val="1425"/>
              </a:lnSpc>
              <a:buNone/>
            </a:pPr>
            <a:r>
              <a:rPr lang="fr-FR" sz="4000" b="0" dirty="0">
                <a:solidFill>
                  <a:schemeClr val="bg1"/>
                </a:solidFill>
                <a:effectLst/>
                <a:latin typeface="Consolas" panose="020B0609020204030204" pitchFamily="49" charset="0"/>
              </a:rPr>
              <a:t>Résumé : Ce qui est informationnel</a:t>
            </a:r>
          </a:p>
        </p:txBody>
      </p:sp>
      <p:grpSp>
        <p:nvGrpSpPr>
          <p:cNvPr id="9" name="Groupe 8">
            <a:extLst>
              <a:ext uri="{FF2B5EF4-FFF2-40B4-BE49-F238E27FC236}">
                <a16:creationId xmlns:a16="http://schemas.microsoft.com/office/drawing/2014/main" id="{6F005866-F32E-86A0-D5B5-FFEF2553915D}"/>
              </a:ext>
            </a:extLst>
          </p:cNvPr>
          <p:cNvGrpSpPr/>
          <p:nvPr/>
        </p:nvGrpSpPr>
        <p:grpSpPr>
          <a:xfrm>
            <a:off x="570053" y="1046054"/>
            <a:ext cx="9983164" cy="646331"/>
            <a:chOff x="570053" y="1046054"/>
            <a:chExt cx="9983164" cy="646331"/>
          </a:xfrm>
        </p:grpSpPr>
        <p:sp>
          <p:nvSpPr>
            <p:cNvPr id="6" name="ZoneTexte 5">
              <a:extLst>
                <a:ext uri="{FF2B5EF4-FFF2-40B4-BE49-F238E27FC236}">
                  <a16:creationId xmlns:a16="http://schemas.microsoft.com/office/drawing/2014/main" id="{3D6DB1AB-A9B0-FE13-262C-74D1AAA5481B}"/>
                </a:ext>
              </a:extLst>
            </p:cNvPr>
            <p:cNvSpPr txBox="1"/>
            <p:nvPr/>
          </p:nvSpPr>
          <p:spPr>
            <a:xfrm>
              <a:off x="4459147" y="1046054"/>
              <a:ext cx="6094070" cy="465897"/>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Plus la note d’évaluation précédente est basse, plus le risque de départ est élevé</a:t>
              </a:r>
            </a:p>
          </p:txBody>
        </p:sp>
        <p:sp>
          <p:nvSpPr>
            <p:cNvPr id="8" name="ZoneTexte 7">
              <a:extLst>
                <a:ext uri="{FF2B5EF4-FFF2-40B4-BE49-F238E27FC236}">
                  <a16:creationId xmlns:a16="http://schemas.microsoft.com/office/drawing/2014/main" id="{75074E18-6AAA-D8FE-2D72-0D03DEB0C6FF}"/>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b="0" dirty="0" err="1">
                  <a:solidFill>
                    <a:srgbClr val="A5D6FF"/>
                  </a:solidFill>
                  <a:effectLst/>
                  <a:latin typeface="Consolas" panose="020B0609020204030204" pitchFamily="49" charset="0"/>
                </a:rPr>
                <a:t>note_evaluation_precedente</a:t>
              </a:r>
              <a:endParaRPr lang="fr-FR" b="0" dirty="0">
                <a:solidFill>
                  <a:srgbClr val="BBBEBF"/>
                </a:solidFill>
                <a:effectLst/>
                <a:latin typeface="Consolas" panose="020B0609020204030204" pitchFamily="49" charset="0"/>
              </a:endParaRPr>
            </a:p>
          </p:txBody>
        </p:sp>
      </p:grpSp>
      <p:grpSp>
        <p:nvGrpSpPr>
          <p:cNvPr id="10" name="Groupe 9">
            <a:extLst>
              <a:ext uri="{FF2B5EF4-FFF2-40B4-BE49-F238E27FC236}">
                <a16:creationId xmlns:a16="http://schemas.microsoft.com/office/drawing/2014/main" id="{F4687695-3E2B-0C2F-B77E-61B40E60B899}"/>
              </a:ext>
            </a:extLst>
          </p:cNvPr>
          <p:cNvGrpSpPr/>
          <p:nvPr/>
        </p:nvGrpSpPr>
        <p:grpSpPr>
          <a:xfrm>
            <a:off x="570053" y="3175224"/>
            <a:ext cx="9983164" cy="723275"/>
            <a:chOff x="570053" y="1046054"/>
            <a:chExt cx="9983164" cy="723275"/>
          </a:xfrm>
        </p:grpSpPr>
        <p:sp>
          <p:nvSpPr>
            <p:cNvPr id="11" name="ZoneTexte 10">
              <a:extLst>
                <a:ext uri="{FF2B5EF4-FFF2-40B4-BE49-F238E27FC236}">
                  <a16:creationId xmlns:a16="http://schemas.microsoft.com/office/drawing/2014/main" id="{54E8E62A-CBEE-BA1D-035D-024EAF15873E}"/>
                </a:ext>
              </a:extLst>
            </p:cNvPr>
            <p:cNvSpPr txBox="1"/>
            <p:nvPr/>
          </p:nvSpPr>
          <p:spPr>
            <a:xfrm>
              <a:off x="4459147" y="1046054"/>
              <a:ext cx="6094070" cy="723275"/>
            </a:xfrm>
            <a:prstGeom prst="rect">
              <a:avLst/>
            </a:prstGeom>
            <a:noFill/>
          </p:spPr>
          <p:txBody>
            <a:bodyPr wrap="square">
              <a:spAutoFit/>
            </a:bodyPr>
            <a:lstStyle/>
            <a:p>
              <a:pPr algn="just">
                <a:spcAft>
                  <a:spcPts val="600"/>
                </a:spcAft>
                <a:buNone/>
              </a:pPr>
              <a:r>
                <a:rPr lang="fr-FR" dirty="0">
                  <a:solidFill>
                    <a:srgbClr val="8B949E"/>
                  </a:solidFill>
                  <a:latin typeface="Aptos Display" panose="020B0004020202020204" pitchFamily="34" charset="0"/>
                </a:rPr>
                <a:t>Les postes les plus touchés sont dans l’ordre:</a:t>
              </a:r>
            </a:p>
            <a:p>
              <a:pPr algn="just">
                <a:spcAft>
                  <a:spcPts val="600"/>
                </a:spcAft>
                <a:buNone/>
              </a:pPr>
              <a:r>
                <a:rPr lang="fr-FR" dirty="0">
                  <a:solidFill>
                    <a:srgbClr val="8B949E"/>
                  </a:solidFill>
                  <a:latin typeface="Aptos Display" panose="020B0004020202020204" pitchFamily="34" charset="0"/>
                </a:rPr>
                <a:t>Représentant Commercial &gt; Consultant &gt; Ressource Humaines</a:t>
              </a:r>
              <a:endParaRPr lang="fr-FR" dirty="0">
                <a:solidFill>
                  <a:srgbClr val="BBBEBF"/>
                </a:solidFill>
                <a:latin typeface="Aptos Display" panose="020B0004020202020204" pitchFamily="34" charset="0"/>
              </a:endParaRPr>
            </a:p>
          </p:txBody>
        </p:sp>
        <p:sp>
          <p:nvSpPr>
            <p:cNvPr id="12" name="ZoneTexte 11">
              <a:extLst>
                <a:ext uri="{FF2B5EF4-FFF2-40B4-BE49-F238E27FC236}">
                  <a16:creationId xmlns:a16="http://schemas.microsoft.com/office/drawing/2014/main" id="{8547F30A-EC56-2953-8C3F-FCCA25C275D3}"/>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dirty="0">
                  <a:solidFill>
                    <a:srgbClr val="A5D6FF"/>
                  </a:solidFill>
                  <a:latin typeface="Consolas" panose="020B0609020204030204" pitchFamily="49" charset="0"/>
                </a:rPr>
                <a:t>poste</a:t>
              </a:r>
            </a:p>
          </p:txBody>
        </p:sp>
      </p:grpSp>
      <p:grpSp>
        <p:nvGrpSpPr>
          <p:cNvPr id="13" name="Groupe 12">
            <a:extLst>
              <a:ext uri="{FF2B5EF4-FFF2-40B4-BE49-F238E27FC236}">
                <a16:creationId xmlns:a16="http://schemas.microsoft.com/office/drawing/2014/main" id="{3F785AAD-8EB7-16F2-48D8-01987803A361}"/>
              </a:ext>
            </a:extLst>
          </p:cNvPr>
          <p:cNvGrpSpPr/>
          <p:nvPr/>
        </p:nvGrpSpPr>
        <p:grpSpPr>
          <a:xfrm>
            <a:off x="570053" y="2110639"/>
            <a:ext cx="9983164" cy="376128"/>
            <a:chOff x="570053" y="1046054"/>
            <a:chExt cx="9983164" cy="376128"/>
          </a:xfrm>
        </p:grpSpPr>
        <p:sp>
          <p:nvSpPr>
            <p:cNvPr id="14" name="ZoneTexte 13">
              <a:extLst>
                <a:ext uri="{FF2B5EF4-FFF2-40B4-BE49-F238E27FC236}">
                  <a16:creationId xmlns:a16="http://schemas.microsoft.com/office/drawing/2014/main" id="{84B171F4-F09E-A4B6-CE72-0339ACBFDB3E}"/>
                </a:ext>
              </a:extLst>
            </p:cNvPr>
            <p:cNvSpPr txBox="1"/>
            <p:nvPr/>
          </p:nvSpPr>
          <p:spPr>
            <a:xfrm>
              <a:off x="4459147" y="1046054"/>
              <a:ext cx="6094070" cy="465897"/>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Plus le salaire est bas, plus le risque de départ est élevé</a:t>
              </a:r>
            </a:p>
          </p:txBody>
        </p:sp>
        <p:sp>
          <p:nvSpPr>
            <p:cNvPr id="15" name="ZoneTexte 14">
              <a:extLst>
                <a:ext uri="{FF2B5EF4-FFF2-40B4-BE49-F238E27FC236}">
                  <a16:creationId xmlns:a16="http://schemas.microsoft.com/office/drawing/2014/main" id="{BEB75898-5F78-B950-1197-46B00326D239}"/>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b="0" dirty="0" err="1">
                  <a:solidFill>
                    <a:srgbClr val="A5D6FF"/>
                  </a:solidFill>
                  <a:effectLst/>
                  <a:latin typeface="Consolas" panose="020B0609020204030204" pitchFamily="49" charset="0"/>
                </a:rPr>
                <a:t>revenu_mensuel</a:t>
              </a:r>
              <a:endParaRPr lang="fr-FR" b="0" dirty="0">
                <a:solidFill>
                  <a:srgbClr val="BBBEBF"/>
                </a:solidFill>
                <a:effectLst/>
                <a:latin typeface="Consolas" panose="020B0609020204030204" pitchFamily="49" charset="0"/>
              </a:endParaRPr>
            </a:p>
          </p:txBody>
        </p:sp>
      </p:grpSp>
    </p:spTree>
    <p:extLst>
      <p:ext uri="{BB962C8B-B14F-4D97-AF65-F5344CB8AC3E}">
        <p14:creationId xmlns:p14="http://schemas.microsoft.com/office/powerpoint/2010/main" val="35958184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E079C7-CAAC-ABA0-9C2E-292B1B88BC6D}"/>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6C0E10E6-18DF-DA30-FA4F-765014E12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2167DC30-6603-D6A9-AF6D-26E7F7344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3" name="ZoneTexte 2">
            <a:extLst>
              <a:ext uri="{FF2B5EF4-FFF2-40B4-BE49-F238E27FC236}">
                <a16:creationId xmlns:a16="http://schemas.microsoft.com/office/drawing/2014/main" id="{5A91C777-3DBC-B352-545E-C3A82B420110}"/>
              </a:ext>
            </a:extLst>
          </p:cNvPr>
          <p:cNvSpPr txBox="1"/>
          <p:nvPr/>
        </p:nvSpPr>
        <p:spPr>
          <a:xfrm>
            <a:off x="720524" y="5722178"/>
            <a:ext cx="10414322" cy="345736"/>
          </a:xfrm>
          <a:prstGeom prst="rect">
            <a:avLst/>
          </a:prstGeom>
          <a:noFill/>
        </p:spPr>
        <p:txBody>
          <a:bodyPr wrap="square">
            <a:spAutoFit/>
          </a:bodyPr>
          <a:lstStyle/>
          <a:p>
            <a:pPr>
              <a:lnSpc>
                <a:spcPts val="1425"/>
              </a:lnSpc>
              <a:buNone/>
            </a:pPr>
            <a:r>
              <a:rPr lang="fr-FR" sz="3600" b="0" dirty="0">
                <a:solidFill>
                  <a:schemeClr val="bg1"/>
                </a:solidFill>
                <a:effectLst/>
                <a:latin typeface="Consolas" panose="020B0609020204030204" pitchFamily="49" charset="0"/>
              </a:rPr>
              <a:t>Résumé : Ce qui n’est pas informationnel</a:t>
            </a:r>
          </a:p>
        </p:txBody>
      </p:sp>
      <p:grpSp>
        <p:nvGrpSpPr>
          <p:cNvPr id="9" name="Groupe 8">
            <a:extLst>
              <a:ext uri="{FF2B5EF4-FFF2-40B4-BE49-F238E27FC236}">
                <a16:creationId xmlns:a16="http://schemas.microsoft.com/office/drawing/2014/main" id="{09A90A57-6F55-27EA-233A-ABDE34D39E63}"/>
              </a:ext>
            </a:extLst>
          </p:cNvPr>
          <p:cNvGrpSpPr/>
          <p:nvPr/>
        </p:nvGrpSpPr>
        <p:grpSpPr>
          <a:xfrm>
            <a:off x="570053" y="1046054"/>
            <a:ext cx="9983164" cy="376128"/>
            <a:chOff x="570053" y="1046054"/>
            <a:chExt cx="9983164" cy="376128"/>
          </a:xfrm>
        </p:grpSpPr>
        <p:sp>
          <p:nvSpPr>
            <p:cNvPr id="6" name="ZoneTexte 5">
              <a:extLst>
                <a:ext uri="{FF2B5EF4-FFF2-40B4-BE49-F238E27FC236}">
                  <a16:creationId xmlns:a16="http://schemas.microsoft.com/office/drawing/2014/main" id="{DC079311-C1CF-A116-2FCA-169246764427}"/>
                </a:ext>
              </a:extLst>
            </p:cNvPr>
            <p:cNvSpPr txBox="1"/>
            <p:nvPr/>
          </p:nvSpPr>
          <p:spPr>
            <a:xfrm>
              <a:off x="4459147" y="1046054"/>
              <a:ext cx="6094070" cy="369332"/>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Ne joue quasiment aucun rôle dans le départ (:= 3 ou 4)</a:t>
              </a:r>
            </a:p>
          </p:txBody>
        </p:sp>
        <p:sp>
          <p:nvSpPr>
            <p:cNvPr id="8" name="ZoneTexte 7">
              <a:extLst>
                <a:ext uri="{FF2B5EF4-FFF2-40B4-BE49-F238E27FC236}">
                  <a16:creationId xmlns:a16="http://schemas.microsoft.com/office/drawing/2014/main" id="{6BBE3F4F-EA87-FE89-67BD-85B0370E261C}"/>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b="0" dirty="0" err="1">
                  <a:solidFill>
                    <a:srgbClr val="A5D6FF"/>
                  </a:solidFill>
                  <a:effectLst/>
                  <a:latin typeface="Consolas" panose="020B0609020204030204" pitchFamily="49" charset="0"/>
                </a:rPr>
                <a:t>note_evaluation_actuelle</a:t>
              </a:r>
              <a:endParaRPr lang="fr-FR" b="0" dirty="0">
                <a:solidFill>
                  <a:srgbClr val="BBBEBF"/>
                </a:solidFill>
                <a:effectLst/>
                <a:latin typeface="Consolas" panose="020B0609020204030204" pitchFamily="49" charset="0"/>
              </a:endParaRPr>
            </a:p>
          </p:txBody>
        </p:sp>
      </p:grpSp>
    </p:spTree>
    <p:extLst>
      <p:ext uri="{BB962C8B-B14F-4D97-AF65-F5344CB8AC3E}">
        <p14:creationId xmlns:p14="http://schemas.microsoft.com/office/powerpoint/2010/main" val="19130831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F3E11-ED94-D696-49DC-D6D86359C47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EED92C9-18E7-2FA7-77E2-86A8DF96C80A}"/>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AJUSTEMENTS</a:t>
            </a:r>
          </a:p>
        </p:txBody>
      </p:sp>
    </p:spTree>
    <p:extLst>
      <p:ext uri="{BB962C8B-B14F-4D97-AF65-F5344CB8AC3E}">
        <p14:creationId xmlns:p14="http://schemas.microsoft.com/office/powerpoint/2010/main" val="40381568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597975-877A-82B7-07A6-8C93B8944945}"/>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111E46-FEA6-2792-7AA9-5F92BBA0AD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05712EDB-76B2-66F1-8D1D-70703CBF7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3" name="ZoneTexte 2">
            <a:extLst>
              <a:ext uri="{FF2B5EF4-FFF2-40B4-BE49-F238E27FC236}">
                <a16:creationId xmlns:a16="http://schemas.microsoft.com/office/drawing/2014/main" id="{53A3588E-2787-1CCC-EA4A-500974939767}"/>
              </a:ext>
            </a:extLst>
          </p:cNvPr>
          <p:cNvSpPr txBox="1"/>
          <p:nvPr/>
        </p:nvSpPr>
        <p:spPr>
          <a:xfrm>
            <a:off x="720524" y="5722178"/>
            <a:ext cx="10414322" cy="358944"/>
          </a:xfrm>
          <a:prstGeom prst="rect">
            <a:avLst/>
          </a:prstGeom>
          <a:noFill/>
        </p:spPr>
        <p:txBody>
          <a:bodyPr wrap="square">
            <a:spAutoFit/>
          </a:bodyPr>
          <a:lstStyle/>
          <a:p>
            <a:pPr>
              <a:lnSpc>
                <a:spcPts val="1425"/>
              </a:lnSpc>
              <a:buNone/>
            </a:pPr>
            <a:r>
              <a:rPr lang="fr-FR" sz="4000" b="0" dirty="0">
                <a:solidFill>
                  <a:schemeClr val="bg1"/>
                </a:solidFill>
                <a:effectLst/>
                <a:latin typeface="Consolas" panose="020B0609020204030204" pitchFamily="49" charset="0"/>
              </a:rPr>
              <a:t>Ce qui a changé dans le </a:t>
            </a:r>
            <a:r>
              <a:rPr lang="fr-FR" sz="4000" b="0" dirty="0" err="1">
                <a:solidFill>
                  <a:schemeClr val="bg1"/>
                </a:solidFill>
                <a:effectLst/>
                <a:latin typeface="Consolas" panose="020B0609020204030204" pitchFamily="49" charset="0"/>
              </a:rPr>
              <a:t>dataset</a:t>
            </a:r>
            <a:endParaRPr lang="fr-FR" sz="4000" b="0" dirty="0">
              <a:solidFill>
                <a:schemeClr val="bg1"/>
              </a:solidFill>
              <a:effectLst/>
              <a:latin typeface="Consolas" panose="020B0609020204030204" pitchFamily="49" charset="0"/>
            </a:endParaRPr>
          </a:p>
        </p:txBody>
      </p:sp>
      <p:grpSp>
        <p:nvGrpSpPr>
          <p:cNvPr id="9" name="Groupe 8">
            <a:extLst>
              <a:ext uri="{FF2B5EF4-FFF2-40B4-BE49-F238E27FC236}">
                <a16:creationId xmlns:a16="http://schemas.microsoft.com/office/drawing/2014/main" id="{A048F830-8EF9-B728-F11D-10B64C6FCBA6}"/>
              </a:ext>
            </a:extLst>
          </p:cNvPr>
          <p:cNvGrpSpPr/>
          <p:nvPr/>
        </p:nvGrpSpPr>
        <p:grpSpPr>
          <a:xfrm>
            <a:off x="720524" y="3520381"/>
            <a:ext cx="9983164" cy="376128"/>
            <a:chOff x="570053" y="1046054"/>
            <a:chExt cx="9983164" cy="376128"/>
          </a:xfrm>
        </p:grpSpPr>
        <p:sp>
          <p:nvSpPr>
            <p:cNvPr id="6" name="ZoneTexte 5">
              <a:extLst>
                <a:ext uri="{FF2B5EF4-FFF2-40B4-BE49-F238E27FC236}">
                  <a16:creationId xmlns:a16="http://schemas.microsoft.com/office/drawing/2014/main" id="{D1475EF6-9DA3-C9AB-2081-F65DCBA92B27}"/>
                </a:ext>
              </a:extLst>
            </p:cNvPr>
            <p:cNvSpPr txBox="1"/>
            <p:nvPr/>
          </p:nvSpPr>
          <p:spPr>
            <a:xfrm>
              <a:off x="4459147" y="1046054"/>
              <a:ext cx="6094070" cy="369332"/>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Supprimé car inutiles</a:t>
              </a:r>
            </a:p>
          </p:txBody>
        </p:sp>
        <p:sp>
          <p:nvSpPr>
            <p:cNvPr id="8" name="ZoneTexte 7">
              <a:extLst>
                <a:ext uri="{FF2B5EF4-FFF2-40B4-BE49-F238E27FC236}">
                  <a16:creationId xmlns:a16="http://schemas.microsoft.com/office/drawing/2014/main" id="{96B432FC-C71A-F510-41D4-270C9D449F74}"/>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dirty="0">
                  <a:solidFill>
                    <a:srgbClr val="A5D6FF"/>
                  </a:solidFill>
                  <a:latin typeface="Consolas" panose="020B0609020204030204" pitchFamily="49" charset="0"/>
                </a:rPr>
                <a:t>ID et Valeurs constantes</a:t>
              </a:r>
              <a:endParaRPr lang="fr-FR" dirty="0">
                <a:solidFill>
                  <a:srgbClr val="BBBEBF"/>
                </a:solidFill>
                <a:latin typeface="Consolas" panose="020B0609020204030204" pitchFamily="49" charset="0"/>
              </a:endParaRPr>
            </a:p>
          </p:txBody>
        </p:sp>
      </p:grpSp>
      <p:grpSp>
        <p:nvGrpSpPr>
          <p:cNvPr id="13" name="Groupe 12">
            <a:extLst>
              <a:ext uri="{FF2B5EF4-FFF2-40B4-BE49-F238E27FC236}">
                <a16:creationId xmlns:a16="http://schemas.microsoft.com/office/drawing/2014/main" id="{5CF545D0-CB1B-F13E-5097-481AD7106260}"/>
              </a:ext>
            </a:extLst>
          </p:cNvPr>
          <p:cNvGrpSpPr/>
          <p:nvPr/>
        </p:nvGrpSpPr>
        <p:grpSpPr>
          <a:xfrm>
            <a:off x="720524" y="2224316"/>
            <a:ext cx="9983164" cy="646331"/>
            <a:chOff x="570053" y="1046054"/>
            <a:chExt cx="9983164" cy="646331"/>
          </a:xfrm>
        </p:grpSpPr>
        <p:sp>
          <p:nvSpPr>
            <p:cNvPr id="14" name="ZoneTexte 13">
              <a:extLst>
                <a:ext uri="{FF2B5EF4-FFF2-40B4-BE49-F238E27FC236}">
                  <a16:creationId xmlns:a16="http://schemas.microsoft.com/office/drawing/2014/main" id="{64F3656A-A7D5-2F1C-426E-1E5C3A8A9A70}"/>
                </a:ext>
              </a:extLst>
            </p:cNvPr>
            <p:cNvSpPr txBox="1"/>
            <p:nvPr/>
          </p:nvSpPr>
          <p:spPr>
            <a:xfrm>
              <a:off x="4459147" y="1046054"/>
              <a:ext cx="6094070" cy="646331"/>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Conserver uniquement la tranche la plus représentative des salaires pour éviter un biais: salaire bas = démission</a:t>
              </a:r>
            </a:p>
          </p:txBody>
        </p:sp>
        <p:sp>
          <p:nvSpPr>
            <p:cNvPr id="15" name="ZoneTexte 14">
              <a:extLst>
                <a:ext uri="{FF2B5EF4-FFF2-40B4-BE49-F238E27FC236}">
                  <a16:creationId xmlns:a16="http://schemas.microsoft.com/office/drawing/2014/main" id="{E31FF213-4A54-4341-730D-6C22147F639B}"/>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b="0" dirty="0" err="1">
                  <a:solidFill>
                    <a:srgbClr val="A5D6FF"/>
                  </a:solidFill>
                  <a:effectLst/>
                  <a:latin typeface="Consolas" panose="020B0609020204030204" pitchFamily="49" charset="0"/>
                </a:rPr>
                <a:t>revenu_mensuel</a:t>
              </a:r>
              <a:endParaRPr lang="fr-FR" b="0" dirty="0">
                <a:solidFill>
                  <a:srgbClr val="BBBEBF"/>
                </a:solidFill>
                <a:effectLst/>
                <a:latin typeface="Consolas" panose="020B0609020204030204" pitchFamily="49" charset="0"/>
              </a:endParaRPr>
            </a:p>
          </p:txBody>
        </p:sp>
      </p:grpSp>
      <p:grpSp>
        <p:nvGrpSpPr>
          <p:cNvPr id="2" name="Groupe 1">
            <a:extLst>
              <a:ext uri="{FF2B5EF4-FFF2-40B4-BE49-F238E27FC236}">
                <a16:creationId xmlns:a16="http://schemas.microsoft.com/office/drawing/2014/main" id="{25D8B79E-B236-80BE-EE13-B6AA2CE93EA3}"/>
              </a:ext>
            </a:extLst>
          </p:cNvPr>
          <p:cNvGrpSpPr/>
          <p:nvPr/>
        </p:nvGrpSpPr>
        <p:grpSpPr>
          <a:xfrm>
            <a:off x="722453" y="1198454"/>
            <a:ext cx="9983164" cy="376128"/>
            <a:chOff x="570053" y="1046054"/>
            <a:chExt cx="9983164" cy="376128"/>
          </a:xfrm>
        </p:grpSpPr>
        <p:sp>
          <p:nvSpPr>
            <p:cNvPr id="4" name="ZoneTexte 3">
              <a:extLst>
                <a:ext uri="{FF2B5EF4-FFF2-40B4-BE49-F238E27FC236}">
                  <a16:creationId xmlns:a16="http://schemas.microsoft.com/office/drawing/2014/main" id="{73D93538-A197-889B-6286-CD785E8E48D1}"/>
                </a:ext>
              </a:extLst>
            </p:cNvPr>
            <p:cNvSpPr txBox="1"/>
            <p:nvPr/>
          </p:nvSpPr>
          <p:spPr>
            <a:xfrm>
              <a:off x="4459147" y="1046054"/>
              <a:ext cx="6094070" cy="369332"/>
            </a:xfrm>
            <a:prstGeom prst="rect">
              <a:avLst/>
            </a:prstGeom>
            <a:noFill/>
          </p:spPr>
          <p:txBody>
            <a:bodyPr wrap="square">
              <a:spAutoFit/>
            </a:bodyPr>
            <a:lstStyle>
              <a:defPPr rtl="0">
                <a:defRPr lang="fr-FR"/>
              </a:defPPr>
              <a:lvl1pPr>
                <a:spcAft>
                  <a:spcPts val="600"/>
                </a:spcAft>
                <a:buNone/>
                <a:defRPr>
                  <a:solidFill>
                    <a:srgbClr val="8B949E"/>
                  </a:solidFill>
                  <a:latin typeface="Aptos Display" panose="020B0004020202020204" pitchFamily="34" charset="0"/>
                </a:defRPr>
              </a:lvl1pPr>
            </a:lstStyle>
            <a:p>
              <a:pPr algn="just"/>
              <a:r>
                <a:rPr lang="fr-FR" dirty="0"/>
                <a:t>Supprimé car non informative</a:t>
              </a:r>
            </a:p>
          </p:txBody>
        </p:sp>
        <p:sp>
          <p:nvSpPr>
            <p:cNvPr id="5" name="ZoneTexte 4">
              <a:extLst>
                <a:ext uri="{FF2B5EF4-FFF2-40B4-BE49-F238E27FC236}">
                  <a16:creationId xmlns:a16="http://schemas.microsoft.com/office/drawing/2014/main" id="{EAE6C91A-29F8-AD62-12E3-5372492F79E0}"/>
                </a:ext>
              </a:extLst>
            </p:cNvPr>
            <p:cNvSpPr txBox="1"/>
            <p:nvPr/>
          </p:nvSpPr>
          <p:spPr>
            <a:xfrm>
              <a:off x="570053" y="1135822"/>
              <a:ext cx="3538960" cy="286360"/>
            </a:xfrm>
            <a:prstGeom prst="rect">
              <a:avLst/>
            </a:prstGeom>
            <a:noFill/>
          </p:spPr>
          <p:txBody>
            <a:bodyPr wrap="square">
              <a:spAutoFit/>
            </a:bodyPr>
            <a:lstStyle/>
            <a:p>
              <a:pPr>
                <a:lnSpc>
                  <a:spcPts val="1425"/>
                </a:lnSpc>
                <a:buNone/>
              </a:pPr>
              <a:r>
                <a:rPr lang="fr-FR" dirty="0" err="1">
                  <a:solidFill>
                    <a:srgbClr val="A5D6FF"/>
                  </a:solidFill>
                  <a:latin typeface="Consolas" panose="020B0609020204030204" pitchFamily="49" charset="0"/>
                </a:rPr>
                <a:t>note_evaluation_actuelle</a:t>
              </a:r>
              <a:endParaRPr lang="fr-FR" dirty="0">
                <a:solidFill>
                  <a:srgbClr val="BBBEBF"/>
                </a:solidFill>
                <a:latin typeface="Consolas" panose="020B0609020204030204" pitchFamily="49" charset="0"/>
              </a:endParaRPr>
            </a:p>
          </p:txBody>
        </p:sp>
      </p:grpSp>
    </p:spTree>
    <p:extLst>
      <p:ext uri="{BB962C8B-B14F-4D97-AF65-F5344CB8AC3E}">
        <p14:creationId xmlns:p14="http://schemas.microsoft.com/office/powerpoint/2010/main" val="13242730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B5D0B1-E2B1-616D-4FA7-5573B8FFE713}"/>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F9DE0B40-C411-FE98-F183-AA8E304C53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6A1623DB-45A9-6A60-EE4C-B7B2BCDD9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pic>
        <p:nvPicPr>
          <p:cNvPr id="3" name="Image 2">
            <a:extLst>
              <a:ext uri="{FF2B5EF4-FFF2-40B4-BE49-F238E27FC236}">
                <a16:creationId xmlns:a16="http://schemas.microsoft.com/office/drawing/2014/main" id="{C502124D-622B-CDB5-1B56-102A7C641356}"/>
              </a:ext>
            </a:extLst>
          </p:cNvPr>
          <p:cNvPicPr>
            <a:picLocks noChangeAspect="1"/>
          </p:cNvPicPr>
          <p:nvPr/>
        </p:nvPicPr>
        <p:blipFill>
          <a:blip r:embed="rId3"/>
          <a:stretch>
            <a:fillRect/>
          </a:stretch>
        </p:blipFill>
        <p:spPr>
          <a:xfrm>
            <a:off x="2152898" y="763073"/>
            <a:ext cx="7880698" cy="5558215"/>
          </a:xfrm>
          <a:prstGeom prst="rect">
            <a:avLst/>
          </a:prstGeom>
        </p:spPr>
      </p:pic>
      <p:sp>
        <p:nvSpPr>
          <p:cNvPr id="6" name="ZoneTexte 5">
            <a:extLst>
              <a:ext uri="{FF2B5EF4-FFF2-40B4-BE49-F238E27FC236}">
                <a16:creationId xmlns:a16="http://schemas.microsoft.com/office/drawing/2014/main" id="{865D229F-A2E6-827E-343A-73C70EA34DFB}"/>
              </a:ext>
            </a:extLst>
          </p:cNvPr>
          <p:cNvSpPr txBox="1"/>
          <p:nvPr/>
        </p:nvSpPr>
        <p:spPr>
          <a:xfrm rot="16200000">
            <a:off x="72158" y="2307930"/>
            <a:ext cx="3380672" cy="461665"/>
          </a:xfrm>
          <a:prstGeom prst="rect">
            <a:avLst/>
          </a:prstGeom>
          <a:noFill/>
        </p:spPr>
        <p:txBody>
          <a:bodyPr wrap="square">
            <a:spAutoFit/>
          </a:bodyPr>
          <a:lstStyle/>
          <a:p>
            <a:pPr algn="ctr"/>
            <a:r>
              <a:rPr lang="fr-FR" sz="2400" b="1" kern="1200" dirty="0">
                <a:solidFill>
                  <a:schemeClr val="tx1"/>
                </a:solidFill>
                <a:effectLst/>
                <a:latin typeface="+mn-lt"/>
                <a:ea typeface="+mn-ea"/>
                <a:cs typeface="+mn-cs"/>
              </a:rPr>
              <a:t>a_quitte_l_entreprise </a:t>
            </a:r>
            <a:endParaRPr lang="fr-FR" sz="2400" dirty="0"/>
          </a:p>
        </p:txBody>
      </p:sp>
      <p:sp>
        <p:nvSpPr>
          <p:cNvPr id="8" name="ZoneTexte 7">
            <a:extLst>
              <a:ext uri="{FF2B5EF4-FFF2-40B4-BE49-F238E27FC236}">
                <a16:creationId xmlns:a16="http://schemas.microsoft.com/office/drawing/2014/main" id="{FD22F2AE-D3C8-AC03-DC9D-0DC991459875}"/>
              </a:ext>
            </a:extLst>
          </p:cNvPr>
          <p:cNvSpPr txBox="1"/>
          <p:nvPr/>
        </p:nvSpPr>
        <p:spPr>
          <a:xfrm>
            <a:off x="10033596" y="2350818"/>
            <a:ext cx="2025053" cy="307777"/>
          </a:xfrm>
          <a:prstGeom prst="rect">
            <a:avLst/>
          </a:prstGeom>
          <a:noFill/>
        </p:spPr>
        <p:txBody>
          <a:bodyPr wrap="square">
            <a:spAutoFit/>
          </a:bodyPr>
          <a:lstStyle/>
          <a:p>
            <a:r>
              <a:rPr lang="fr-FR" sz="1400" dirty="0"/>
              <a:t>0,0: Pas de relation</a:t>
            </a:r>
          </a:p>
        </p:txBody>
      </p:sp>
      <p:sp>
        <p:nvSpPr>
          <p:cNvPr id="10" name="ZoneTexte 9">
            <a:extLst>
              <a:ext uri="{FF2B5EF4-FFF2-40B4-BE49-F238E27FC236}">
                <a16:creationId xmlns:a16="http://schemas.microsoft.com/office/drawing/2014/main" id="{3844A915-4D18-08C2-D50F-C6AA492CE5D7}"/>
              </a:ext>
            </a:extLst>
          </p:cNvPr>
          <p:cNvSpPr txBox="1"/>
          <p:nvPr/>
        </p:nvSpPr>
        <p:spPr>
          <a:xfrm>
            <a:off x="10033596" y="848426"/>
            <a:ext cx="2134748" cy="307777"/>
          </a:xfrm>
          <a:prstGeom prst="rect">
            <a:avLst/>
          </a:prstGeom>
          <a:noFill/>
        </p:spPr>
        <p:txBody>
          <a:bodyPr wrap="square">
            <a:spAutoFit/>
          </a:bodyPr>
          <a:lstStyle/>
          <a:p>
            <a:r>
              <a:rPr lang="fr-FR" sz="1400" dirty="0"/>
              <a:t>1,0: Relation forte</a:t>
            </a:r>
          </a:p>
        </p:txBody>
      </p:sp>
      <p:sp>
        <p:nvSpPr>
          <p:cNvPr id="11" name="ZoneTexte 10">
            <a:extLst>
              <a:ext uri="{FF2B5EF4-FFF2-40B4-BE49-F238E27FC236}">
                <a16:creationId xmlns:a16="http://schemas.microsoft.com/office/drawing/2014/main" id="{3DE8CE3A-15E2-2076-E73B-34235D28173C}"/>
              </a:ext>
            </a:extLst>
          </p:cNvPr>
          <p:cNvSpPr txBox="1"/>
          <p:nvPr/>
        </p:nvSpPr>
        <p:spPr>
          <a:xfrm>
            <a:off x="10033596" y="1599622"/>
            <a:ext cx="2134748" cy="307777"/>
          </a:xfrm>
          <a:prstGeom prst="rect">
            <a:avLst/>
          </a:prstGeom>
          <a:noFill/>
        </p:spPr>
        <p:txBody>
          <a:bodyPr wrap="square">
            <a:spAutoFit/>
          </a:bodyPr>
          <a:lstStyle/>
          <a:p>
            <a:r>
              <a:rPr lang="fr-FR" sz="1400" dirty="0"/>
              <a:t>0,5: Relation modéré</a:t>
            </a:r>
          </a:p>
        </p:txBody>
      </p:sp>
      <p:sp>
        <p:nvSpPr>
          <p:cNvPr id="12" name="ZoneTexte 11">
            <a:extLst>
              <a:ext uri="{FF2B5EF4-FFF2-40B4-BE49-F238E27FC236}">
                <a16:creationId xmlns:a16="http://schemas.microsoft.com/office/drawing/2014/main" id="{2B69950D-5E7B-1F5F-310D-8F8D9A21EFAA}"/>
              </a:ext>
            </a:extLst>
          </p:cNvPr>
          <p:cNvSpPr txBox="1"/>
          <p:nvPr/>
        </p:nvSpPr>
        <p:spPr>
          <a:xfrm>
            <a:off x="10033596" y="3853212"/>
            <a:ext cx="2025052" cy="307777"/>
          </a:xfrm>
          <a:prstGeom prst="rect">
            <a:avLst/>
          </a:prstGeom>
          <a:noFill/>
        </p:spPr>
        <p:txBody>
          <a:bodyPr wrap="square">
            <a:spAutoFit/>
          </a:bodyPr>
          <a:lstStyle/>
          <a:p>
            <a:r>
              <a:rPr lang="fr-FR" sz="1400" dirty="0"/>
              <a:t>1,0: Relation forte</a:t>
            </a:r>
          </a:p>
        </p:txBody>
      </p:sp>
      <p:sp>
        <p:nvSpPr>
          <p:cNvPr id="13" name="ZoneTexte 12">
            <a:extLst>
              <a:ext uri="{FF2B5EF4-FFF2-40B4-BE49-F238E27FC236}">
                <a16:creationId xmlns:a16="http://schemas.microsoft.com/office/drawing/2014/main" id="{133BE4DB-0718-9300-51A2-156A987D08F3}"/>
              </a:ext>
            </a:extLst>
          </p:cNvPr>
          <p:cNvSpPr txBox="1"/>
          <p:nvPr/>
        </p:nvSpPr>
        <p:spPr>
          <a:xfrm>
            <a:off x="10033596" y="3102014"/>
            <a:ext cx="2134748" cy="307777"/>
          </a:xfrm>
          <a:prstGeom prst="rect">
            <a:avLst/>
          </a:prstGeom>
          <a:noFill/>
        </p:spPr>
        <p:txBody>
          <a:bodyPr wrap="square">
            <a:spAutoFit/>
          </a:bodyPr>
          <a:lstStyle/>
          <a:p>
            <a:r>
              <a:rPr lang="fr-FR" sz="1400" dirty="0"/>
              <a:t>0,5: Relation modéré</a:t>
            </a:r>
          </a:p>
        </p:txBody>
      </p:sp>
    </p:spTree>
    <p:extLst>
      <p:ext uri="{BB962C8B-B14F-4D97-AF65-F5344CB8AC3E}">
        <p14:creationId xmlns:p14="http://schemas.microsoft.com/office/powerpoint/2010/main" val="24691232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0221-61E4-AC57-328E-5EA5E6AB02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30140A4-BA1D-0E26-385C-9397C6B65DBA}"/>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MODELISATION</a:t>
            </a:r>
          </a:p>
        </p:txBody>
      </p:sp>
    </p:spTree>
    <p:extLst>
      <p:ext uri="{BB962C8B-B14F-4D97-AF65-F5344CB8AC3E}">
        <p14:creationId xmlns:p14="http://schemas.microsoft.com/office/powerpoint/2010/main" val="23631523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AA5AE-DB34-F3A1-A66B-1E447C178DE6}"/>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3CDB381B-A893-3C1E-2875-08AE6CA4E5D2}"/>
              </a:ext>
            </a:extLst>
          </p:cNvPr>
          <p:cNvSpPr>
            <a:spLocks noGrp="1"/>
          </p:cNvSpPr>
          <p:nvPr>
            <p:ph type="title"/>
          </p:nvPr>
        </p:nvSpPr>
        <p:spPr/>
        <p:txBody>
          <a:bodyPr/>
          <a:lstStyle/>
          <a:p>
            <a:r>
              <a:rPr lang="fr-FR" b="1" dirty="0"/>
              <a:t>3 Modèles</a:t>
            </a:r>
            <a:br>
              <a:rPr lang="fr-FR" dirty="0"/>
            </a:br>
            <a:endParaRPr lang="fr-FR" dirty="0"/>
          </a:p>
        </p:txBody>
      </p:sp>
      <p:sp>
        <p:nvSpPr>
          <p:cNvPr id="15" name="ZoneTexte 14">
            <a:extLst>
              <a:ext uri="{FF2B5EF4-FFF2-40B4-BE49-F238E27FC236}">
                <a16:creationId xmlns:a16="http://schemas.microsoft.com/office/drawing/2014/main" id="{F232812D-146C-DD71-28AC-9A2687D1AF94}"/>
              </a:ext>
            </a:extLst>
          </p:cNvPr>
          <p:cNvSpPr txBox="1"/>
          <p:nvPr/>
        </p:nvSpPr>
        <p:spPr>
          <a:xfrm>
            <a:off x="2124276" y="3097899"/>
            <a:ext cx="7943448" cy="2210701"/>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571500" lvl="0" indent="-571500" defTabSz="1600200">
              <a:lnSpc>
                <a:spcPct val="90000"/>
              </a:lnSpc>
              <a:spcBef>
                <a:spcPct val="0"/>
              </a:spcBef>
              <a:spcAft>
                <a:spcPct val="35000"/>
              </a:spcAft>
              <a:buFont typeface="Arial" panose="020B0604020202020204" pitchFamily="34" charset="0"/>
              <a:buChar char="•"/>
            </a:pPr>
            <a:r>
              <a:rPr lang="fr-FR" sz="3600" dirty="0" err="1">
                <a:latin typeface="Aptos" panose="020B0004020202020204" pitchFamily="34" charset="0"/>
              </a:rPr>
              <a:t>Dummy</a:t>
            </a:r>
            <a:r>
              <a:rPr lang="fr-FR" sz="3600" dirty="0">
                <a:latin typeface="Aptos" panose="020B0004020202020204" pitchFamily="34" charset="0"/>
              </a:rPr>
              <a:t> (</a:t>
            </a:r>
            <a:r>
              <a:rPr lang="fr-FR" sz="3600" dirty="0" err="1">
                <a:latin typeface="Aptos" panose="020B0004020202020204" pitchFamily="34" charset="0"/>
              </a:rPr>
              <a:t>DummyClassifier</a:t>
            </a:r>
            <a:r>
              <a:rPr lang="fr-FR" sz="3600" dirty="0">
                <a:latin typeface="Aptos" panose="020B0004020202020204" pitchFamily="34" charset="0"/>
              </a:rPr>
              <a:t>)</a:t>
            </a:r>
          </a:p>
          <a:p>
            <a:pPr marL="571500" lvl="0" indent="-571500" defTabSz="1600200">
              <a:lnSpc>
                <a:spcPct val="90000"/>
              </a:lnSpc>
              <a:spcBef>
                <a:spcPct val="0"/>
              </a:spcBef>
              <a:spcAft>
                <a:spcPct val="35000"/>
              </a:spcAft>
              <a:buFont typeface="Arial" panose="020B0604020202020204" pitchFamily="34" charset="0"/>
              <a:buChar char="•"/>
            </a:pPr>
            <a:r>
              <a:rPr lang="fr-FR" sz="3600" kern="1200" noProof="0" dirty="0">
                <a:latin typeface="Aptos" panose="020B0004020202020204" pitchFamily="34" charset="0"/>
              </a:rPr>
              <a:t>Linéaire (</a:t>
            </a:r>
            <a:r>
              <a:rPr lang="fr-FR" sz="3600" kern="1200" noProof="0" dirty="0" err="1">
                <a:latin typeface="Aptos" panose="020B0004020202020204" pitchFamily="34" charset="0"/>
              </a:rPr>
              <a:t>Logistic</a:t>
            </a:r>
            <a:r>
              <a:rPr lang="fr-FR" sz="3600" kern="1200" noProof="0" dirty="0">
                <a:latin typeface="Aptos" panose="020B0004020202020204" pitchFamily="34" charset="0"/>
              </a:rPr>
              <a:t> </a:t>
            </a:r>
            <a:r>
              <a:rPr lang="fr-FR" sz="3600" kern="1200" noProof="0" dirty="0" err="1">
                <a:latin typeface="Aptos" panose="020B0004020202020204" pitchFamily="34" charset="0"/>
              </a:rPr>
              <a:t>Regression</a:t>
            </a:r>
            <a:r>
              <a:rPr lang="fr-FR" sz="3600" kern="1200" noProof="0" dirty="0">
                <a:latin typeface="Aptos" panose="020B0004020202020204" pitchFamily="34" charset="0"/>
              </a:rPr>
              <a:t>)</a:t>
            </a:r>
          </a:p>
          <a:p>
            <a:pPr marL="571500" lvl="0" indent="-571500" defTabSz="1600200" rtl="0">
              <a:lnSpc>
                <a:spcPct val="90000"/>
              </a:lnSpc>
              <a:spcBef>
                <a:spcPct val="0"/>
              </a:spcBef>
              <a:spcAft>
                <a:spcPct val="35000"/>
              </a:spcAft>
              <a:buFont typeface="Arial" panose="020B0604020202020204" pitchFamily="34" charset="0"/>
              <a:buChar char="•"/>
            </a:pPr>
            <a:r>
              <a:rPr lang="fr-FR" sz="3600" kern="1200" noProof="0" dirty="0">
                <a:latin typeface="Aptos" panose="020B0004020202020204" pitchFamily="34" charset="0"/>
              </a:rPr>
              <a:t>Non-Linéaire (</a:t>
            </a:r>
            <a:r>
              <a:rPr lang="fr-FR" sz="3600" kern="1200" noProof="0" dirty="0" err="1">
                <a:latin typeface="Aptos" panose="020B0004020202020204" pitchFamily="34" charset="0"/>
              </a:rPr>
              <a:t>XGBoost</a:t>
            </a:r>
            <a:r>
              <a:rPr lang="fr-FR" sz="3600" kern="1200" noProof="0" dirty="0">
                <a:latin typeface="Aptos" panose="020B0004020202020204" pitchFamily="34" charset="0"/>
              </a:rPr>
              <a:t>)</a:t>
            </a:r>
          </a:p>
        </p:txBody>
      </p:sp>
    </p:spTree>
    <p:extLst>
      <p:ext uri="{BB962C8B-B14F-4D97-AF65-F5344CB8AC3E}">
        <p14:creationId xmlns:p14="http://schemas.microsoft.com/office/powerpoint/2010/main" val="23636336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2A9B6-3BBE-951A-5815-D86C0BB15F98}"/>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95DCDC02-87FC-46B7-AD01-010F358FE633}"/>
              </a:ext>
            </a:extLst>
          </p:cNvPr>
          <p:cNvSpPr>
            <a:spLocks noGrp="1"/>
          </p:cNvSpPr>
          <p:nvPr>
            <p:ph type="title"/>
          </p:nvPr>
        </p:nvSpPr>
        <p:spPr/>
        <p:txBody>
          <a:bodyPr/>
          <a:lstStyle/>
          <a:p>
            <a:r>
              <a:rPr lang="fr-FR" b="1" dirty="0"/>
              <a:t>séparation train/test</a:t>
            </a:r>
            <a:br>
              <a:rPr lang="fr-FR" dirty="0"/>
            </a:br>
            <a:endParaRPr lang="fr-FR" dirty="0"/>
          </a:p>
        </p:txBody>
      </p:sp>
      <p:pic>
        <p:nvPicPr>
          <p:cNvPr id="3" name="Image 2">
            <a:extLst>
              <a:ext uri="{FF2B5EF4-FFF2-40B4-BE49-F238E27FC236}">
                <a16:creationId xmlns:a16="http://schemas.microsoft.com/office/drawing/2014/main" id="{4FDC66FA-806C-BFEC-C438-8F5B6794570E}"/>
              </a:ext>
            </a:extLst>
          </p:cNvPr>
          <p:cNvPicPr>
            <a:picLocks noChangeAspect="1"/>
          </p:cNvPicPr>
          <p:nvPr/>
        </p:nvPicPr>
        <p:blipFill>
          <a:blip r:embed="rId3"/>
          <a:stretch>
            <a:fillRect/>
          </a:stretch>
        </p:blipFill>
        <p:spPr>
          <a:xfrm>
            <a:off x="918026" y="2310470"/>
            <a:ext cx="10355947" cy="3592619"/>
          </a:xfrm>
          <a:prstGeom prst="rect">
            <a:avLst/>
          </a:prstGeom>
        </p:spPr>
      </p:pic>
      <p:sp>
        <p:nvSpPr>
          <p:cNvPr id="5" name="ZoneTexte 4">
            <a:extLst>
              <a:ext uri="{FF2B5EF4-FFF2-40B4-BE49-F238E27FC236}">
                <a16:creationId xmlns:a16="http://schemas.microsoft.com/office/drawing/2014/main" id="{3A0EF400-D15D-A4DE-DEA7-997A5CC3B7F1}"/>
              </a:ext>
            </a:extLst>
          </p:cNvPr>
          <p:cNvSpPr txBox="1"/>
          <p:nvPr/>
        </p:nvSpPr>
        <p:spPr>
          <a:xfrm>
            <a:off x="6883062" y="5042095"/>
            <a:ext cx="700833" cy="461665"/>
          </a:xfrm>
          <a:prstGeom prst="rect">
            <a:avLst/>
          </a:prstGeom>
          <a:solidFill>
            <a:schemeClr val="bg1"/>
          </a:solidFill>
          <a:ln>
            <a:solidFill>
              <a:schemeClr val="tx1"/>
            </a:solidFill>
            <a:prstDash val="solid"/>
          </a:ln>
        </p:spPr>
        <p:txBody>
          <a:bodyPr wrap="none" rtlCol="0">
            <a:spAutoFit/>
          </a:bodyPr>
          <a:lstStyle/>
          <a:p>
            <a:pPr algn="ctr"/>
            <a:r>
              <a:rPr lang="fr-FR" sz="2400" dirty="0"/>
              <a:t>20%</a:t>
            </a:r>
          </a:p>
        </p:txBody>
      </p:sp>
      <p:sp>
        <p:nvSpPr>
          <p:cNvPr id="6" name="ZoneTexte 5">
            <a:extLst>
              <a:ext uri="{FF2B5EF4-FFF2-40B4-BE49-F238E27FC236}">
                <a16:creationId xmlns:a16="http://schemas.microsoft.com/office/drawing/2014/main" id="{6B06C0D0-0834-6E71-9BC2-9DCD90C70A4B}"/>
              </a:ext>
            </a:extLst>
          </p:cNvPr>
          <p:cNvSpPr txBox="1"/>
          <p:nvPr/>
        </p:nvSpPr>
        <p:spPr>
          <a:xfrm>
            <a:off x="6883062" y="3382451"/>
            <a:ext cx="700833" cy="461665"/>
          </a:xfrm>
          <a:prstGeom prst="rect">
            <a:avLst/>
          </a:prstGeom>
          <a:solidFill>
            <a:schemeClr val="bg1"/>
          </a:solidFill>
          <a:ln>
            <a:solidFill>
              <a:schemeClr val="tx1"/>
            </a:solidFill>
            <a:prstDash val="solid"/>
          </a:ln>
        </p:spPr>
        <p:txBody>
          <a:bodyPr wrap="none" rtlCol="0">
            <a:spAutoFit/>
          </a:bodyPr>
          <a:lstStyle/>
          <a:p>
            <a:pPr algn="ctr"/>
            <a:r>
              <a:rPr lang="fr-FR" sz="2400" dirty="0"/>
              <a:t>80%</a:t>
            </a:r>
          </a:p>
        </p:txBody>
      </p:sp>
    </p:spTree>
    <p:extLst>
      <p:ext uri="{BB962C8B-B14F-4D97-AF65-F5344CB8AC3E}">
        <p14:creationId xmlns:p14="http://schemas.microsoft.com/office/powerpoint/2010/main" val="1272004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B85A6-C554-B985-E218-D0648145CDEF}"/>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22E19ADB-7D25-9F9D-688B-FBDD28289282}"/>
              </a:ext>
            </a:extLst>
          </p:cNvPr>
          <p:cNvSpPr>
            <a:spLocks noGrp="1"/>
          </p:cNvSpPr>
          <p:nvPr>
            <p:ph type="title"/>
          </p:nvPr>
        </p:nvSpPr>
        <p:spPr/>
        <p:txBody>
          <a:bodyPr/>
          <a:lstStyle/>
          <a:p>
            <a:r>
              <a:rPr lang="fr-FR" b="1" dirty="0"/>
              <a:t>Scores des prédictions</a:t>
            </a:r>
            <a:br>
              <a:rPr lang="fr-FR" dirty="0"/>
            </a:br>
            <a:endParaRPr lang="fr-FR" dirty="0"/>
          </a:p>
        </p:txBody>
      </p:sp>
      <p:pic>
        <p:nvPicPr>
          <p:cNvPr id="10" name="Image 9">
            <a:extLst>
              <a:ext uri="{FF2B5EF4-FFF2-40B4-BE49-F238E27FC236}">
                <a16:creationId xmlns:a16="http://schemas.microsoft.com/office/drawing/2014/main" id="{CC0AA046-F89E-7038-3DA2-F69AD2A8C058}"/>
              </a:ext>
            </a:extLst>
          </p:cNvPr>
          <p:cNvPicPr>
            <a:picLocks noChangeAspect="1"/>
          </p:cNvPicPr>
          <p:nvPr/>
        </p:nvPicPr>
        <p:blipFill>
          <a:blip r:embed="rId3"/>
          <a:srcRect l="68340" t="3994"/>
          <a:stretch>
            <a:fillRect/>
          </a:stretch>
        </p:blipFill>
        <p:spPr>
          <a:xfrm>
            <a:off x="8032831" y="1041722"/>
            <a:ext cx="3495554" cy="5623204"/>
          </a:xfrm>
          <a:prstGeom prst="rect">
            <a:avLst/>
          </a:prstGeom>
        </p:spPr>
      </p:pic>
      <p:sp>
        <p:nvSpPr>
          <p:cNvPr id="15" name="ZoneTexte 14">
            <a:extLst>
              <a:ext uri="{FF2B5EF4-FFF2-40B4-BE49-F238E27FC236}">
                <a16:creationId xmlns:a16="http://schemas.microsoft.com/office/drawing/2014/main" id="{450D4EE1-B858-8730-B3ED-351A17A1C8BF}"/>
              </a:ext>
            </a:extLst>
          </p:cNvPr>
          <p:cNvSpPr txBox="1"/>
          <p:nvPr/>
        </p:nvSpPr>
        <p:spPr>
          <a:xfrm>
            <a:off x="1333598" y="2795812"/>
            <a:ext cx="3495554" cy="27892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571500" lvl="0" indent="-571500" defTabSz="1600200">
              <a:lnSpc>
                <a:spcPct val="90000"/>
              </a:lnSpc>
              <a:spcBef>
                <a:spcPct val="0"/>
              </a:spcBef>
              <a:spcAft>
                <a:spcPct val="35000"/>
              </a:spcAft>
              <a:buFont typeface="Arial" panose="020B0604020202020204" pitchFamily="34" charset="0"/>
              <a:buChar char="•"/>
            </a:pPr>
            <a:r>
              <a:rPr lang="fr-FR" sz="3600" dirty="0" err="1">
                <a:latin typeface="Aptos" panose="020B0004020202020204" pitchFamily="34" charset="0"/>
              </a:rPr>
              <a:t>Accuracy</a:t>
            </a:r>
            <a:endParaRPr lang="fr-FR" sz="3600" dirty="0">
              <a:latin typeface="Aptos" panose="020B0004020202020204" pitchFamily="34" charset="0"/>
            </a:endParaRPr>
          </a:p>
          <a:p>
            <a:pPr marL="571500" lvl="0" indent="-571500" defTabSz="1600200">
              <a:lnSpc>
                <a:spcPct val="90000"/>
              </a:lnSpc>
              <a:spcBef>
                <a:spcPct val="0"/>
              </a:spcBef>
              <a:spcAft>
                <a:spcPct val="35000"/>
              </a:spcAft>
              <a:buFont typeface="Arial" panose="020B0604020202020204" pitchFamily="34" charset="0"/>
              <a:buChar char="•"/>
            </a:pPr>
            <a:r>
              <a:rPr lang="fr-FR" sz="3600" kern="1200" noProof="0" dirty="0" err="1">
                <a:latin typeface="Aptos" panose="020B0004020202020204" pitchFamily="34" charset="0"/>
              </a:rPr>
              <a:t>Precision</a:t>
            </a:r>
            <a:endParaRPr lang="fr-FR" sz="3600" kern="1200" noProof="0" dirty="0">
              <a:latin typeface="Aptos" panose="020B0004020202020204" pitchFamily="34" charset="0"/>
            </a:endParaRPr>
          </a:p>
          <a:p>
            <a:pPr marL="571500" lvl="0" indent="-571500" defTabSz="1600200" rtl="0">
              <a:lnSpc>
                <a:spcPct val="90000"/>
              </a:lnSpc>
              <a:spcBef>
                <a:spcPct val="0"/>
              </a:spcBef>
              <a:spcAft>
                <a:spcPct val="35000"/>
              </a:spcAft>
              <a:buFont typeface="Arial" panose="020B0604020202020204" pitchFamily="34" charset="0"/>
              <a:buChar char="•"/>
            </a:pPr>
            <a:r>
              <a:rPr lang="fr-FR" sz="3600" kern="1200" noProof="0" dirty="0" err="1">
                <a:latin typeface="Aptos" panose="020B0004020202020204" pitchFamily="34" charset="0"/>
              </a:rPr>
              <a:t>Recall</a:t>
            </a:r>
            <a:endParaRPr lang="fr-FR" sz="3600" dirty="0">
              <a:latin typeface="Aptos" panose="020B0004020202020204" pitchFamily="34" charset="0"/>
            </a:endParaRPr>
          </a:p>
          <a:p>
            <a:pPr marL="571500" lvl="0" indent="-571500" defTabSz="1600200" rtl="0">
              <a:lnSpc>
                <a:spcPct val="90000"/>
              </a:lnSpc>
              <a:spcBef>
                <a:spcPct val="0"/>
              </a:spcBef>
              <a:spcAft>
                <a:spcPct val="35000"/>
              </a:spcAft>
              <a:buFont typeface="Arial" panose="020B0604020202020204" pitchFamily="34" charset="0"/>
              <a:buChar char="•"/>
            </a:pPr>
            <a:r>
              <a:rPr lang="fr-FR" sz="3600" dirty="0">
                <a:latin typeface="Aptos" panose="020B0004020202020204" pitchFamily="34" charset="0"/>
              </a:rPr>
              <a:t>AUC</a:t>
            </a:r>
            <a:endParaRPr lang="fr-FR" sz="3600" kern="1200" noProof="0" dirty="0">
              <a:latin typeface="Aptos" panose="020B0004020202020204" pitchFamily="34" charset="0"/>
            </a:endParaRPr>
          </a:p>
        </p:txBody>
      </p:sp>
      <p:sp>
        <p:nvSpPr>
          <p:cNvPr id="2" name="Accolade fermante 1">
            <a:extLst>
              <a:ext uri="{FF2B5EF4-FFF2-40B4-BE49-F238E27FC236}">
                <a16:creationId xmlns:a16="http://schemas.microsoft.com/office/drawing/2014/main" id="{237B8867-8A61-38DE-2028-96FBC5D9BFE7}"/>
              </a:ext>
            </a:extLst>
          </p:cNvPr>
          <p:cNvSpPr/>
          <p:nvPr/>
        </p:nvSpPr>
        <p:spPr>
          <a:xfrm>
            <a:off x="3995771" y="3476869"/>
            <a:ext cx="486136" cy="1216214"/>
          </a:xfrm>
          <a:prstGeom prst="rightBrace">
            <a:avLst>
              <a:gd name="adj1" fmla="val 32143"/>
              <a:gd name="adj2" fmla="val 50000"/>
            </a:avLst>
          </a:prstGeom>
          <a:ln w="66675"/>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5" name="ZoneTexte 4">
            <a:extLst>
              <a:ext uri="{FF2B5EF4-FFF2-40B4-BE49-F238E27FC236}">
                <a16:creationId xmlns:a16="http://schemas.microsoft.com/office/drawing/2014/main" id="{0B15544F-A99F-8F1E-1A3E-EB80FF503D22}"/>
              </a:ext>
            </a:extLst>
          </p:cNvPr>
          <p:cNvSpPr txBox="1"/>
          <p:nvPr/>
        </p:nvSpPr>
        <p:spPr>
          <a:xfrm>
            <a:off x="4667345" y="3704262"/>
            <a:ext cx="2857309" cy="761427"/>
          </a:xfrm>
          <a:prstGeom prst="rect">
            <a:avLst/>
          </a:prstGeom>
          <a:noFill/>
        </p:spPr>
        <p:txBody>
          <a:bodyPr wrap="square">
            <a:spAutoFit/>
          </a:bodyPr>
          <a:lstStyle/>
          <a:p>
            <a:pPr lvl="0" defTabSz="1600200" rtl="0">
              <a:lnSpc>
                <a:spcPct val="90000"/>
              </a:lnSpc>
              <a:spcBef>
                <a:spcPct val="0"/>
              </a:spcBef>
              <a:spcAft>
                <a:spcPct val="35000"/>
              </a:spcAft>
            </a:pPr>
            <a:r>
              <a:rPr lang="fr-FR" sz="4800" kern="1200" noProof="0" dirty="0">
                <a:latin typeface="Aptos" panose="020B0004020202020204" pitchFamily="34" charset="0"/>
              </a:rPr>
              <a:t>F1-Score</a:t>
            </a:r>
          </a:p>
        </p:txBody>
      </p:sp>
    </p:spTree>
    <p:extLst>
      <p:ext uri="{BB962C8B-B14F-4D97-AF65-F5344CB8AC3E}">
        <p14:creationId xmlns:p14="http://schemas.microsoft.com/office/powerpoint/2010/main" val="26929326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F2BF7-3C40-7C81-EEC4-07D006A9EDF1}"/>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008166C5-E95B-FBF8-838E-6797E5EA6A27}"/>
              </a:ext>
            </a:extLst>
          </p:cNvPr>
          <p:cNvSpPr>
            <a:spLocks noGrp="1"/>
          </p:cNvSpPr>
          <p:nvPr>
            <p:ph type="title"/>
          </p:nvPr>
        </p:nvSpPr>
        <p:spPr/>
        <p:txBody>
          <a:bodyPr/>
          <a:lstStyle/>
          <a:p>
            <a:r>
              <a:rPr lang="fr-FR" b="1" dirty="0"/>
              <a:t>Enchainement des entrainements / Prédictions</a:t>
            </a:r>
            <a:br>
              <a:rPr lang="fr-FR" dirty="0"/>
            </a:br>
            <a:endParaRPr lang="fr-FR" dirty="0"/>
          </a:p>
        </p:txBody>
      </p:sp>
      <p:grpSp>
        <p:nvGrpSpPr>
          <p:cNvPr id="9" name="Groupe 8">
            <a:extLst>
              <a:ext uri="{FF2B5EF4-FFF2-40B4-BE49-F238E27FC236}">
                <a16:creationId xmlns:a16="http://schemas.microsoft.com/office/drawing/2014/main" id="{50802B0C-359D-ED3A-069D-327B85A7CC2B}"/>
              </a:ext>
            </a:extLst>
          </p:cNvPr>
          <p:cNvGrpSpPr/>
          <p:nvPr/>
        </p:nvGrpSpPr>
        <p:grpSpPr>
          <a:xfrm>
            <a:off x="4387346" y="2040296"/>
            <a:ext cx="3635953" cy="1528826"/>
            <a:chOff x="1487405" y="3074098"/>
            <a:chExt cx="3635953" cy="1528826"/>
          </a:xfrm>
        </p:grpSpPr>
        <p:sp>
          <p:nvSpPr>
            <p:cNvPr id="5" name="ZoneTexte 4">
              <a:extLst>
                <a:ext uri="{FF2B5EF4-FFF2-40B4-BE49-F238E27FC236}">
                  <a16:creationId xmlns:a16="http://schemas.microsoft.com/office/drawing/2014/main" id="{870C4CC7-4FA6-AF29-70EB-ECEBFD20D22F}"/>
                </a:ext>
              </a:extLst>
            </p:cNvPr>
            <p:cNvSpPr txBox="1"/>
            <p:nvPr/>
          </p:nvSpPr>
          <p:spPr>
            <a:xfrm rot="16200000">
              <a:off x="2125883" y="3695331"/>
              <a:ext cx="1528825" cy="286360"/>
            </a:xfrm>
            <a:prstGeom prst="rect">
              <a:avLst/>
            </a:prstGeom>
            <a:noFill/>
          </p:spPr>
          <p:txBody>
            <a:bodyPr wrap="square">
              <a:spAutoFit/>
            </a:bodyPr>
            <a:lstStyle/>
            <a:p>
              <a:pPr>
                <a:lnSpc>
                  <a:spcPts val="1425"/>
                </a:lnSpc>
                <a:buNone/>
              </a:pPr>
              <a:r>
                <a:rPr lang="fr-FR" b="0" dirty="0">
                  <a:solidFill>
                    <a:srgbClr val="4EC9B0"/>
                  </a:solidFill>
                  <a:effectLst/>
                  <a:latin typeface="Consolas" panose="020B0609020204030204" pitchFamily="49" charset="0"/>
                </a:rPr>
                <a:t>Résultat 2</a:t>
              </a:r>
              <a:endParaRPr lang="fr-FR" b="0" dirty="0">
                <a:solidFill>
                  <a:srgbClr val="BBBEBF"/>
                </a:solidFill>
                <a:effectLst/>
                <a:latin typeface="Consolas" panose="020B0609020204030204" pitchFamily="49" charset="0"/>
              </a:endParaRPr>
            </a:p>
          </p:txBody>
        </p:sp>
        <p:sp>
          <p:nvSpPr>
            <p:cNvPr id="6" name="ZoneTexte 5">
              <a:extLst>
                <a:ext uri="{FF2B5EF4-FFF2-40B4-BE49-F238E27FC236}">
                  <a16:creationId xmlns:a16="http://schemas.microsoft.com/office/drawing/2014/main" id="{0CBA7137-F83F-A807-F8A3-5BA3169B7A1B}"/>
                </a:ext>
              </a:extLst>
            </p:cNvPr>
            <p:cNvSpPr txBox="1"/>
            <p:nvPr/>
          </p:nvSpPr>
          <p:spPr>
            <a:xfrm rot="16200000">
              <a:off x="866172" y="3695331"/>
              <a:ext cx="1528825" cy="286360"/>
            </a:xfrm>
            <a:prstGeom prst="rect">
              <a:avLst/>
            </a:prstGeom>
            <a:noFill/>
          </p:spPr>
          <p:txBody>
            <a:bodyPr wrap="square">
              <a:spAutoFit/>
            </a:bodyPr>
            <a:lstStyle/>
            <a:p>
              <a:pPr>
                <a:lnSpc>
                  <a:spcPts val="1425"/>
                </a:lnSpc>
                <a:buNone/>
              </a:pPr>
              <a:r>
                <a:rPr lang="fr-FR" b="0" dirty="0">
                  <a:solidFill>
                    <a:srgbClr val="4EC9B0"/>
                  </a:solidFill>
                  <a:effectLst/>
                  <a:latin typeface="Consolas" panose="020B0609020204030204" pitchFamily="49" charset="0"/>
                </a:rPr>
                <a:t>Résultat 1</a:t>
              </a:r>
              <a:endParaRPr lang="fr-FR" b="0" dirty="0">
                <a:solidFill>
                  <a:srgbClr val="BBBEBF"/>
                </a:solidFill>
                <a:effectLst/>
                <a:latin typeface="Consolas" panose="020B0609020204030204" pitchFamily="49" charset="0"/>
              </a:endParaRPr>
            </a:p>
          </p:txBody>
        </p:sp>
        <p:sp>
          <p:nvSpPr>
            <p:cNvPr id="7" name="ZoneTexte 6">
              <a:extLst>
                <a:ext uri="{FF2B5EF4-FFF2-40B4-BE49-F238E27FC236}">
                  <a16:creationId xmlns:a16="http://schemas.microsoft.com/office/drawing/2014/main" id="{254C891F-6444-8EC7-DF3E-ECF5DD1EBD77}"/>
                </a:ext>
              </a:extLst>
            </p:cNvPr>
            <p:cNvSpPr txBox="1"/>
            <p:nvPr/>
          </p:nvSpPr>
          <p:spPr>
            <a:xfrm rot="16200000">
              <a:off x="3242414" y="3695332"/>
              <a:ext cx="1528825" cy="286360"/>
            </a:xfrm>
            <a:prstGeom prst="rect">
              <a:avLst/>
            </a:prstGeom>
            <a:noFill/>
          </p:spPr>
          <p:txBody>
            <a:bodyPr wrap="square">
              <a:spAutoFit/>
            </a:bodyPr>
            <a:lstStyle/>
            <a:p>
              <a:pPr>
                <a:lnSpc>
                  <a:spcPts val="1425"/>
                </a:lnSpc>
                <a:buNone/>
              </a:pPr>
              <a:r>
                <a:rPr lang="fr-FR" b="0" dirty="0">
                  <a:solidFill>
                    <a:srgbClr val="4EC9B0"/>
                  </a:solidFill>
                  <a:effectLst/>
                  <a:latin typeface="Consolas" panose="020B0609020204030204" pitchFamily="49" charset="0"/>
                </a:rPr>
                <a:t>Résultat 3</a:t>
              </a:r>
              <a:endParaRPr lang="fr-FR" b="0" dirty="0">
                <a:solidFill>
                  <a:srgbClr val="BBBEBF"/>
                </a:solidFill>
                <a:effectLst/>
                <a:latin typeface="Consolas" panose="020B0609020204030204" pitchFamily="49" charset="0"/>
              </a:endParaRPr>
            </a:p>
          </p:txBody>
        </p:sp>
        <p:sp>
          <p:nvSpPr>
            <p:cNvPr id="8" name="ZoneTexte 7">
              <a:extLst>
                <a:ext uri="{FF2B5EF4-FFF2-40B4-BE49-F238E27FC236}">
                  <a16:creationId xmlns:a16="http://schemas.microsoft.com/office/drawing/2014/main" id="{8B792DA2-C4DF-AE3A-BF73-115532FA32FC}"/>
                </a:ext>
              </a:extLst>
            </p:cNvPr>
            <p:cNvSpPr txBox="1"/>
            <p:nvPr/>
          </p:nvSpPr>
          <p:spPr>
            <a:xfrm rot="16200000">
              <a:off x="4215765" y="3695332"/>
              <a:ext cx="1528825" cy="286360"/>
            </a:xfrm>
            <a:prstGeom prst="rect">
              <a:avLst/>
            </a:prstGeom>
            <a:noFill/>
          </p:spPr>
          <p:txBody>
            <a:bodyPr wrap="square">
              <a:spAutoFit/>
            </a:bodyPr>
            <a:lstStyle/>
            <a:p>
              <a:pPr>
                <a:lnSpc>
                  <a:spcPts val="1425"/>
                </a:lnSpc>
                <a:buNone/>
              </a:pPr>
              <a:r>
                <a:rPr lang="fr-FR" b="0" dirty="0">
                  <a:solidFill>
                    <a:srgbClr val="4EC9B0"/>
                  </a:solidFill>
                  <a:effectLst/>
                  <a:latin typeface="Consolas" panose="020B0609020204030204" pitchFamily="49" charset="0"/>
                </a:rPr>
                <a:t>Résultat X</a:t>
              </a:r>
              <a:endParaRPr lang="fr-FR" b="0" dirty="0">
                <a:solidFill>
                  <a:srgbClr val="BBBEBF"/>
                </a:solidFill>
                <a:effectLst/>
                <a:latin typeface="Consolas" panose="020B0609020204030204" pitchFamily="49" charset="0"/>
              </a:endParaRPr>
            </a:p>
          </p:txBody>
        </p:sp>
      </p:grpSp>
      <p:sp>
        <p:nvSpPr>
          <p:cNvPr id="12" name="Flèche : bas 11">
            <a:extLst>
              <a:ext uri="{FF2B5EF4-FFF2-40B4-BE49-F238E27FC236}">
                <a16:creationId xmlns:a16="http://schemas.microsoft.com/office/drawing/2014/main" id="{68993A9D-717A-12F6-F15D-4576161A6357}"/>
              </a:ext>
            </a:extLst>
          </p:cNvPr>
          <p:cNvSpPr/>
          <p:nvPr/>
        </p:nvSpPr>
        <p:spPr>
          <a:xfrm>
            <a:off x="4305782" y="3569122"/>
            <a:ext cx="367923" cy="4472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4" name="Image 13">
            <a:extLst>
              <a:ext uri="{FF2B5EF4-FFF2-40B4-BE49-F238E27FC236}">
                <a16:creationId xmlns:a16="http://schemas.microsoft.com/office/drawing/2014/main" id="{7A338320-DFC6-FFA8-302D-C94CB849CFFB}"/>
              </a:ext>
            </a:extLst>
          </p:cNvPr>
          <p:cNvPicPr>
            <a:picLocks noChangeAspect="1"/>
          </p:cNvPicPr>
          <p:nvPr/>
        </p:nvPicPr>
        <p:blipFill>
          <a:blip r:embed="rId3"/>
          <a:stretch>
            <a:fillRect/>
          </a:stretch>
        </p:blipFill>
        <p:spPr>
          <a:xfrm>
            <a:off x="3069015" y="4425470"/>
            <a:ext cx="7381197" cy="1583761"/>
          </a:xfrm>
          <a:prstGeom prst="rect">
            <a:avLst/>
          </a:prstGeom>
          <a:ln w="38100" cap="sq">
            <a:solidFill>
              <a:srgbClr val="00B050"/>
            </a:solidFill>
            <a:prstDash val="solid"/>
            <a:miter lim="800000"/>
          </a:ln>
          <a:effectLst>
            <a:outerShdw blurRad="50800" dist="38100" dir="2700000" algn="tl" rotWithShape="0">
              <a:srgbClr val="000000">
                <a:alpha val="43000"/>
              </a:srgbClr>
            </a:outerShdw>
          </a:effectLst>
        </p:spPr>
      </p:pic>
      <p:pic>
        <p:nvPicPr>
          <p:cNvPr id="13" name="Image 12">
            <a:extLst>
              <a:ext uri="{FF2B5EF4-FFF2-40B4-BE49-F238E27FC236}">
                <a16:creationId xmlns:a16="http://schemas.microsoft.com/office/drawing/2014/main" id="{0149C1B1-9D5F-17DA-9A46-BDF6CB0C3B6C}"/>
              </a:ext>
            </a:extLst>
          </p:cNvPr>
          <p:cNvPicPr>
            <a:picLocks noChangeAspect="1"/>
          </p:cNvPicPr>
          <p:nvPr/>
        </p:nvPicPr>
        <p:blipFill>
          <a:blip r:embed="rId3"/>
          <a:stretch>
            <a:fillRect/>
          </a:stretch>
        </p:blipFill>
        <p:spPr>
          <a:xfrm>
            <a:off x="2916615" y="4273070"/>
            <a:ext cx="7381197" cy="1583761"/>
          </a:xfrm>
          <a:prstGeom prst="rect">
            <a:avLst/>
          </a:prstGeom>
          <a:ln w="38100" cap="sq">
            <a:solidFill>
              <a:srgbClr val="00B050"/>
            </a:solidFill>
            <a:prstDash val="solid"/>
            <a:miter lim="800000"/>
          </a:ln>
          <a:effectLst>
            <a:outerShdw blurRad="50800" dist="38100" dir="2700000" algn="tl" rotWithShape="0">
              <a:srgbClr val="000000">
                <a:alpha val="43000"/>
              </a:srgbClr>
            </a:outerShdw>
          </a:effectLst>
        </p:spPr>
      </p:pic>
      <p:pic>
        <p:nvPicPr>
          <p:cNvPr id="11" name="Image 10">
            <a:extLst>
              <a:ext uri="{FF2B5EF4-FFF2-40B4-BE49-F238E27FC236}">
                <a16:creationId xmlns:a16="http://schemas.microsoft.com/office/drawing/2014/main" id="{C005AFF5-3C6D-FA6B-C11C-D8AF59FBC07F}"/>
              </a:ext>
            </a:extLst>
          </p:cNvPr>
          <p:cNvPicPr>
            <a:picLocks noChangeAspect="1"/>
          </p:cNvPicPr>
          <p:nvPr/>
        </p:nvPicPr>
        <p:blipFill>
          <a:blip r:embed="rId3"/>
          <a:stretch>
            <a:fillRect/>
          </a:stretch>
        </p:blipFill>
        <p:spPr>
          <a:xfrm>
            <a:off x="2764215" y="4120670"/>
            <a:ext cx="7381197" cy="1583761"/>
          </a:xfrm>
          <a:prstGeom prst="rect">
            <a:avLst/>
          </a:prstGeom>
          <a:ln w="38100" cap="sq">
            <a:solidFill>
              <a:srgbClr val="00B050"/>
            </a:solidFill>
            <a:prstDash val="solid"/>
            <a:miter lim="800000"/>
          </a:ln>
          <a:effectLst>
            <a:outerShdw blurRad="50800" dist="38100" dir="2700000" algn="tl" rotWithShape="0">
              <a:srgbClr val="000000">
                <a:alpha val="43000"/>
              </a:srgbClr>
            </a:outerShdw>
          </a:effectLst>
        </p:spPr>
      </p:pic>
      <p:sp>
        <p:nvSpPr>
          <p:cNvPr id="2" name="ZoneTexte 1">
            <a:extLst>
              <a:ext uri="{FF2B5EF4-FFF2-40B4-BE49-F238E27FC236}">
                <a16:creationId xmlns:a16="http://schemas.microsoft.com/office/drawing/2014/main" id="{8531E59A-513A-BB3B-06A5-5196AFE50910}"/>
              </a:ext>
            </a:extLst>
          </p:cNvPr>
          <p:cNvSpPr txBox="1"/>
          <p:nvPr/>
        </p:nvSpPr>
        <p:spPr>
          <a:xfrm>
            <a:off x="581193" y="4273070"/>
            <a:ext cx="1922976" cy="1477328"/>
          </a:xfrm>
          <a:prstGeom prst="rect">
            <a:avLst/>
          </a:prstGeom>
          <a:noFill/>
        </p:spPr>
        <p:txBody>
          <a:bodyPr wrap="square">
            <a:spAutoFit/>
          </a:bodyPr>
          <a:lstStyle/>
          <a:p>
            <a:pPr>
              <a:buNone/>
            </a:pPr>
            <a:r>
              <a:rPr lang="fr-FR" b="0" dirty="0" err="1">
                <a:solidFill>
                  <a:srgbClr val="4EC9B0"/>
                </a:solidFill>
                <a:effectLst/>
                <a:latin typeface="Consolas" panose="020B0609020204030204" pitchFamily="49" charset="0"/>
              </a:rPr>
              <a:t>BaseTrain</a:t>
            </a:r>
            <a:endParaRPr lang="fr-FR" b="0" dirty="0">
              <a:solidFill>
                <a:srgbClr val="4EC9B0"/>
              </a:solidFill>
              <a:effectLst/>
              <a:latin typeface="Consolas" panose="020B0609020204030204" pitchFamily="49" charset="0"/>
            </a:endParaRPr>
          </a:p>
          <a:p>
            <a:pPr>
              <a:buNone/>
            </a:pPr>
            <a:r>
              <a:rPr lang="fr-FR" b="0" dirty="0">
                <a:solidFill>
                  <a:srgbClr val="4EC9B0"/>
                </a:solidFill>
                <a:effectLst/>
                <a:latin typeface="Consolas" panose="020B0609020204030204" pitchFamily="49" charset="0"/>
              </a:rPr>
              <a:t> &gt; Train #1</a:t>
            </a:r>
          </a:p>
          <a:p>
            <a:pPr>
              <a:buNone/>
            </a:pPr>
            <a:r>
              <a:rPr lang="fr-FR" b="0" dirty="0">
                <a:solidFill>
                  <a:srgbClr val="4EC9B0"/>
                </a:solidFill>
                <a:effectLst/>
                <a:latin typeface="Consolas" panose="020B0609020204030204" pitchFamily="49" charset="0"/>
              </a:rPr>
              <a:t> &gt; Train</a:t>
            </a:r>
            <a:r>
              <a:rPr lang="fr-FR" dirty="0">
                <a:solidFill>
                  <a:srgbClr val="4EC9B0"/>
                </a:solidFill>
                <a:latin typeface="Consolas" panose="020B0609020204030204" pitchFamily="49" charset="0"/>
              </a:rPr>
              <a:t> #</a:t>
            </a:r>
            <a:r>
              <a:rPr lang="fr-FR" b="0" dirty="0">
                <a:solidFill>
                  <a:srgbClr val="4EC9B0"/>
                </a:solidFill>
                <a:effectLst/>
                <a:latin typeface="Consolas" panose="020B0609020204030204" pitchFamily="49" charset="0"/>
              </a:rPr>
              <a:t>2</a:t>
            </a:r>
          </a:p>
          <a:p>
            <a:pPr>
              <a:buNone/>
            </a:pPr>
            <a:r>
              <a:rPr lang="fr-FR" b="0" dirty="0">
                <a:solidFill>
                  <a:srgbClr val="4EC9B0"/>
                </a:solidFill>
                <a:effectLst/>
                <a:latin typeface="Consolas" panose="020B0609020204030204" pitchFamily="49" charset="0"/>
              </a:rPr>
              <a:t> &gt; </a:t>
            </a:r>
            <a:r>
              <a:rPr lang="fr-FR" dirty="0">
                <a:solidFill>
                  <a:srgbClr val="4EC9B0"/>
                </a:solidFill>
                <a:latin typeface="Consolas" panose="020B0609020204030204" pitchFamily="49" charset="0"/>
              </a:rPr>
              <a:t>Train #3</a:t>
            </a:r>
          </a:p>
          <a:p>
            <a:pPr>
              <a:buNone/>
            </a:pPr>
            <a:r>
              <a:rPr lang="fr-FR" b="0" dirty="0">
                <a:solidFill>
                  <a:srgbClr val="4EC9B0"/>
                </a:solidFill>
                <a:effectLst/>
                <a:latin typeface="Consolas" panose="020B0609020204030204" pitchFamily="49" charset="0"/>
              </a:rPr>
              <a:t> &gt; </a:t>
            </a:r>
            <a:r>
              <a:rPr lang="fr-FR" dirty="0">
                <a:solidFill>
                  <a:srgbClr val="4EC9B0"/>
                </a:solidFill>
                <a:latin typeface="Consolas" panose="020B0609020204030204" pitchFamily="49" charset="0"/>
              </a:rPr>
              <a:t>…</a:t>
            </a:r>
            <a:endParaRPr lang="fr-FR"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12854666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05D3B-0697-8881-DD44-C5B19959280D}"/>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7D87583A-7B83-FFD0-591B-CDA40F54D353}"/>
              </a:ext>
            </a:extLst>
          </p:cNvPr>
          <p:cNvSpPr>
            <a:spLocks noGrp="1"/>
          </p:cNvSpPr>
          <p:nvPr>
            <p:ph type="title"/>
          </p:nvPr>
        </p:nvSpPr>
        <p:spPr/>
        <p:txBody>
          <a:bodyPr/>
          <a:lstStyle/>
          <a:p>
            <a:r>
              <a:rPr lang="fr-FR" b="1" dirty="0"/>
              <a:t>Passes</a:t>
            </a:r>
            <a:br>
              <a:rPr lang="fr-FR" dirty="0"/>
            </a:br>
            <a:endParaRPr lang="fr-FR" dirty="0"/>
          </a:p>
        </p:txBody>
      </p:sp>
      <p:sp>
        <p:nvSpPr>
          <p:cNvPr id="15" name="ZoneTexte 14">
            <a:extLst>
              <a:ext uri="{FF2B5EF4-FFF2-40B4-BE49-F238E27FC236}">
                <a16:creationId xmlns:a16="http://schemas.microsoft.com/office/drawing/2014/main" id="{EF687F8C-D650-B11B-CA56-E70ECE8917EF}"/>
              </a:ext>
            </a:extLst>
          </p:cNvPr>
          <p:cNvSpPr txBox="1"/>
          <p:nvPr/>
        </p:nvSpPr>
        <p:spPr>
          <a:xfrm>
            <a:off x="1947963" y="2663190"/>
            <a:ext cx="8753274" cy="311546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742950" lvl="0" indent="-742950" defTabSz="1600200">
              <a:lnSpc>
                <a:spcPct val="90000"/>
              </a:lnSpc>
              <a:spcBef>
                <a:spcPct val="0"/>
              </a:spcBef>
              <a:spcAft>
                <a:spcPct val="35000"/>
              </a:spcAft>
              <a:buFont typeface="+mj-lt"/>
              <a:buAutoNum type="arabicPeriod"/>
            </a:pPr>
            <a:r>
              <a:rPr lang="fr-FR" sz="3600"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Entrainement Initial</a:t>
            </a:r>
          </a:p>
          <a:p>
            <a:pPr marL="742950" lvl="0" indent="-742950" defTabSz="1600200">
              <a:lnSpc>
                <a:spcPct val="90000"/>
              </a:lnSpc>
              <a:spcBef>
                <a:spcPct val="0"/>
              </a:spcBef>
              <a:spcAft>
                <a:spcPct val="35000"/>
              </a:spcAft>
              <a:buFont typeface="+mj-lt"/>
              <a:buAutoNum type="arabicPeriod"/>
            </a:pPr>
            <a:r>
              <a:rPr lang="fr-FR" sz="3600" kern="1200" noProof="0" dirty="0" err="1">
                <a:ln w="0"/>
                <a:solidFill>
                  <a:schemeClr val="accent1"/>
                </a:solidFill>
                <a:effectLst>
                  <a:outerShdw blurRad="38100" dist="25400" dir="5400000" algn="ctr" rotWithShape="0">
                    <a:srgbClr val="6E747A">
                      <a:alpha val="43000"/>
                    </a:srgbClr>
                  </a:outerShdw>
                </a:effectLst>
                <a:latin typeface="Aptos" panose="020B0004020202020204" pitchFamily="34" charset="0"/>
              </a:rPr>
              <a:t>Features</a:t>
            </a:r>
            <a:r>
              <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 </a:t>
            </a:r>
            <a:r>
              <a:rPr lang="fr-FR" sz="3600" kern="1200" noProof="0" dirty="0" err="1">
                <a:ln w="0"/>
                <a:solidFill>
                  <a:schemeClr val="accent1"/>
                </a:solidFill>
                <a:effectLst>
                  <a:outerShdw blurRad="38100" dist="25400" dir="5400000" algn="ctr" rotWithShape="0">
                    <a:srgbClr val="6E747A">
                      <a:alpha val="43000"/>
                    </a:srgbClr>
                  </a:outerShdw>
                </a:effectLst>
                <a:latin typeface="Aptos" panose="020B0004020202020204" pitchFamily="34" charset="0"/>
              </a:rPr>
              <a:t>enginering</a:t>
            </a:r>
            <a:endPar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endParaRPr>
          </a:p>
          <a:p>
            <a:pPr marL="742950" lvl="0" indent="-742950" defTabSz="1600200">
              <a:lnSpc>
                <a:spcPct val="90000"/>
              </a:lnSpc>
              <a:spcBef>
                <a:spcPct val="0"/>
              </a:spcBef>
              <a:spcAft>
                <a:spcPct val="35000"/>
              </a:spcAft>
              <a:buFont typeface="+mj-lt"/>
              <a:buAutoNum type="arabicPeriod"/>
            </a:pPr>
            <a:r>
              <a:rPr lang="fr-FR" sz="3600" dirty="0" err="1">
                <a:ln w="0"/>
                <a:solidFill>
                  <a:schemeClr val="accent1"/>
                </a:solidFill>
                <a:effectLst>
                  <a:outerShdw blurRad="38100" dist="25400" dir="5400000" algn="ctr" rotWithShape="0">
                    <a:srgbClr val="6E747A">
                      <a:alpha val="43000"/>
                    </a:srgbClr>
                  </a:outerShdw>
                </a:effectLst>
                <a:latin typeface="Aptos" panose="020B0004020202020204" pitchFamily="34" charset="0"/>
              </a:rPr>
              <a:t>Scaling</a:t>
            </a:r>
            <a:endPar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endParaRPr>
          </a:p>
          <a:p>
            <a:pPr marL="742950" lvl="0" indent="-742950" defTabSz="1600200" rtl="0">
              <a:lnSpc>
                <a:spcPct val="90000"/>
              </a:lnSpc>
              <a:spcBef>
                <a:spcPct val="0"/>
              </a:spcBef>
              <a:spcAft>
                <a:spcPct val="35000"/>
              </a:spcAft>
              <a:buFont typeface="+mj-lt"/>
              <a:buAutoNum type="arabicPeriod"/>
            </a:pPr>
            <a:r>
              <a:rPr lang="fr-FR" sz="3600" kern="1200" noProof="0" dirty="0" err="1">
                <a:ln w="0"/>
                <a:solidFill>
                  <a:schemeClr val="accent1"/>
                </a:solidFill>
                <a:effectLst>
                  <a:outerShdw blurRad="38100" dist="25400" dir="5400000" algn="ctr" rotWithShape="0">
                    <a:srgbClr val="6E747A">
                      <a:alpha val="43000"/>
                    </a:srgbClr>
                  </a:outerShdw>
                </a:effectLst>
                <a:latin typeface="Aptos" panose="020B0004020202020204" pitchFamily="34" charset="0"/>
              </a:rPr>
              <a:t>Hyper-Paramètres</a:t>
            </a:r>
            <a:endPar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endParaRPr>
          </a:p>
          <a:p>
            <a:pPr marL="742950" lvl="0" indent="-742950" defTabSz="1600200" rtl="0">
              <a:lnSpc>
                <a:spcPct val="90000"/>
              </a:lnSpc>
              <a:spcBef>
                <a:spcPct val="0"/>
              </a:spcBef>
              <a:spcAft>
                <a:spcPct val="35000"/>
              </a:spcAft>
              <a:buFont typeface="+mj-lt"/>
              <a:buAutoNum type="arabicPeriod"/>
            </a:pPr>
            <a:r>
              <a:rPr lang="fr-FR" sz="3600" kern="1200" noProof="0"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Recherche du seuil optimal (F1-Score)</a:t>
            </a:r>
          </a:p>
        </p:txBody>
      </p:sp>
    </p:spTree>
    <p:extLst>
      <p:ext uri="{BB962C8B-B14F-4D97-AF65-F5344CB8AC3E}">
        <p14:creationId xmlns:p14="http://schemas.microsoft.com/office/powerpoint/2010/main" val="10453754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1E41C-1636-12A3-0A35-A04199562099}"/>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B91C64A8-7F0D-3199-816E-1C1EF6A839B1}"/>
              </a:ext>
            </a:extLst>
          </p:cNvPr>
          <p:cNvSpPr>
            <a:spLocks noGrp="1"/>
          </p:cNvSpPr>
          <p:nvPr>
            <p:ph type="title"/>
          </p:nvPr>
        </p:nvSpPr>
        <p:spPr/>
        <p:txBody>
          <a:bodyPr/>
          <a:lstStyle/>
          <a:p>
            <a:r>
              <a:rPr lang="fr-FR" b="1" dirty="0"/>
              <a:t>EVALUATION Finale</a:t>
            </a:r>
            <a:br>
              <a:rPr lang="fr-FR" dirty="0"/>
            </a:br>
            <a:endParaRPr lang="fr-FR" dirty="0"/>
          </a:p>
        </p:txBody>
      </p:sp>
      <p:pic>
        <p:nvPicPr>
          <p:cNvPr id="3" name="Image 2">
            <a:extLst>
              <a:ext uri="{FF2B5EF4-FFF2-40B4-BE49-F238E27FC236}">
                <a16:creationId xmlns:a16="http://schemas.microsoft.com/office/drawing/2014/main" id="{C7B48085-0847-54A7-6CD5-FE50F6F56FA9}"/>
              </a:ext>
            </a:extLst>
          </p:cNvPr>
          <p:cNvPicPr>
            <a:picLocks noChangeAspect="1"/>
          </p:cNvPicPr>
          <p:nvPr/>
        </p:nvPicPr>
        <p:blipFill>
          <a:blip r:embed="rId3"/>
          <a:stretch>
            <a:fillRect/>
          </a:stretch>
        </p:blipFill>
        <p:spPr>
          <a:xfrm>
            <a:off x="2004687" y="1715956"/>
            <a:ext cx="8182626" cy="4904571"/>
          </a:xfrm>
          <a:prstGeom prst="rect">
            <a:avLst/>
          </a:prstGeom>
        </p:spPr>
      </p:pic>
    </p:spTree>
    <p:extLst>
      <p:ext uri="{BB962C8B-B14F-4D97-AF65-F5344CB8AC3E}">
        <p14:creationId xmlns:p14="http://schemas.microsoft.com/office/powerpoint/2010/main" val="14963156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7A2D6-CBB2-4579-2311-CE675DCE2F0A}"/>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C2003356-66FB-93DE-47CB-666EE7B46E04}"/>
              </a:ext>
            </a:extLst>
          </p:cNvPr>
          <p:cNvSpPr>
            <a:spLocks noGrp="1"/>
          </p:cNvSpPr>
          <p:nvPr>
            <p:ph type="title"/>
          </p:nvPr>
        </p:nvSpPr>
        <p:spPr/>
        <p:txBody>
          <a:bodyPr/>
          <a:lstStyle/>
          <a:p>
            <a:r>
              <a:rPr lang="fr-FR" b="1" dirty="0"/>
              <a:t>EVALUATION Finale</a:t>
            </a:r>
            <a:br>
              <a:rPr lang="fr-FR" dirty="0"/>
            </a:br>
            <a:endParaRPr lang="fr-FR" dirty="0"/>
          </a:p>
        </p:txBody>
      </p:sp>
      <p:pic>
        <p:nvPicPr>
          <p:cNvPr id="3" name="Image 2">
            <a:extLst>
              <a:ext uri="{FF2B5EF4-FFF2-40B4-BE49-F238E27FC236}">
                <a16:creationId xmlns:a16="http://schemas.microsoft.com/office/drawing/2014/main" id="{353B3B5F-0586-DE5E-383F-89891D5AAC7B}"/>
              </a:ext>
            </a:extLst>
          </p:cNvPr>
          <p:cNvPicPr>
            <a:picLocks noChangeAspect="1"/>
          </p:cNvPicPr>
          <p:nvPr/>
        </p:nvPicPr>
        <p:blipFill>
          <a:blip r:embed="rId3"/>
          <a:stretch>
            <a:fillRect/>
          </a:stretch>
        </p:blipFill>
        <p:spPr>
          <a:xfrm>
            <a:off x="1986915" y="1835834"/>
            <a:ext cx="8218170" cy="4912396"/>
          </a:xfrm>
          <a:prstGeom prst="rect">
            <a:avLst/>
          </a:prstGeom>
        </p:spPr>
      </p:pic>
    </p:spTree>
    <p:extLst>
      <p:ext uri="{BB962C8B-B14F-4D97-AF65-F5344CB8AC3E}">
        <p14:creationId xmlns:p14="http://schemas.microsoft.com/office/powerpoint/2010/main" val="4316910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5C10B-C384-CCD5-8EC6-5BE4509C8EF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323C88F-5C5F-DFC8-3D64-A12EB55A8D0E}"/>
              </a:ext>
            </a:extLst>
          </p:cNvPr>
          <p:cNvSpPr>
            <a:spLocks noGrp="1"/>
          </p:cNvSpPr>
          <p:nvPr>
            <p:ph type="title"/>
          </p:nvPr>
        </p:nvSpPr>
        <p:spPr>
          <a:xfrm>
            <a:off x="581192" y="3213862"/>
            <a:ext cx="11029616" cy="1013800"/>
          </a:xfrm>
        </p:spPr>
        <p:txBody>
          <a:bodyPr>
            <a:normAutofit/>
          </a:bodyPr>
          <a:lstStyle/>
          <a:p>
            <a:pPr algn="ctr"/>
            <a:r>
              <a:rPr lang="fr-FR" sz="6000" dirty="0">
                <a:solidFill>
                  <a:schemeClr val="tx1"/>
                </a:solidFill>
              </a:rPr>
              <a:t>Bilan</a:t>
            </a:r>
          </a:p>
        </p:txBody>
      </p:sp>
    </p:spTree>
    <p:extLst>
      <p:ext uri="{BB962C8B-B14F-4D97-AF65-F5344CB8AC3E}">
        <p14:creationId xmlns:p14="http://schemas.microsoft.com/office/powerpoint/2010/main" val="3356489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94F0A-57FF-E66A-33A8-5E5922D4CD60}"/>
            </a:ext>
          </a:extLst>
        </p:cNvPr>
        <p:cNvGrpSpPr/>
        <p:nvPr/>
      </p:nvGrpSpPr>
      <p:grpSpPr>
        <a:xfrm>
          <a:off x="0" y="0"/>
          <a:ext cx="0" cy="0"/>
          <a:chOff x="0" y="0"/>
          <a:chExt cx="0" cy="0"/>
        </a:xfrm>
      </p:grpSpPr>
      <p:pic>
        <p:nvPicPr>
          <p:cNvPr id="3" name="Image 2">
            <a:extLst>
              <a:ext uri="{FF2B5EF4-FFF2-40B4-BE49-F238E27FC236}">
                <a16:creationId xmlns:a16="http://schemas.microsoft.com/office/drawing/2014/main" id="{E2395F56-D98B-8CE2-513D-C5544C802316}"/>
              </a:ext>
            </a:extLst>
          </p:cNvPr>
          <p:cNvPicPr>
            <a:picLocks noChangeAspect="1"/>
          </p:cNvPicPr>
          <p:nvPr/>
        </p:nvPicPr>
        <p:blipFill>
          <a:blip r:embed="rId3"/>
          <a:stretch>
            <a:fillRect/>
          </a:stretch>
        </p:blipFill>
        <p:spPr>
          <a:xfrm>
            <a:off x="1753448" y="2622704"/>
            <a:ext cx="8273577" cy="2054992"/>
          </a:xfrm>
          <a:prstGeom prst="rect">
            <a:avLst/>
          </a:prstGeom>
        </p:spPr>
      </p:pic>
      <p:sp>
        <p:nvSpPr>
          <p:cNvPr id="4" name="Titre 3">
            <a:extLst>
              <a:ext uri="{FF2B5EF4-FFF2-40B4-BE49-F238E27FC236}">
                <a16:creationId xmlns:a16="http://schemas.microsoft.com/office/drawing/2014/main" id="{06022CBF-309D-1A58-AF11-BAD873A5C35B}"/>
              </a:ext>
            </a:extLst>
          </p:cNvPr>
          <p:cNvSpPr>
            <a:spLocks noGrp="1"/>
          </p:cNvSpPr>
          <p:nvPr>
            <p:ph type="title"/>
          </p:nvPr>
        </p:nvSpPr>
        <p:spPr/>
        <p:txBody>
          <a:bodyPr/>
          <a:lstStyle/>
          <a:p>
            <a:r>
              <a:rPr lang="fr-FR" b="1" dirty="0"/>
              <a:t>EVALUATION Finale</a:t>
            </a:r>
            <a:br>
              <a:rPr lang="fr-FR" dirty="0"/>
            </a:br>
            <a:endParaRPr lang="fr-FR" dirty="0"/>
          </a:p>
        </p:txBody>
      </p:sp>
      <p:sp>
        <p:nvSpPr>
          <p:cNvPr id="5" name="ZoneTexte 4">
            <a:extLst>
              <a:ext uri="{FF2B5EF4-FFF2-40B4-BE49-F238E27FC236}">
                <a16:creationId xmlns:a16="http://schemas.microsoft.com/office/drawing/2014/main" id="{75E44E83-82B1-8472-570C-FA15AE994CB0}"/>
              </a:ext>
            </a:extLst>
          </p:cNvPr>
          <p:cNvSpPr txBox="1"/>
          <p:nvPr/>
        </p:nvSpPr>
        <p:spPr>
          <a:xfrm>
            <a:off x="4123479" y="5292354"/>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Interprétation des résultats du modèle</a:t>
            </a:r>
          </a:p>
        </p:txBody>
      </p:sp>
      <p:sp>
        <p:nvSpPr>
          <p:cNvPr id="8" name="Rectangle 7">
            <a:extLst>
              <a:ext uri="{FF2B5EF4-FFF2-40B4-BE49-F238E27FC236}">
                <a16:creationId xmlns:a16="http://schemas.microsoft.com/office/drawing/2014/main" id="{A3525A5F-63BC-3C7A-E69E-33CB93D6419A}"/>
              </a:ext>
            </a:extLst>
          </p:cNvPr>
          <p:cNvSpPr/>
          <p:nvPr/>
        </p:nvSpPr>
        <p:spPr>
          <a:xfrm>
            <a:off x="6508937" y="3674638"/>
            <a:ext cx="819150" cy="426556"/>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AF6CC60E-B23E-2C8D-A0E0-785823DE469C}"/>
              </a:ext>
            </a:extLst>
          </p:cNvPr>
          <p:cNvSpPr/>
          <p:nvPr/>
        </p:nvSpPr>
        <p:spPr>
          <a:xfrm>
            <a:off x="7409372" y="4176167"/>
            <a:ext cx="819150" cy="426556"/>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7F41AC11-7867-3C4A-8B9F-98CB3B462A00}"/>
              </a:ext>
            </a:extLst>
          </p:cNvPr>
          <p:cNvSpPr/>
          <p:nvPr/>
        </p:nvSpPr>
        <p:spPr>
          <a:xfrm>
            <a:off x="8267981" y="3674638"/>
            <a:ext cx="819150" cy="426556"/>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B6613796-E50F-5997-C361-1920D5BABCDE}"/>
              </a:ext>
            </a:extLst>
          </p:cNvPr>
          <p:cNvSpPr/>
          <p:nvPr/>
        </p:nvSpPr>
        <p:spPr>
          <a:xfrm>
            <a:off x="9173137" y="3674638"/>
            <a:ext cx="819150" cy="426556"/>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707618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3">
            <a:extLst>
              <a:ext uri="{FF2B5EF4-FFF2-40B4-BE49-F238E27FC236}">
                <a16:creationId xmlns:a16="http://schemas.microsoft.com/office/drawing/2014/main" id="{18EB53AB-FFA5-379A-BD6D-C07E347591D2}"/>
              </a:ext>
            </a:extLst>
          </p:cNvPr>
          <p:cNvSpPr>
            <a:spLocks noGrp="1"/>
          </p:cNvSpPr>
          <p:nvPr>
            <p:ph type="title"/>
          </p:nvPr>
        </p:nvSpPr>
        <p:spPr>
          <a:xfrm>
            <a:off x="581192" y="702156"/>
            <a:ext cx="11029616" cy="1013800"/>
          </a:xfrm>
        </p:spPr>
        <p:txBody>
          <a:bodyPr/>
          <a:lstStyle/>
          <a:p>
            <a:r>
              <a:rPr lang="fr-FR" b="1" dirty="0"/>
              <a:t>EVALUATION Finale</a:t>
            </a:r>
            <a:br>
              <a:rPr lang="fr-FR" dirty="0"/>
            </a:br>
            <a:endParaRPr lang="fr-FR" dirty="0"/>
          </a:p>
        </p:txBody>
      </p:sp>
      <p:pic>
        <p:nvPicPr>
          <p:cNvPr id="6" name="Image 5">
            <a:extLst>
              <a:ext uri="{FF2B5EF4-FFF2-40B4-BE49-F238E27FC236}">
                <a16:creationId xmlns:a16="http://schemas.microsoft.com/office/drawing/2014/main" id="{ED4197C8-18EB-36A0-1979-75CCBB1D112A}"/>
              </a:ext>
            </a:extLst>
          </p:cNvPr>
          <p:cNvPicPr>
            <a:picLocks noChangeAspect="1"/>
          </p:cNvPicPr>
          <p:nvPr/>
        </p:nvPicPr>
        <p:blipFill>
          <a:blip r:embed="rId3"/>
          <a:stretch>
            <a:fillRect/>
          </a:stretch>
        </p:blipFill>
        <p:spPr>
          <a:xfrm>
            <a:off x="890392" y="3199532"/>
            <a:ext cx="4063371" cy="2648818"/>
          </a:xfrm>
          <a:prstGeom prst="rect">
            <a:avLst/>
          </a:prstGeom>
        </p:spPr>
      </p:pic>
      <p:pic>
        <p:nvPicPr>
          <p:cNvPr id="12" name="Image 11">
            <a:extLst>
              <a:ext uri="{FF2B5EF4-FFF2-40B4-BE49-F238E27FC236}">
                <a16:creationId xmlns:a16="http://schemas.microsoft.com/office/drawing/2014/main" id="{8F241D61-152B-5C28-509D-831F67B81315}"/>
              </a:ext>
            </a:extLst>
          </p:cNvPr>
          <p:cNvPicPr>
            <a:picLocks noChangeAspect="1"/>
          </p:cNvPicPr>
          <p:nvPr/>
        </p:nvPicPr>
        <p:blipFill>
          <a:blip r:embed="rId4"/>
          <a:stretch>
            <a:fillRect/>
          </a:stretch>
        </p:blipFill>
        <p:spPr>
          <a:xfrm>
            <a:off x="6986413" y="3199532"/>
            <a:ext cx="3600737" cy="2648818"/>
          </a:xfrm>
          <a:prstGeom prst="rect">
            <a:avLst/>
          </a:prstGeom>
        </p:spPr>
      </p:pic>
      <p:sp>
        <p:nvSpPr>
          <p:cNvPr id="14" name="Titre 1">
            <a:extLst>
              <a:ext uri="{FF2B5EF4-FFF2-40B4-BE49-F238E27FC236}">
                <a16:creationId xmlns:a16="http://schemas.microsoft.com/office/drawing/2014/main" id="{66567174-AFA7-31E1-C647-D70B2B83F4FB}"/>
              </a:ext>
            </a:extLst>
          </p:cNvPr>
          <p:cNvSpPr txBox="1">
            <a:spLocks/>
          </p:cNvSpPr>
          <p:nvPr/>
        </p:nvSpPr>
        <p:spPr>
          <a:xfrm>
            <a:off x="735791" y="2185162"/>
            <a:ext cx="4372571" cy="1013800"/>
          </a:xfrm>
          <a:prstGeom prst="rect">
            <a:avLst/>
          </a:prstGeom>
        </p:spPr>
        <p:txBody>
          <a:bodyPr vert="horz" lIns="91440" tIns="45720" rIns="91440" bIns="45720" rtlCol="0" anchor="b">
            <a:normAutofit fontScale="85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4400" dirty="0" err="1">
                <a:solidFill>
                  <a:schemeClr val="tx1"/>
                </a:solidFill>
                <a:latin typeface="Arial" panose="020B0604020202020204" pitchFamily="34" charset="0"/>
                <a:cs typeface="Arial" panose="020B0604020202020204" pitchFamily="34" charset="0"/>
              </a:rPr>
              <a:t>Logistic</a:t>
            </a:r>
            <a:r>
              <a:rPr lang="fr-FR" sz="4400" dirty="0">
                <a:solidFill>
                  <a:schemeClr val="tx1"/>
                </a:solidFill>
                <a:latin typeface="Arial" panose="020B0604020202020204" pitchFamily="34" charset="0"/>
                <a:cs typeface="Arial" panose="020B0604020202020204" pitchFamily="34" charset="0"/>
              </a:rPr>
              <a:t> </a:t>
            </a:r>
            <a:r>
              <a:rPr lang="fr-FR" sz="4400" dirty="0" err="1">
                <a:solidFill>
                  <a:schemeClr val="tx1"/>
                </a:solidFill>
                <a:latin typeface="Arial" panose="020B0604020202020204" pitchFamily="34" charset="0"/>
                <a:cs typeface="Arial" panose="020B0604020202020204" pitchFamily="34" charset="0"/>
              </a:rPr>
              <a:t>Regression</a:t>
            </a:r>
            <a:endParaRPr lang="fr-FR" sz="4400" dirty="0">
              <a:solidFill>
                <a:schemeClr val="tx1"/>
              </a:solidFill>
              <a:latin typeface="Arial" panose="020B0604020202020204" pitchFamily="34" charset="0"/>
              <a:cs typeface="Arial" panose="020B0604020202020204" pitchFamily="34" charset="0"/>
            </a:endParaRPr>
          </a:p>
        </p:txBody>
      </p:sp>
      <p:sp>
        <p:nvSpPr>
          <p:cNvPr id="15" name="Titre 1">
            <a:extLst>
              <a:ext uri="{FF2B5EF4-FFF2-40B4-BE49-F238E27FC236}">
                <a16:creationId xmlns:a16="http://schemas.microsoft.com/office/drawing/2014/main" id="{9D2CC7D2-791E-99BB-47DD-2FAD4DDEE663}"/>
              </a:ext>
            </a:extLst>
          </p:cNvPr>
          <p:cNvSpPr txBox="1">
            <a:spLocks/>
          </p:cNvSpPr>
          <p:nvPr/>
        </p:nvSpPr>
        <p:spPr>
          <a:xfrm>
            <a:off x="6600495" y="2185162"/>
            <a:ext cx="4372571"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4400" dirty="0" err="1">
                <a:solidFill>
                  <a:schemeClr val="tx1"/>
                </a:solidFill>
                <a:latin typeface="Arial" panose="020B0604020202020204" pitchFamily="34" charset="0"/>
                <a:cs typeface="Arial" panose="020B0604020202020204" pitchFamily="34" charset="0"/>
              </a:rPr>
              <a:t>XGBoost</a:t>
            </a:r>
            <a:endParaRPr lang="fr-FR" sz="44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27359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1A2C4-25E2-3728-296E-F6373F7C6360}"/>
            </a:ext>
          </a:extLst>
        </p:cNvPr>
        <p:cNvGrpSpPr/>
        <p:nvPr/>
      </p:nvGrpSpPr>
      <p:grpSpPr>
        <a:xfrm>
          <a:off x="0" y="0"/>
          <a:ext cx="0" cy="0"/>
          <a:chOff x="0" y="0"/>
          <a:chExt cx="0" cy="0"/>
        </a:xfrm>
      </p:grpSpPr>
      <p:sp>
        <p:nvSpPr>
          <p:cNvPr id="8" name="Titre 3">
            <a:extLst>
              <a:ext uri="{FF2B5EF4-FFF2-40B4-BE49-F238E27FC236}">
                <a16:creationId xmlns:a16="http://schemas.microsoft.com/office/drawing/2014/main" id="{E7555151-0FB2-904B-9902-258325CCDE9D}"/>
              </a:ext>
            </a:extLst>
          </p:cNvPr>
          <p:cNvSpPr>
            <a:spLocks noGrp="1"/>
          </p:cNvSpPr>
          <p:nvPr>
            <p:ph type="title"/>
          </p:nvPr>
        </p:nvSpPr>
        <p:spPr>
          <a:xfrm>
            <a:off x="581192" y="702156"/>
            <a:ext cx="11029616" cy="1013800"/>
          </a:xfrm>
        </p:spPr>
        <p:txBody>
          <a:bodyPr/>
          <a:lstStyle/>
          <a:p>
            <a:r>
              <a:rPr lang="fr-FR" b="1" dirty="0"/>
              <a:t>EVALUATION Finale</a:t>
            </a:r>
            <a:br>
              <a:rPr lang="fr-FR" dirty="0"/>
            </a:br>
            <a:endParaRPr lang="fr-FR" dirty="0"/>
          </a:p>
        </p:txBody>
      </p:sp>
      <p:pic>
        <p:nvPicPr>
          <p:cNvPr id="12" name="Image 11">
            <a:extLst>
              <a:ext uri="{FF2B5EF4-FFF2-40B4-BE49-F238E27FC236}">
                <a16:creationId xmlns:a16="http://schemas.microsoft.com/office/drawing/2014/main" id="{7350548B-853C-AAEC-0435-0203CCAD4D8A}"/>
              </a:ext>
            </a:extLst>
          </p:cNvPr>
          <p:cNvPicPr>
            <a:picLocks noChangeAspect="1"/>
          </p:cNvPicPr>
          <p:nvPr/>
        </p:nvPicPr>
        <p:blipFill>
          <a:blip r:embed="rId3"/>
          <a:stretch>
            <a:fillRect/>
          </a:stretch>
        </p:blipFill>
        <p:spPr>
          <a:xfrm>
            <a:off x="865013" y="3199532"/>
            <a:ext cx="3600737" cy="2648818"/>
          </a:xfrm>
          <a:prstGeom prst="rect">
            <a:avLst/>
          </a:prstGeom>
        </p:spPr>
      </p:pic>
      <p:sp>
        <p:nvSpPr>
          <p:cNvPr id="15" name="Titre 1">
            <a:extLst>
              <a:ext uri="{FF2B5EF4-FFF2-40B4-BE49-F238E27FC236}">
                <a16:creationId xmlns:a16="http://schemas.microsoft.com/office/drawing/2014/main" id="{2C0E204B-583C-A6F5-BFD5-DC91225801B8}"/>
              </a:ext>
            </a:extLst>
          </p:cNvPr>
          <p:cNvSpPr txBox="1">
            <a:spLocks/>
          </p:cNvSpPr>
          <p:nvPr/>
        </p:nvSpPr>
        <p:spPr>
          <a:xfrm>
            <a:off x="479095" y="2185162"/>
            <a:ext cx="4372571"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4400" dirty="0" err="1">
                <a:solidFill>
                  <a:schemeClr val="tx1"/>
                </a:solidFill>
                <a:latin typeface="Arial" panose="020B0604020202020204" pitchFamily="34" charset="0"/>
                <a:cs typeface="Arial" panose="020B0604020202020204" pitchFamily="34" charset="0"/>
              </a:rPr>
              <a:t>XGBoost</a:t>
            </a:r>
            <a:endParaRPr lang="fr-FR" sz="4400" dirty="0">
              <a:solidFill>
                <a:schemeClr val="tx1"/>
              </a:solidFill>
              <a:latin typeface="Arial" panose="020B0604020202020204" pitchFamily="34" charset="0"/>
              <a:cs typeface="Arial" panose="020B0604020202020204" pitchFamily="34" charset="0"/>
            </a:endParaRPr>
          </a:p>
        </p:txBody>
      </p:sp>
      <p:sp>
        <p:nvSpPr>
          <p:cNvPr id="3" name="ZoneTexte 2">
            <a:extLst>
              <a:ext uri="{FF2B5EF4-FFF2-40B4-BE49-F238E27FC236}">
                <a16:creationId xmlns:a16="http://schemas.microsoft.com/office/drawing/2014/main" id="{36D085EB-17E2-1495-7DD1-F070CEF791A5}"/>
              </a:ext>
            </a:extLst>
          </p:cNvPr>
          <p:cNvSpPr txBox="1"/>
          <p:nvPr/>
        </p:nvSpPr>
        <p:spPr>
          <a:xfrm>
            <a:off x="5575300" y="3886200"/>
            <a:ext cx="5562600" cy="1200329"/>
          </a:xfrm>
          <a:prstGeom prst="rect">
            <a:avLst/>
          </a:prstGeom>
          <a:noFill/>
        </p:spPr>
        <p:txBody>
          <a:bodyPr wrap="square" rtlCol="0">
            <a:spAutoFit/>
          </a:bodyPr>
          <a:lstStyle/>
          <a:p>
            <a:pPr marL="285750" indent="-285750">
              <a:buFont typeface="Arial" panose="020B0604020202020204" pitchFamily="34" charset="0"/>
              <a:buChar char="•"/>
            </a:pPr>
            <a:r>
              <a:rPr lang="fr-FR" sz="2400" dirty="0"/>
              <a:t>152 départs correctement détectés</a:t>
            </a:r>
          </a:p>
          <a:p>
            <a:pPr marL="285750" indent="-285750">
              <a:buFont typeface="Arial" panose="020B0604020202020204" pitchFamily="34" charset="0"/>
              <a:buChar char="•"/>
            </a:pPr>
            <a:r>
              <a:rPr lang="fr-FR" sz="2400" dirty="0"/>
              <a:t>Seulement 6 départs manqués</a:t>
            </a:r>
          </a:p>
          <a:p>
            <a:pPr marL="285750" indent="-285750">
              <a:buFont typeface="Arial" panose="020B0604020202020204" pitchFamily="34" charset="0"/>
              <a:buChar char="•"/>
            </a:pPr>
            <a:r>
              <a:rPr lang="fr-FR" sz="2400" dirty="0"/>
              <a:t>46 fausses alertes</a:t>
            </a:r>
          </a:p>
        </p:txBody>
      </p:sp>
      <p:sp>
        <p:nvSpPr>
          <p:cNvPr id="7" name="ZoneTexte 6">
            <a:extLst>
              <a:ext uri="{FF2B5EF4-FFF2-40B4-BE49-F238E27FC236}">
                <a16:creationId xmlns:a16="http://schemas.microsoft.com/office/drawing/2014/main" id="{B56CD812-31E7-8C42-76BA-54AF6835C414}"/>
              </a:ext>
            </a:extLst>
          </p:cNvPr>
          <p:cNvSpPr txBox="1"/>
          <p:nvPr/>
        </p:nvSpPr>
        <p:spPr>
          <a:xfrm>
            <a:off x="5575299" y="2494746"/>
            <a:ext cx="5751687" cy="954107"/>
          </a:xfrm>
          <a:prstGeom prst="rect">
            <a:avLst/>
          </a:prstGeom>
          <a:noFill/>
        </p:spPr>
        <p:txBody>
          <a:bodyPr wrap="square" rtlCol="0">
            <a:spAutoFit/>
          </a:bodyPr>
          <a:lstStyle/>
          <a:p>
            <a:r>
              <a:rPr lang="fr-FR" sz="2800" dirty="0"/>
              <a:t>Plus adapté à notre </a:t>
            </a:r>
            <a:r>
              <a:rPr lang="fr-FR" sz="2800" dirty="0" err="1"/>
              <a:t>problèmatique</a:t>
            </a:r>
            <a:r>
              <a:rPr lang="fr-FR" sz="2800" dirty="0"/>
              <a:t> métier RH</a:t>
            </a:r>
          </a:p>
        </p:txBody>
      </p:sp>
    </p:spTree>
    <p:extLst>
      <p:ext uri="{BB962C8B-B14F-4D97-AF65-F5344CB8AC3E}">
        <p14:creationId xmlns:p14="http://schemas.microsoft.com/office/powerpoint/2010/main" val="13752986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5402F-471B-553A-AB43-A1D1DD523F2D}"/>
            </a:ext>
          </a:extLst>
        </p:cNvPr>
        <p:cNvGrpSpPr/>
        <p:nvPr/>
      </p:nvGrpSpPr>
      <p:grpSpPr>
        <a:xfrm>
          <a:off x="0" y="0"/>
          <a:ext cx="0" cy="0"/>
          <a:chOff x="0" y="0"/>
          <a:chExt cx="0" cy="0"/>
        </a:xfrm>
      </p:grpSpPr>
      <p:sp>
        <p:nvSpPr>
          <p:cNvPr id="4" name="Titre 3">
            <a:extLst>
              <a:ext uri="{FF2B5EF4-FFF2-40B4-BE49-F238E27FC236}">
                <a16:creationId xmlns:a16="http://schemas.microsoft.com/office/drawing/2014/main" id="{40546A46-5AAF-8FDA-AD9D-22B8418F9785}"/>
              </a:ext>
            </a:extLst>
          </p:cNvPr>
          <p:cNvSpPr>
            <a:spLocks noGrp="1"/>
          </p:cNvSpPr>
          <p:nvPr>
            <p:ph type="title"/>
          </p:nvPr>
        </p:nvSpPr>
        <p:spPr/>
        <p:txBody>
          <a:bodyPr/>
          <a:lstStyle/>
          <a:p>
            <a:r>
              <a:rPr lang="fr-FR" b="1" dirty="0"/>
              <a:t>EVALUATION Finale</a:t>
            </a:r>
            <a:br>
              <a:rPr lang="fr-FR" dirty="0"/>
            </a:br>
            <a:endParaRPr lang="fr-FR" dirty="0"/>
          </a:p>
        </p:txBody>
      </p:sp>
      <p:sp>
        <p:nvSpPr>
          <p:cNvPr id="7" name="ZoneTexte 6">
            <a:extLst>
              <a:ext uri="{FF2B5EF4-FFF2-40B4-BE49-F238E27FC236}">
                <a16:creationId xmlns:a16="http://schemas.microsoft.com/office/drawing/2014/main" id="{CB154B68-022E-788C-02E9-1F6A6C998B4F}"/>
              </a:ext>
            </a:extLst>
          </p:cNvPr>
          <p:cNvSpPr txBox="1"/>
          <p:nvPr/>
        </p:nvSpPr>
        <p:spPr>
          <a:xfrm>
            <a:off x="6982788" y="3429000"/>
            <a:ext cx="4812176" cy="153670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err="1"/>
              <a:t>Features</a:t>
            </a:r>
            <a:r>
              <a:rPr lang="fr-FR" sz="3600" kern="1200" noProof="0" dirty="0"/>
              <a:t> Importances</a:t>
            </a:r>
          </a:p>
          <a:p>
            <a:pPr marL="0" lvl="0" indent="0" algn="ctr" defTabSz="1600200" rtl="0">
              <a:lnSpc>
                <a:spcPct val="90000"/>
              </a:lnSpc>
              <a:spcBef>
                <a:spcPct val="0"/>
              </a:spcBef>
              <a:spcAft>
                <a:spcPct val="35000"/>
              </a:spcAft>
              <a:buNone/>
            </a:pPr>
            <a:r>
              <a:rPr lang="fr-FR" sz="3600" dirty="0"/>
              <a:t>Méthode </a:t>
            </a:r>
            <a:r>
              <a:rPr lang="fr-FR" sz="3600" dirty="0" err="1"/>
              <a:t>Beeswarm</a:t>
            </a:r>
            <a:r>
              <a:rPr lang="fr-FR" sz="3600" dirty="0"/>
              <a:t> SHAP</a:t>
            </a:r>
            <a:endParaRPr lang="fr-FR" sz="3600" kern="1200" noProof="0" dirty="0"/>
          </a:p>
        </p:txBody>
      </p:sp>
      <p:pic>
        <p:nvPicPr>
          <p:cNvPr id="5" name="Image 4">
            <a:extLst>
              <a:ext uri="{FF2B5EF4-FFF2-40B4-BE49-F238E27FC236}">
                <a16:creationId xmlns:a16="http://schemas.microsoft.com/office/drawing/2014/main" id="{D3D3DB8E-4CDC-113F-E1B0-3DF42201CF7B}"/>
              </a:ext>
            </a:extLst>
          </p:cNvPr>
          <p:cNvPicPr>
            <a:picLocks noChangeAspect="1"/>
          </p:cNvPicPr>
          <p:nvPr/>
        </p:nvPicPr>
        <p:blipFill>
          <a:blip r:embed="rId3"/>
          <a:stretch>
            <a:fillRect/>
          </a:stretch>
        </p:blipFill>
        <p:spPr>
          <a:xfrm>
            <a:off x="449844" y="2116006"/>
            <a:ext cx="6563424" cy="4340064"/>
          </a:xfrm>
          <a:prstGeom prst="rect">
            <a:avLst/>
          </a:prstGeom>
        </p:spPr>
      </p:pic>
      <p:sp>
        <p:nvSpPr>
          <p:cNvPr id="6" name="Titre 1">
            <a:extLst>
              <a:ext uri="{FF2B5EF4-FFF2-40B4-BE49-F238E27FC236}">
                <a16:creationId xmlns:a16="http://schemas.microsoft.com/office/drawing/2014/main" id="{425CCF26-E480-46FC-4D55-DF1FE7710E31}"/>
              </a:ext>
            </a:extLst>
          </p:cNvPr>
          <p:cNvSpPr txBox="1">
            <a:spLocks/>
          </p:cNvSpPr>
          <p:nvPr/>
        </p:nvSpPr>
        <p:spPr>
          <a:xfrm>
            <a:off x="3865869" y="1915312"/>
            <a:ext cx="1109992" cy="401388"/>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1400" dirty="0">
                <a:solidFill>
                  <a:schemeClr val="tx1"/>
                </a:solidFill>
                <a:latin typeface="Arial" panose="020B0604020202020204" pitchFamily="34" charset="0"/>
                <a:cs typeface="Arial" panose="020B0604020202020204" pitchFamily="34" charset="0"/>
              </a:rPr>
              <a:t>Reste</a:t>
            </a:r>
          </a:p>
        </p:txBody>
      </p:sp>
      <p:sp>
        <p:nvSpPr>
          <p:cNvPr id="8" name="Titre 1">
            <a:extLst>
              <a:ext uri="{FF2B5EF4-FFF2-40B4-BE49-F238E27FC236}">
                <a16:creationId xmlns:a16="http://schemas.microsoft.com/office/drawing/2014/main" id="{89C55D6A-F499-C008-B751-EC603C25B471}"/>
              </a:ext>
            </a:extLst>
          </p:cNvPr>
          <p:cNvSpPr txBox="1">
            <a:spLocks/>
          </p:cNvSpPr>
          <p:nvPr/>
        </p:nvSpPr>
        <p:spPr>
          <a:xfrm>
            <a:off x="5189208" y="1915312"/>
            <a:ext cx="1109992" cy="401388"/>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fr-FR" sz="1400" dirty="0">
                <a:solidFill>
                  <a:schemeClr val="tx1"/>
                </a:solidFill>
                <a:latin typeface="Arial" panose="020B0604020202020204" pitchFamily="34" charset="0"/>
                <a:cs typeface="Arial" panose="020B0604020202020204" pitchFamily="34" charset="0"/>
              </a:rPr>
              <a:t>PART</a:t>
            </a:r>
          </a:p>
        </p:txBody>
      </p:sp>
    </p:spTree>
    <p:extLst>
      <p:ext uri="{BB962C8B-B14F-4D97-AF65-F5344CB8AC3E}">
        <p14:creationId xmlns:p14="http://schemas.microsoft.com/office/powerpoint/2010/main" val="12149221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B18B833-405A-98C1-A288-499D9175B89E}"/>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093C1BDC-2C05-BF86-B68A-94D066C59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29571379-3E20-69F7-9628-23ADBCDE36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5141CCC8-361F-2DEE-6A82-B39F954F7C3F}"/>
              </a:ext>
            </a:extLst>
          </p:cNvPr>
          <p:cNvSpPr>
            <a:spLocks noGrp="1"/>
          </p:cNvSpPr>
          <p:nvPr>
            <p:ph type="title"/>
          </p:nvPr>
        </p:nvSpPr>
        <p:spPr>
          <a:xfrm>
            <a:off x="581192" y="5264487"/>
            <a:ext cx="11029616" cy="718870"/>
          </a:xfrm>
        </p:spPr>
        <p:txBody>
          <a:bodyPr rtlCol="0">
            <a:normAutofit/>
          </a:bodyPr>
          <a:lstStyle/>
          <a:p>
            <a:pPr rtl="0"/>
            <a:r>
              <a:rPr lang="fr-FR" dirty="0">
                <a:solidFill>
                  <a:srgbClr val="FFFEFF"/>
                </a:solidFill>
              </a:rPr>
              <a:t>Ce qu’il faut changer pour réduire les démissions</a:t>
            </a:r>
          </a:p>
        </p:txBody>
      </p:sp>
      <p:sp>
        <p:nvSpPr>
          <p:cNvPr id="9" name="ZoneTexte 8">
            <a:extLst>
              <a:ext uri="{FF2B5EF4-FFF2-40B4-BE49-F238E27FC236}">
                <a16:creationId xmlns:a16="http://schemas.microsoft.com/office/drawing/2014/main" id="{269AD7A6-C290-ACEC-8A86-EABD7A5787B8}"/>
              </a:ext>
            </a:extLst>
          </p:cNvPr>
          <p:cNvSpPr txBox="1"/>
          <p:nvPr/>
        </p:nvSpPr>
        <p:spPr>
          <a:xfrm rot="16200000">
            <a:off x="-1196934" y="2450379"/>
            <a:ext cx="3920916" cy="769441"/>
          </a:xfrm>
          <a:prstGeom prst="rect">
            <a:avLst/>
          </a:prstGeom>
          <a:noFill/>
        </p:spPr>
        <p:txBody>
          <a:bodyPr wrap="square">
            <a:spAutoFit/>
          </a:bodyPr>
          <a:lstStyle/>
          <a:p>
            <a:r>
              <a:rPr lang="fr-FR" sz="4400" dirty="0" err="1"/>
              <a:t>Counterfactuals</a:t>
            </a:r>
            <a:endParaRPr lang="fr-FR" sz="4400" dirty="0"/>
          </a:p>
        </p:txBody>
      </p:sp>
      <p:pic>
        <p:nvPicPr>
          <p:cNvPr id="5" name="Image 4">
            <a:extLst>
              <a:ext uri="{FF2B5EF4-FFF2-40B4-BE49-F238E27FC236}">
                <a16:creationId xmlns:a16="http://schemas.microsoft.com/office/drawing/2014/main" id="{CED3A3B5-FB71-2C16-AE87-011F126522B0}"/>
              </a:ext>
            </a:extLst>
          </p:cNvPr>
          <p:cNvPicPr>
            <a:picLocks noChangeAspect="1"/>
          </p:cNvPicPr>
          <p:nvPr/>
        </p:nvPicPr>
        <p:blipFill>
          <a:blip r:embed="rId3"/>
          <a:stretch>
            <a:fillRect/>
          </a:stretch>
        </p:blipFill>
        <p:spPr>
          <a:xfrm>
            <a:off x="1596062" y="650136"/>
            <a:ext cx="9422651" cy="4614351"/>
          </a:xfrm>
          <a:prstGeom prst="rect">
            <a:avLst/>
          </a:prstGeom>
        </p:spPr>
      </p:pic>
    </p:spTree>
    <p:extLst>
      <p:ext uri="{BB962C8B-B14F-4D97-AF65-F5344CB8AC3E}">
        <p14:creationId xmlns:p14="http://schemas.microsoft.com/office/powerpoint/2010/main" val="41120416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934296-83DA-CEAD-A449-078039C09F3C}"/>
              </a:ext>
            </a:extLst>
          </p:cNvPr>
          <p:cNvSpPr>
            <a:spLocks noGrp="1"/>
          </p:cNvSpPr>
          <p:nvPr>
            <p:ph type="title"/>
          </p:nvPr>
        </p:nvSpPr>
        <p:spPr/>
        <p:txBody>
          <a:bodyPr/>
          <a:lstStyle/>
          <a:p>
            <a:r>
              <a:rPr lang="fr-FR" dirty="0"/>
              <a:t>Analyse des résultats</a:t>
            </a:r>
          </a:p>
        </p:txBody>
      </p:sp>
      <p:sp>
        <p:nvSpPr>
          <p:cNvPr id="6" name="ZoneTexte 5">
            <a:extLst>
              <a:ext uri="{FF2B5EF4-FFF2-40B4-BE49-F238E27FC236}">
                <a16:creationId xmlns:a16="http://schemas.microsoft.com/office/drawing/2014/main" id="{ED86BB06-FCE9-520A-8158-7E97B6EF4988}"/>
              </a:ext>
            </a:extLst>
          </p:cNvPr>
          <p:cNvSpPr txBox="1"/>
          <p:nvPr/>
        </p:nvSpPr>
        <p:spPr>
          <a:xfrm>
            <a:off x="581192" y="2144236"/>
            <a:ext cx="6096000" cy="2031325"/>
          </a:xfrm>
          <a:prstGeom prst="rect">
            <a:avLst/>
          </a:prstGeom>
          <a:noFill/>
        </p:spPr>
        <p:txBody>
          <a:bodyPr wrap="square">
            <a:spAutoFit/>
          </a:bodyPr>
          <a:lstStyle/>
          <a:p>
            <a:pPr marL="285750" indent="-285750">
              <a:buFont typeface="Arial" panose="020B0604020202020204" pitchFamily="34" charset="0"/>
              <a:buChar char="•"/>
            </a:pPr>
            <a:r>
              <a:rPr lang="fr-FR" dirty="0">
                <a:latin typeface="Arial" panose="020B0604020202020204" pitchFamily="34" charset="0"/>
                <a:cs typeface="Arial" panose="020B0604020202020204" pitchFamily="34" charset="0"/>
              </a:rPr>
              <a:t>L'analyse SHAP montre que la </a:t>
            </a:r>
            <a:r>
              <a:rPr lang="fr-FR" b="1" dirty="0">
                <a:latin typeface="Arial" panose="020B0604020202020204" pitchFamily="34" charset="0"/>
                <a:cs typeface="Arial" panose="020B0604020202020204" pitchFamily="34" charset="0"/>
              </a:rPr>
              <a:t>participation PEE est la variable la plus influente</a:t>
            </a:r>
            <a:r>
              <a:rPr lang="fr-FR" dirty="0">
                <a:latin typeface="Arial" panose="020B0604020202020204" pitchFamily="34" charset="0"/>
                <a:cs typeface="Arial" panose="020B0604020202020204" pitchFamily="34" charset="0"/>
              </a:rPr>
              <a:t> dans la prédiction du départ des employés. Les </a:t>
            </a:r>
            <a:r>
              <a:rPr lang="fr-FR" b="1" dirty="0">
                <a:latin typeface="Arial" panose="020B0604020202020204" pitchFamily="34" charset="0"/>
                <a:cs typeface="Arial" panose="020B0604020202020204" pitchFamily="34" charset="0"/>
              </a:rPr>
              <a:t>valeurs élevées d’heures supplémentaires et de pression au travail </a:t>
            </a:r>
            <a:r>
              <a:rPr lang="fr-FR" dirty="0">
                <a:latin typeface="Arial" panose="020B0604020202020204" pitchFamily="34" charset="0"/>
                <a:cs typeface="Arial" panose="020B0604020202020204" pitchFamily="34" charset="0"/>
              </a:rPr>
              <a:t>sont principalement associées à des valeurs SHAP positives, indiquant </a:t>
            </a:r>
            <a:r>
              <a:rPr lang="fr-FR" b="1" dirty="0">
                <a:latin typeface="Arial" panose="020B0604020202020204" pitchFamily="34" charset="0"/>
                <a:cs typeface="Arial" panose="020B0604020202020204" pitchFamily="34" charset="0"/>
              </a:rPr>
              <a:t>qu'elles augmentent le risque prédit de départ</a:t>
            </a:r>
            <a:r>
              <a:rPr lang="fr-FR" dirty="0">
                <a:latin typeface="Arial" panose="020B0604020202020204" pitchFamily="34" charset="0"/>
                <a:cs typeface="Arial" panose="020B0604020202020204" pitchFamily="34" charset="0"/>
              </a:rPr>
              <a:t>.</a:t>
            </a:r>
          </a:p>
        </p:txBody>
      </p:sp>
      <p:sp>
        <p:nvSpPr>
          <p:cNvPr id="7" name="ZoneTexte 6">
            <a:extLst>
              <a:ext uri="{FF2B5EF4-FFF2-40B4-BE49-F238E27FC236}">
                <a16:creationId xmlns:a16="http://schemas.microsoft.com/office/drawing/2014/main" id="{F4A1394F-8772-5380-C766-1BD6C3FA6249}"/>
              </a:ext>
            </a:extLst>
          </p:cNvPr>
          <p:cNvSpPr txBox="1"/>
          <p:nvPr/>
        </p:nvSpPr>
        <p:spPr>
          <a:xfrm>
            <a:off x="581192" y="4603841"/>
            <a:ext cx="6096000" cy="1200329"/>
          </a:xfrm>
          <a:prstGeom prst="rect">
            <a:avLst/>
          </a:prstGeom>
          <a:noFill/>
        </p:spPr>
        <p:txBody>
          <a:bodyPr wrap="square">
            <a:spAutoFit/>
          </a:bodyPr>
          <a:lstStyle>
            <a:defPPr rtl="0">
              <a:defRPr lang="fr-FR"/>
            </a:defPPr>
            <a:lvl1pPr marL="285750" indent="-285750">
              <a:buFont typeface="Arial" panose="020B0604020202020204" pitchFamily="34" charset="0"/>
              <a:buChar char="•"/>
              <a:defRPr>
                <a:latin typeface="Arial" panose="020B0604020202020204" pitchFamily="34" charset="0"/>
                <a:cs typeface="Arial" panose="020B0604020202020204" pitchFamily="34" charset="0"/>
              </a:defRPr>
            </a:lvl1pPr>
          </a:lstStyle>
          <a:p>
            <a:r>
              <a:rPr lang="fr-FR" dirty="0"/>
              <a:t>Les résultats du modèle doivent être </a:t>
            </a:r>
            <a:r>
              <a:rPr lang="fr-FR" b="1" dirty="0"/>
              <a:t>interprétés avec prudence</a:t>
            </a:r>
            <a:r>
              <a:rPr lang="fr-FR" dirty="0"/>
              <a:t> en raison d’un </a:t>
            </a:r>
            <a:r>
              <a:rPr lang="fr-FR" b="1" dirty="0"/>
              <a:t>risque potentiel de data </a:t>
            </a:r>
            <a:r>
              <a:rPr lang="fr-FR" b="1" dirty="0" err="1"/>
              <a:t>leakage</a:t>
            </a:r>
            <a:r>
              <a:rPr lang="fr-FR" dirty="0"/>
              <a:t> associé aux variables issues du sondage collaborateur. </a:t>
            </a:r>
          </a:p>
        </p:txBody>
      </p:sp>
      <p:sp>
        <p:nvSpPr>
          <p:cNvPr id="8" name="ZoneTexte 7">
            <a:extLst>
              <a:ext uri="{FF2B5EF4-FFF2-40B4-BE49-F238E27FC236}">
                <a16:creationId xmlns:a16="http://schemas.microsoft.com/office/drawing/2014/main" id="{D463666C-40C0-8C75-24EE-995D61180735}"/>
              </a:ext>
            </a:extLst>
          </p:cNvPr>
          <p:cNvSpPr txBox="1"/>
          <p:nvPr/>
        </p:nvSpPr>
        <p:spPr>
          <a:xfrm>
            <a:off x="6934200" y="4603840"/>
            <a:ext cx="4676608" cy="1200329"/>
          </a:xfrm>
          <a:prstGeom prst="rect">
            <a:avLst/>
          </a:prstGeom>
          <a:noFill/>
        </p:spPr>
        <p:txBody>
          <a:bodyPr wrap="square">
            <a:spAutoFit/>
          </a:bodyPr>
          <a:lstStyle>
            <a:defPPr rtl="0">
              <a:defRPr lang="fr-FR"/>
            </a:defPPr>
            <a:lvl1pPr marL="285750" indent="-285750">
              <a:buFont typeface="Arial" panose="020B0604020202020204" pitchFamily="34" charset="0"/>
              <a:buChar char="•"/>
              <a:defRPr>
                <a:latin typeface="Arial" panose="020B0604020202020204" pitchFamily="34" charset="0"/>
                <a:cs typeface="Arial" panose="020B0604020202020204" pitchFamily="34" charset="0"/>
              </a:defRPr>
            </a:lvl1pPr>
          </a:lstStyle>
          <a:p>
            <a:pPr marL="0" indent="0">
              <a:buNone/>
            </a:pPr>
            <a:r>
              <a:rPr lang="fr-FR" b="1" dirty="0"/>
              <a:t>Les postes les plus touchés sont : </a:t>
            </a:r>
          </a:p>
          <a:p>
            <a:r>
              <a:rPr lang="fr-FR" dirty="0"/>
              <a:t>Représentant Commercial</a:t>
            </a:r>
          </a:p>
          <a:p>
            <a:r>
              <a:rPr lang="fr-FR" dirty="0"/>
              <a:t>Consultant</a:t>
            </a:r>
          </a:p>
          <a:p>
            <a:r>
              <a:rPr lang="fr-FR" dirty="0"/>
              <a:t>Ressources Humaines</a:t>
            </a:r>
          </a:p>
        </p:txBody>
      </p:sp>
      <p:sp>
        <p:nvSpPr>
          <p:cNvPr id="10" name="ZoneTexte 9">
            <a:extLst>
              <a:ext uri="{FF2B5EF4-FFF2-40B4-BE49-F238E27FC236}">
                <a16:creationId xmlns:a16="http://schemas.microsoft.com/office/drawing/2014/main" id="{ADCE9426-E859-6887-E12D-99F1362F0F2C}"/>
              </a:ext>
            </a:extLst>
          </p:cNvPr>
          <p:cNvSpPr txBox="1"/>
          <p:nvPr/>
        </p:nvSpPr>
        <p:spPr>
          <a:xfrm>
            <a:off x="6934200" y="2144236"/>
            <a:ext cx="4829175" cy="1477328"/>
          </a:xfrm>
          <a:prstGeom prst="rect">
            <a:avLst/>
          </a:prstGeom>
          <a:noFill/>
        </p:spPr>
        <p:txBody>
          <a:bodyPr wrap="square">
            <a:spAutoFit/>
          </a:bodyPr>
          <a:lstStyle/>
          <a:p>
            <a:pPr marL="285750" indent="-285750">
              <a:buFont typeface="Arial" panose="020B0604020202020204" pitchFamily="34" charset="0"/>
              <a:buChar char="•"/>
            </a:pPr>
            <a:r>
              <a:rPr lang="fr-FR" dirty="0">
                <a:latin typeface="Arial" panose="020B0604020202020204" pitchFamily="34" charset="0"/>
                <a:cs typeface="Arial" panose="020B0604020202020204" pitchFamily="34" charset="0"/>
              </a:rPr>
              <a:t>L'analyse des prédictions montre un modèle capable de prédire les départs avec peu d’erreurs dans les faux négatifs, Le modèle peut donc accompagner la recherche d’éventuels départs</a:t>
            </a:r>
          </a:p>
        </p:txBody>
      </p:sp>
    </p:spTree>
    <p:extLst>
      <p:ext uri="{BB962C8B-B14F-4D97-AF65-F5344CB8AC3E}">
        <p14:creationId xmlns:p14="http://schemas.microsoft.com/office/powerpoint/2010/main" val="1603750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60A667-1637-0FB5-5FFF-5B96BDD5C5B0}"/>
              </a:ext>
            </a:extLst>
          </p:cNvPr>
          <p:cNvSpPr>
            <a:spLocks noGrp="1"/>
          </p:cNvSpPr>
          <p:nvPr>
            <p:ph type="title"/>
          </p:nvPr>
        </p:nvSpPr>
        <p:spPr/>
        <p:txBody>
          <a:bodyPr/>
          <a:lstStyle/>
          <a:p>
            <a:r>
              <a:rPr lang="fr-FR" dirty="0"/>
              <a:t>Recommandations</a:t>
            </a:r>
          </a:p>
        </p:txBody>
      </p:sp>
      <p:sp>
        <p:nvSpPr>
          <p:cNvPr id="9" name="ZoneTexte 8">
            <a:extLst>
              <a:ext uri="{FF2B5EF4-FFF2-40B4-BE49-F238E27FC236}">
                <a16:creationId xmlns:a16="http://schemas.microsoft.com/office/drawing/2014/main" id="{75565FA7-057A-D318-9F88-58A0701CB287}"/>
              </a:ext>
            </a:extLst>
          </p:cNvPr>
          <p:cNvSpPr txBox="1"/>
          <p:nvPr/>
        </p:nvSpPr>
        <p:spPr>
          <a:xfrm>
            <a:off x="428792" y="2277420"/>
            <a:ext cx="11182016" cy="1754326"/>
          </a:xfrm>
          <a:prstGeom prst="rect">
            <a:avLst/>
          </a:prstGeom>
          <a:noFill/>
        </p:spPr>
        <p:txBody>
          <a:bodyPr wrap="square">
            <a:spAutoFit/>
          </a:bodyPr>
          <a:lstStyle>
            <a:defPPr rtl="0">
              <a:defRPr lang="fr-FR"/>
            </a:defPPr>
            <a:lvl1pPr marL="285750" indent="-285750">
              <a:buFont typeface="Arial" panose="020B0604020202020204" pitchFamily="34" charset="0"/>
              <a:buChar char="•"/>
              <a:defRPr>
                <a:latin typeface="Arial" panose="020B0604020202020204" pitchFamily="34" charset="0"/>
                <a:cs typeface="Arial" panose="020B0604020202020204" pitchFamily="34" charset="0"/>
              </a:defRPr>
            </a:lvl1pPr>
          </a:lstStyle>
          <a:p>
            <a:r>
              <a:rPr lang="fr-FR" b="1" dirty="0">
                <a:solidFill>
                  <a:schemeClr val="accent1">
                    <a:lumMod val="60000"/>
                    <a:lumOff val="40000"/>
                  </a:schemeClr>
                </a:solidFill>
              </a:rPr>
              <a:t>Le modèle aide à la prédiction des départs mais ne doivent pas être interprétées comme des causes certaines de départ.</a:t>
            </a:r>
          </a:p>
          <a:p>
            <a:endParaRPr lang="fr-FR" b="1" dirty="0">
              <a:solidFill>
                <a:schemeClr val="accent1">
                  <a:lumMod val="60000"/>
                  <a:lumOff val="40000"/>
                </a:schemeClr>
              </a:solidFill>
            </a:endParaRPr>
          </a:p>
          <a:p>
            <a:r>
              <a:rPr lang="fr-FR" b="1" dirty="0">
                <a:solidFill>
                  <a:schemeClr val="accent5">
                    <a:lumMod val="50000"/>
                  </a:schemeClr>
                </a:solidFill>
              </a:rPr>
              <a:t>Les analyses montrent que participation PEE, la pression au travail, la satisfaction professionnelle et les heures supplémentaires figurent parmi les variables ayant le plus d'influence sur la prédiction du risque de départ</a:t>
            </a:r>
            <a:endParaRPr lang="fr-FR" sz="1400" b="1" dirty="0">
              <a:solidFill>
                <a:schemeClr val="accent5">
                  <a:lumMod val="50000"/>
                </a:schemeClr>
              </a:solidFill>
              <a:latin typeface="Arial" panose="020B0604020202020204" pitchFamily="34" charset="0"/>
              <a:cs typeface="Arial" panose="020B0604020202020204" pitchFamily="34" charset="0"/>
            </a:endParaRPr>
          </a:p>
        </p:txBody>
      </p:sp>
      <p:sp>
        <p:nvSpPr>
          <p:cNvPr id="5" name="ZoneTexte 4">
            <a:extLst>
              <a:ext uri="{FF2B5EF4-FFF2-40B4-BE49-F238E27FC236}">
                <a16:creationId xmlns:a16="http://schemas.microsoft.com/office/drawing/2014/main" id="{2D68F42B-7567-F45A-F4F9-6C6EBEA9F0A5}"/>
              </a:ext>
            </a:extLst>
          </p:cNvPr>
          <p:cNvSpPr txBox="1"/>
          <p:nvPr/>
        </p:nvSpPr>
        <p:spPr>
          <a:xfrm>
            <a:off x="428792" y="4598246"/>
            <a:ext cx="4800601" cy="1384995"/>
          </a:xfrm>
          <a:prstGeom prst="rect">
            <a:avLst/>
          </a:prstGeom>
          <a:noFill/>
        </p:spPr>
        <p:txBody>
          <a:bodyPr wrap="square">
            <a:spAutoFit/>
          </a:bodyPr>
          <a:lstStyle/>
          <a:p>
            <a:endParaRPr lang="fr-FR" dirty="0">
              <a:ln w="0"/>
              <a:solidFill>
                <a:schemeClr val="accent1"/>
              </a:solidFill>
              <a:effectLst>
                <a:outerShdw blurRad="38100" dist="25400" dir="5400000" algn="ctr" rotWithShape="0">
                  <a:srgbClr val="6E747A">
                    <a:alpha val="43000"/>
                  </a:srgbClr>
                </a:outerShdw>
              </a:effectLst>
            </a:endParaRPr>
          </a:p>
          <a:p>
            <a:pPr marL="0" indent="0">
              <a:buNone/>
            </a:pPr>
            <a:r>
              <a:rPr lang="fr-FR" dirty="0">
                <a:ln w="0"/>
                <a:solidFill>
                  <a:schemeClr val="accent1"/>
                </a:solidFill>
                <a:effectLst>
                  <a:outerShdw blurRad="38100" dist="25400" dir="5400000" algn="ctr" rotWithShape="0">
                    <a:srgbClr val="6E747A">
                      <a:alpha val="43000"/>
                    </a:srgbClr>
                  </a:outerShdw>
                </a:effectLst>
              </a:rPr>
              <a:t>Créer des indicateurs de suivi : </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évolution des heures supplémentaires</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score de satisfaction</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taux de départs</a:t>
            </a:r>
            <a:endParaRPr lang="fr-FR" sz="1600" dirty="0">
              <a:ln w="0"/>
              <a:solidFill>
                <a:schemeClr val="accent1"/>
              </a:solidFill>
              <a:effectLst>
                <a:outerShdw blurRad="38100" dist="25400" dir="5400000" algn="ctr" rotWithShape="0">
                  <a:srgbClr val="6E747A">
                    <a:alpha val="43000"/>
                  </a:srgbClr>
                </a:outerShdw>
              </a:effectLst>
            </a:endParaRPr>
          </a:p>
        </p:txBody>
      </p:sp>
      <p:sp>
        <p:nvSpPr>
          <p:cNvPr id="6" name="ZoneTexte 5">
            <a:extLst>
              <a:ext uri="{FF2B5EF4-FFF2-40B4-BE49-F238E27FC236}">
                <a16:creationId xmlns:a16="http://schemas.microsoft.com/office/drawing/2014/main" id="{3E89F014-BDA8-5981-1706-3062C32ECF1C}"/>
              </a:ext>
            </a:extLst>
          </p:cNvPr>
          <p:cNvSpPr txBox="1"/>
          <p:nvPr/>
        </p:nvSpPr>
        <p:spPr>
          <a:xfrm>
            <a:off x="5572125" y="4598245"/>
            <a:ext cx="6734175" cy="1877437"/>
          </a:xfrm>
          <a:prstGeom prst="rect">
            <a:avLst/>
          </a:prstGeom>
          <a:noFill/>
        </p:spPr>
        <p:txBody>
          <a:bodyPr wrap="square">
            <a:spAutoFit/>
          </a:bodyPr>
          <a:lstStyle/>
          <a:p>
            <a:endParaRPr lang="fr-FR" dirty="0">
              <a:ln w="0"/>
              <a:solidFill>
                <a:schemeClr val="accent1"/>
              </a:solidFill>
              <a:effectLst>
                <a:outerShdw blurRad="38100" dist="25400" dir="5400000" algn="ctr" rotWithShape="0">
                  <a:srgbClr val="6E747A">
                    <a:alpha val="43000"/>
                  </a:srgbClr>
                </a:outerShdw>
              </a:effectLst>
            </a:endParaRPr>
          </a:p>
          <a:p>
            <a:pPr marL="0" indent="0">
              <a:buNone/>
            </a:pPr>
            <a:r>
              <a:rPr lang="fr-FR" dirty="0">
                <a:ln w="0"/>
                <a:solidFill>
                  <a:schemeClr val="accent1"/>
                </a:solidFill>
                <a:effectLst>
                  <a:outerShdw blurRad="38100" dist="25400" dir="5400000" algn="ctr" rotWithShape="0">
                    <a:srgbClr val="6E747A">
                      <a:alpha val="43000"/>
                    </a:srgbClr>
                  </a:outerShdw>
                </a:effectLst>
              </a:rPr>
              <a:t>Mettre en place un plan d’actions : </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identification précoce des situations de surcharge</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analyser les équipes présentant un volume élevé d'heures supplémentaires</a:t>
            </a:r>
          </a:p>
          <a:p>
            <a:pPr marL="857250" indent="-285750">
              <a:buFont typeface="Arial" panose="020B0604020202020204" pitchFamily="34" charset="0"/>
              <a:buChar char="•"/>
            </a:pPr>
            <a:r>
              <a:rPr lang="fr-FR" sz="160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proposer un rééquilibrage des charges lorsque cela est nécessaire</a:t>
            </a:r>
          </a:p>
        </p:txBody>
      </p:sp>
    </p:spTree>
    <p:extLst>
      <p:ext uri="{BB962C8B-B14F-4D97-AF65-F5344CB8AC3E}">
        <p14:creationId xmlns:p14="http://schemas.microsoft.com/office/powerpoint/2010/main" val="1914701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F4E3-7AEA-C2D0-9BD7-C81D15B2794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3A7C98A-4F90-ED76-274C-0D2366AD029F}"/>
              </a:ext>
            </a:extLst>
          </p:cNvPr>
          <p:cNvSpPr>
            <a:spLocks noGrp="1"/>
          </p:cNvSpPr>
          <p:nvPr>
            <p:ph type="title"/>
          </p:nvPr>
        </p:nvSpPr>
        <p:spPr/>
        <p:txBody>
          <a:bodyPr/>
          <a:lstStyle/>
          <a:p>
            <a:r>
              <a:rPr lang="fr-FR" dirty="0"/>
              <a:t>Avertissement</a:t>
            </a:r>
          </a:p>
        </p:txBody>
      </p:sp>
      <p:sp>
        <p:nvSpPr>
          <p:cNvPr id="4" name="ZoneTexte 3">
            <a:extLst>
              <a:ext uri="{FF2B5EF4-FFF2-40B4-BE49-F238E27FC236}">
                <a16:creationId xmlns:a16="http://schemas.microsoft.com/office/drawing/2014/main" id="{86472822-40DF-488E-5438-C028AB871E31}"/>
              </a:ext>
            </a:extLst>
          </p:cNvPr>
          <p:cNvSpPr txBox="1"/>
          <p:nvPr/>
        </p:nvSpPr>
        <p:spPr>
          <a:xfrm>
            <a:off x="1600200" y="3395590"/>
            <a:ext cx="9201150" cy="1200329"/>
          </a:xfrm>
          <a:prstGeom prst="rect">
            <a:avLst/>
          </a:prstGeom>
          <a:noFill/>
        </p:spPr>
        <p:txBody>
          <a:bodyPr wrap="square">
            <a:spAutoFit/>
          </a:bodyPr>
          <a:lstStyle/>
          <a:p>
            <a:pPr algn="just"/>
            <a:r>
              <a:rPr lang="fr-FR" dirty="0"/>
              <a:t>Les recommandations proposées reposent sur les facteurs associés aux prédictions du modèle. Elles ne doivent pas être interprétées comme des causes certaines de départ. Une validation complémentaire par des analyses RH qualitatives (entretiens, enquêtes internes) est nécessaire avant toute décision opérationnelle.</a:t>
            </a:r>
          </a:p>
        </p:txBody>
      </p:sp>
    </p:spTree>
    <p:extLst>
      <p:ext uri="{BB962C8B-B14F-4D97-AF65-F5344CB8AC3E}">
        <p14:creationId xmlns:p14="http://schemas.microsoft.com/office/powerpoint/2010/main" val="18908655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nvGrpSpPr>
          <p:cNvPr id="14" name="Groupe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 name="Titre 1">
            <a:extLst>
              <a:ext uri="{FF2B5EF4-FFF2-40B4-BE49-F238E27FC236}">
                <a16:creationId xmlns:a16="http://schemas.microsoft.com/office/drawing/2014/main" id="{0F87E73C-2B1A-4602-BFBE-CFE1E55D9B38}"/>
              </a:ext>
            </a:extLst>
          </p:cNvPr>
          <p:cNvSpPr>
            <a:spLocks noGrp="1"/>
          </p:cNvSpPr>
          <p:nvPr>
            <p:ph type="ctrTitle"/>
          </p:nvPr>
        </p:nvSpPr>
        <p:spPr>
          <a:xfrm>
            <a:off x="8296275" y="1419226"/>
            <a:ext cx="3081576" cy="1746762"/>
          </a:xfrm>
        </p:spPr>
        <p:txBody>
          <a:bodyPr rtlCol="0">
            <a:normAutofit/>
          </a:bodyPr>
          <a:lstStyle/>
          <a:p>
            <a:pPr rtl="0"/>
            <a:r>
              <a:rPr lang="fr-FR">
                <a:solidFill>
                  <a:srgbClr val="FFFFFF"/>
                </a:solidFill>
              </a:rPr>
              <a:t>Merci</a:t>
            </a:r>
          </a:p>
        </p:txBody>
      </p:sp>
      <p:pic>
        <p:nvPicPr>
          <p:cNvPr id="5" name="Image 4" descr="Valeurs numérique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Personnalisé">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61208800_TF56390039_Win32" id="{FCB14B3E-2B92-48B8-A334-05E7A8EE34E1}" vid="{B6EC9E21-8C82-4EB1-BBE7-A370F785D0C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Conception technique</Template>
  <TotalTime>4778</TotalTime>
  <Words>2037</Words>
  <Application>Microsoft Office PowerPoint</Application>
  <PresentationFormat>Grand écran</PresentationFormat>
  <Paragraphs>347</Paragraphs>
  <Slides>46</Slides>
  <Notes>38</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46</vt:i4>
      </vt:variant>
    </vt:vector>
  </HeadingPairs>
  <TitlesOfParts>
    <vt:vector size="56" baseType="lpstr">
      <vt:lpstr>Aptos</vt:lpstr>
      <vt:lpstr>Aptos Display</vt:lpstr>
      <vt:lpstr>Arial</vt:lpstr>
      <vt:lpstr>Calibri</vt:lpstr>
      <vt:lpstr>Consolas</vt:lpstr>
      <vt:lpstr>Gill Sans MT</vt:lpstr>
      <vt:lpstr>Segoe UI Black</vt:lpstr>
      <vt:lpstr>Verdana</vt:lpstr>
      <vt:lpstr>Wingdings 2</vt:lpstr>
      <vt:lpstr>Personnalisé</vt:lpstr>
      <vt:lpstr>Tech-Nova </vt:lpstr>
      <vt:lpstr>Formation Développeur IA</vt:lpstr>
      <vt:lpstr>Le Projet</vt:lpstr>
      <vt:lpstr>Le CLIENT ESN TechNova Partners</vt:lpstr>
      <vt:lpstr>objectifs</vt:lpstr>
      <vt:lpstr>Les Données d’entrée</vt:lpstr>
      <vt:lpstr>Préparation des données</vt:lpstr>
      <vt:lpstr>Jonction des Données</vt:lpstr>
      <vt:lpstr>Vérification des erreurs</vt:lpstr>
      <vt:lpstr>Colonnes inutiles</vt:lpstr>
      <vt:lpstr>Conversion des colonnes Non-numériques</vt:lpstr>
      <vt:lpstr>DataFrame Exploitable</vt:lpstr>
      <vt:lpstr>Exploration des données</vt:lpstr>
      <vt:lpstr>Vérification des outliers</vt:lpstr>
      <vt:lpstr>Vérification des outliers</vt:lpstr>
      <vt:lpstr>Vérification des outliers</vt:lpstr>
      <vt:lpstr>Matrice de confusion</vt:lpstr>
      <vt:lpstr>Matrice de confusion</vt:lpstr>
      <vt:lpstr>Distribution des données</vt:lpstr>
      <vt:lpstr>Distribution des données</vt:lpstr>
      <vt:lpstr>Présentation PowerPoint</vt:lpstr>
      <vt:lpstr>Répartition des Valeurs</vt:lpstr>
      <vt:lpstr>Présentation PowerPoint</vt:lpstr>
      <vt:lpstr>Présentation PowerPoint</vt:lpstr>
      <vt:lpstr>Présentation PowerPoint</vt:lpstr>
      <vt:lpstr>AJUSTEMENTS</vt:lpstr>
      <vt:lpstr>Présentation PowerPoint</vt:lpstr>
      <vt:lpstr>Présentation PowerPoint</vt:lpstr>
      <vt:lpstr>MODELISATION</vt:lpstr>
      <vt:lpstr>3 Modèles </vt:lpstr>
      <vt:lpstr>séparation train/test </vt:lpstr>
      <vt:lpstr>Scores des prédictions </vt:lpstr>
      <vt:lpstr>Enchainement des entrainements / Prédictions </vt:lpstr>
      <vt:lpstr>Passes </vt:lpstr>
      <vt:lpstr>EVALUATION Finale </vt:lpstr>
      <vt:lpstr>EVALUATION Finale </vt:lpstr>
      <vt:lpstr>Bilan</vt:lpstr>
      <vt:lpstr>EVALUATION Finale </vt:lpstr>
      <vt:lpstr>EVALUATION Finale </vt:lpstr>
      <vt:lpstr>EVALUATION Finale </vt:lpstr>
      <vt:lpstr>EVALUATION Finale </vt:lpstr>
      <vt:lpstr>Ce qu’il faut changer pour réduire les démissions</vt:lpstr>
      <vt:lpstr>Analyse des résultats</vt:lpstr>
      <vt:lpstr>Recommandations</vt:lpstr>
      <vt:lpstr>Avertissement</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auguey</dc:creator>
  <cp:lastModifiedBy>thomas auguey</cp:lastModifiedBy>
  <cp:revision>269</cp:revision>
  <dcterms:created xsi:type="dcterms:W3CDTF">2026-06-01T07:45:08Z</dcterms:created>
  <dcterms:modified xsi:type="dcterms:W3CDTF">2026-06-20T10:41:55Z</dcterms:modified>
</cp:coreProperties>
</file>