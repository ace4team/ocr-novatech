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15"/>
  </p:notesMasterIdLst>
  <p:handoutMasterIdLst>
    <p:handoutMasterId r:id="rId16"/>
  </p:handout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1" r:id="rId9"/>
    <p:sldId id="269" r:id="rId10"/>
    <p:sldId id="268" r:id="rId11"/>
    <p:sldId id="258" r:id="rId12"/>
    <p:sldId id="259" r:id="rId13"/>
    <p:sldId id="260" r:id="rId14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48" autoAdjust="0"/>
  </p:normalViewPr>
  <p:slideViewPr>
    <p:cSldViewPr snapToGrid="0">
      <p:cViewPr varScale="1">
        <p:scale>
          <a:sx n="67" d="100"/>
          <a:sy n="67" d="100"/>
        </p:scale>
        <p:origin x="96" y="3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fr-FR" noProof="0" dirty="0"/>
            <a:t>Cloud	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fr-FR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fr-FR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fr-FR" noProof="0" dirty="0"/>
            <a:t>Locales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fr-FR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fr-FR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fr-FR" noProof="0" dirty="0"/>
            <a:t>Hybrides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fr-FR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fr-FR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500" kern="1200" noProof="0" dirty="0"/>
            <a:t>Cloud	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500" kern="1200" noProof="0" dirty="0"/>
            <a:t>Locales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500" kern="1200" noProof="0" dirty="0"/>
            <a:t>Hybrides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02/06/2026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275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7DDF-1565-460D-7632-8DB4205B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937EF3A-67B8-3982-9B6C-5AFF4168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6179351-D1B0-8933-365D-1A8449B45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B64E2C-F309-26A1-29C7-D147CB832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088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EE5D-BBD3-A2EC-1F05-E46CF48A1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6D9FE61C-76CE-1BB9-1395-173342861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C764E2B-A845-3539-9858-36364E249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399622-8265-25D5-383D-A84B233D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94517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9636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5115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02/06/2026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4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fr-FR" sz="6000" dirty="0" err="1">
                <a:solidFill>
                  <a:schemeClr val="bg1"/>
                </a:solidFill>
              </a:rPr>
              <a:t>TechNova</a:t>
            </a:r>
            <a:r>
              <a:rPr lang="fr-FR" sz="6000" dirty="0"/>
              <a:t> </a:t>
            </a:r>
            <a:endParaRPr lang="fr-FR" sz="6000" dirty="0"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fr-FR" dirty="0"/>
              <a:t>Analyse des causes de démission</a:t>
            </a:r>
            <a:endParaRPr lang="fr-FR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887ABB-4D37-F4E5-C72E-05B3951B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Formation Développeur IA</a:t>
            </a:r>
          </a:p>
        </p:txBody>
      </p:sp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A154197-7927-FA64-68F3-8463F8F0B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00" y="766902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Jupyter - Visual Studio Marketplace">
            <a:extLst>
              <a:ext uri="{FF2B5EF4-FFF2-40B4-BE49-F238E27FC236}">
                <a16:creationId xmlns:a16="http://schemas.microsoft.com/office/drawing/2014/main" id="{5BBF6CEF-1ECD-D45B-FECD-1582DE5A9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375" y="3023347"/>
            <a:ext cx="1757734" cy="1765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6F69B809-21C0-9ED3-E817-150D37D8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362" y="4694600"/>
            <a:ext cx="1353623" cy="139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2. Traitement de données avec PANDAS — Outils numériques avancés en  Mécanique">
            <a:extLst>
              <a:ext uri="{FF2B5EF4-FFF2-40B4-BE49-F238E27FC236}">
                <a16:creationId xmlns:a16="http://schemas.microsoft.com/office/drawing/2014/main" id="{0646F847-D574-9338-7260-840A3FEF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4955" y="3076482"/>
            <a:ext cx="2306277" cy="1208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UV - Python Package Manager: how to use it, comparisons, and common issues  | Pedro Medinilla Bohorquez - Pedromebo">
            <a:extLst>
              <a:ext uri="{FF2B5EF4-FFF2-40B4-BE49-F238E27FC236}">
                <a16:creationId xmlns:a16="http://schemas.microsoft.com/office/drawing/2014/main" id="{3F04E6DC-A3F1-4760-8863-86893C5A6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3" t="25873" r="21843" b="28412"/>
          <a:stretch>
            <a:fillRect/>
          </a:stretch>
        </p:blipFill>
        <p:spPr bwMode="auto">
          <a:xfrm>
            <a:off x="8534400" y="2421455"/>
            <a:ext cx="3218329" cy="1259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4922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3C07D0-0DE7-7EEF-51B0-721C25DAE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520F13-1BC0-00E5-A8FA-348EA6DC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ayant_enfants</a:t>
            </a:r>
            <a:r>
              <a:rPr lang="fr-FR" dirty="0"/>
              <a:t>, </a:t>
            </a:r>
            <a:r>
              <a:rPr lang="fr-FR" dirty="0" err="1"/>
              <a:t>nombre_heures_travailless</a:t>
            </a:r>
            <a:r>
              <a:rPr lang="fr-FR" dirty="0"/>
              <a:t>, </a:t>
            </a:r>
            <a:r>
              <a:rPr lang="fr-FR" dirty="0" err="1"/>
              <a:t>nombre_employee_sous_responsabilite</a:t>
            </a:r>
            <a:r>
              <a:rPr lang="fr-FR" dirty="0"/>
              <a:t> ne sont pas exploitables car toujours la même valeur</a:t>
            </a:r>
          </a:p>
          <a:p>
            <a:r>
              <a:rPr lang="fr-FR" dirty="0" err="1"/>
              <a:t>code_sondage</a:t>
            </a:r>
            <a:r>
              <a:rPr lang="fr-FR" dirty="0"/>
              <a:t>, </a:t>
            </a:r>
            <a:r>
              <a:rPr lang="fr-FR" dirty="0" err="1"/>
              <a:t>id_employee</a:t>
            </a:r>
            <a:r>
              <a:rPr lang="fr-FR" dirty="0"/>
              <a:t> et </a:t>
            </a:r>
            <a:r>
              <a:rPr lang="fr-FR" dirty="0" err="1"/>
              <a:t>eval_number</a:t>
            </a:r>
            <a:r>
              <a:rPr lang="fr-FR" dirty="0"/>
              <a:t> </a:t>
            </a:r>
            <a:r>
              <a:rPr lang="fr-FR" dirty="0" err="1"/>
              <a:t>répéte</a:t>
            </a:r>
            <a:r>
              <a:rPr lang="fr-FR" dirty="0"/>
              <a:t> le même schéma de codification, il est utilisé pour réaliser la jointure des données. NOTE: le nombre d’individus est identique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21905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1944E-D976-AFD6-A029-2AB932029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FBCABC-2343-6D2B-8B60-2CE36432E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C0BAC50-24AD-96BC-3D5C-F452D7802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17" y="2137634"/>
            <a:ext cx="3619333" cy="43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F2BC9D-C56A-8848-61AE-D43BAE42B800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F8671AB-ACF1-DA62-0A87-0265F27AE949}"/>
              </a:ext>
            </a:extLst>
          </p:cNvPr>
          <p:cNvSpPr txBox="1"/>
          <p:nvPr/>
        </p:nvSpPr>
        <p:spPr>
          <a:xfrm>
            <a:off x="6096000" y="2510381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Vérification des </a:t>
            </a:r>
            <a:r>
              <a:rPr lang="fr-FR" sz="3600" kern="1200" noProof="0" dirty="0" err="1"/>
              <a:t>outliers</a:t>
            </a:r>
            <a:endParaRPr lang="fr-FR" sz="3600" kern="1200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BB2067E-1D19-2FC9-933D-31E2378F6476}"/>
              </a:ext>
            </a:extLst>
          </p:cNvPr>
          <p:cNvSpPr txBox="1"/>
          <p:nvPr/>
        </p:nvSpPr>
        <p:spPr>
          <a:xfrm>
            <a:off x="6095999" y="4318895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Sondages</a:t>
            </a:r>
          </a:p>
        </p:txBody>
      </p:sp>
    </p:spTree>
    <p:extLst>
      <p:ext uri="{BB962C8B-B14F-4D97-AF65-F5344CB8AC3E}">
        <p14:creationId xmlns:p14="http://schemas.microsoft.com/office/powerpoint/2010/main" val="2483046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566E3-C82F-DF66-8759-7733BF568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ACA291-9CD1-A847-9743-258B65A6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FB824A-C73C-67EA-8E29-DCF74DA8EF15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687BD56-18D9-EE09-2D7B-FF4969DC6BB6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</a:t>
            </a:r>
            <a:r>
              <a:rPr lang="fr-FR" sz="3600" kern="1200" noProof="0" dirty="0" err="1">
                <a:solidFill>
                  <a:schemeClr val="bg1"/>
                </a:solidFill>
              </a:rPr>
              <a:t>outliers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F9AAE34-936D-333F-445E-135C0D9BF84D}"/>
              </a:ext>
            </a:extLst>
          </p:cNvPr>
          <p:cNvSpPr txBox="1"/>
          <p:nvPr/>
        </p:nvSpPr>
        <p:spPr>
          <a:xfrm>
            <a:off x="5972174" y="936943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sirh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964BAB3-7C64-7797-96F1-1E1C6729B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84" y="2120220"/>
            <a:ext cx="11267451" cy="422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794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6A3C0-92CB-8C29-7135-24F70C2B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A4323E-4134-FB1C-BE87-E5678A804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5B9582-4D22-9528-D283-4327CC401327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DCCCBF1-DDEE-4EF0-F209-1D9A007FFD5A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</a:t>
            </a:r>
            <a:r>
              <a:rPr lang="fr-FR" sz="3600" kern="1200" noProof="0" dirty="0" err="1">
                <a:solidFill>
                  <a:schemeClr val="bg1"/>
                </a:solidFill>
              </a:rPr>
              <a:t>outliers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EFA856A-AF51-55C0-9A2C-28548C5A30E7}"/>
              </a:ext>
            </a:extLst>
          </p:cNvPr>
          <p:cNvSpPr txBox="1"/>
          <p:nvPr/>
        </p:nvSpPr>
        <p:spPr>
          <a:xfrm>
            <a:off x="5972174" y="936943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>
                <a:solidFill>
                  <a:schemeClr val="bg1"/>
                </a:solidFill>
              </a:rPr>
              <a:t>evaluation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C48D5BB-E63D-DD3A-E76E-277ADD6A9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054181"/>
            <a:ext cx="11099482" cy="4101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930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8046-2BF9-5B7C-A704-4B1650CF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B02E4-8809-9679-899B-CFFDD72BB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F2D77-324E-B715-B171-719BB1129C12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84AD649-9B82-FC7E-CECE-2FA50AD8B7E4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erreurs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6EEE0F-3724-2B60-9E4D-7BA17A12791C}"/>
              </a:ext>
            </a:extLst>
          </p:cNvPr>
          <p:cNvSpPr txBox="1"/>
          <p:nvPr/>
        </p:nvSpPr>
        <p:spPr>
          <a:xfrm>
            <a:off x="581192" y="2937510"/>
            <a:ext cx="47895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effectLst/>
                <a:latin typeface="Consolas" panose="020B0609020204030204" pitchFamily="49" charset="0"/>
              </a:rPr>
              <a:t>Pas de présence 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Format invalide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Valeurs aberrantes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Valeurs vides ou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Pas de doublons dans les Id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04CE598-C601-97DC-E5BA-EC500C98AF17}"/>
              </a:ext>
            </a:extLst>
          </p:cNvPr>
          <p:cNvSpPr txBox="1"/>
          <p:nvPr/>
        </p:nvSpPr>
        <p:spPr>
          <a:xfrm>
            <a:off x="4825615" y="2845177"/>
            <a:ext cx="697093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Conversions</a:t>
            </a:r>
          </a:p>
          <a:p>
            <a:r>
              <a:rPr lang="fr-FR" dirty="0">
                <a:latin typeface="Consolas" panose="020B0609020204030204" pitchFamily="49" charset="0"/>
              </a:rPr>
              <a:t>0	</a:t>
            </a:r>
            <a:r>
              <a:rPr lang="fr-FR" dirty="0" err="1">
                <a:latin typeface="Consolas" panose="020B0609020204030204" pitchFamily="49" charset="0"/>
              </a:rPr>
              <a:t>a_quitte_l_entreprise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Oui/Non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7	</a:t>
            </a:r>
            <a:r>
              <a:rPr lang="fr-FR" dirty="0" err="1">
                <a:latin typeface="Consolas" panose="020B0609020204030204" pitchFamily="49" charset="0"/>
              </a:rPr>
              <a:t>domaine_etude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8	</a:t>
            </a:r>
            <a:r>
              <a:rPr lang="fr-FR" dirty="0" err="1">
                <a:latin typeface="Consolas" panose="020B0609020204030204" pitchFamily="49" charset="0"/>
              </a:rPr>
              <a:t>ayant_enfants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9	</a:t>
            </a:r>
            <a:r>
              <a:rPr lang="fr-FR" dirty="0" err="1">
                <a:latin typeface="Consolas" panose="020B0609020204030204" pitchFamily="49" charset="0"/>
              </a:rPr>
              <a:t>frequence_deplacement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13	genre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M/F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15	</a:t>
            </a:r>
            <a:r>
              <a:rPr lang="fr-FR" dirty="0" err="1">
                <a:latin typeface="Consolas" panose="020B0609020204030204" pitchFamily="49" charset="0"/>
              </a:rPr>
              <a:t>statut_marital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16	</a:t>
            </a:r>
            <a:r>
              <a:rPr lang="fr-FR" dirty="0" err="1">
                <a:latin typeface="Consolas" panose="020B0609020204030204" pitchFamily="49" charset="0"/>
              </a:rPr>
              <a:t>departement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17	poste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30	</a:t>
            </a:r>
            <a:r>
              <a:rPr lang="fr-FR" dirty="0" err="1">
                <a:latin typeface="Consolas" panose="020B0609020204030204" pitchFamily="49" charset="0"/>
              </a:rPr>
              <a:t>heure_supplementaires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Oui/Non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31	</a:t>
            </a:r>
            <a:r>
              <a:rPr lang="fr-FR" dirty="0" err="1">
                <a:latin typeface="Consolas" panose="020B0609020204030204" pitchFamily="49" charset="0"/>
              </a:rPr>
              <a:t>augementation_salaire_precedente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% =&gt; </a:t>
            </a:r>
            <a:r>
              <a:rPr lang="fr-FR" dirty="0" err="1">
                <a:latin typeface="Consolas" panose="020B0609020204030204" pitchFamily="49" charset="0"/>
              </a:rPr>
              <a:t>int</a:t>
            </a:r>
            <a:endParaRPr lang="fr-FR" dirty="0">
              <a:latin typeface="Consolas" panose="020B0609020204030204" pitchFamily="49" charset="0"/>
            </a:endParaRPr>
          </a:p>
          <a:p>
            <a:endParaRPr lang="fr-F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430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 txBox="1">
            <a:spLocks/>
          </p:cNvSpPr>
          <p:nvPr/>
        </p:nvSpPr>
        <p:spPr>
          <a:xfrm>
            <a:off x="5645059" y="1716026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40%</a:t>
            </a:r>
            <a:r>
              <a:rPr lang="fr-FR" cap="none" dirty="0">
                <a:solidFill>
                  <a:srgbClr val="FF0000"/>
                </a:solidFill>
              </a:rPr>
              <a:t> des démissions chez les </a:t>
            </a:r>
            <a:r>
              <a:rPr lang="fr-FR" u="sng" cap="none" dirty="0">
                <a:solidFill>
                  <a:srgbClr val="FF0000"/>
                </a:solidFill>
              </a:rPr>
              <a:t>Représentants Commerciaux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0BD638C-6081-6B05-3B36-010A31D628CB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3D15DF8-3B97-F7DD-058E-E925DC034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817" y="665951"/>
            <a:ext cx="4981433" cy="531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342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91BC-2A87-779E-5258-A9E8BD4A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EA4F88AF-2AF3-7515-EBBA-ACD303DCA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30508F-D7DF-F9AD-6E2B-B67CD4D31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61FF514C-3589-53E0-58F5-7F90B18B28D6}"/>
              </a:ext>
            </a:extLst>
          </p:cNvPr>
          <p:cNvSpPr txBox="1">
            <a:spLocks/>
          </p:cNvSpPr>
          <p:nvPr/>
        </p:nvSpPr>
        <p:spPr>
          <a:xfrm>
            <a:off x="5645059" y="1790769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</a:t>
            </a:r>
            <a:endParaRPr lang="fr-FR" u="sng" cap="none" dirty="0">
              <a:solidFill>
                <a:srgbClr val="FF0000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AC1AEB7-D60E-5E65-96CE-B822593C1567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FC2BB6D-6F45-8FDB-F8B4-D3F38F11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19" y="832348"/>
            <a:ext cx="4721048" cy="505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737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8B833-405A-98C1-A288-499D9175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093C1BDC-2C05-BF86-B68A-94D066C59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9571379-3E20-69F7-9628-23ADBCDE3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141CCC8-361F-2DEE-6A82-B39F954F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4487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fr-FR" dirty="0">
                <a:solidFill>
                  <a:srgbClr val="FFFEFF"/>
                </a:solidFill>
              </a:rPr>
              <a:t>Ce qu’il faut changer pour réduire les démissions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69AD7A6-C290-ACEC-8A86-EABD7A5787B8}"/>
              </a:ext>
            </a:extLst>
          </p:cNvPr>
          <p:cNvSpPr txBox="1"/>
          <p:nvPr/>
        </p:nvSpPr>
        <p:spPr>
          <a:xfrm>
            <a:off x="2561035" y="1716026"/>
            <a:ext cx="60936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 err="1"/>
              <a:t>Counterfactuals</a:t>
            </a:r>
            <a:endParaRPr lang="fr-FR" sz="4400" dirty="0"/>
          </a:p>
        </p:txBody>
      </p:sp>
    </p:spTree>
    <p:extLst>
      <p:ext uri="{BB962C8B-B14F-4D97-AF65-F5344CB8AC3E}">
        <p14:creationId xmlns:p14="http://schemas.microsoft.com/office/powerpoint/2010/main" val="4112041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Contexte concurrentiel</a:t>
            </a:r>
          </a:p>
        </p:txBody>
      </p:sp>
      <p:pic>
        <p:nvPicPr>
          <p:cNvPr id="11" name="Espace réservé du contenu 4" descr="Graphiques">
            <a:extLst>
              <a:ext uri="{FF2B5EF4-FFF2-40B4-BE49-F238E27FC236}">
                <a16:creationId xmlns:a16="http://schemas.microsoft.com/office/drawing/2014/main" id="{47D9BE16-119C-43B2-9AE6-18C4A150C0E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581025" y="2231480"/>
            <a:ext cx="5422900" cy="3625353"/>
          </a:xfrm>
        </p:spPr>
      </p:pic>
      <p:pic>
        <p:nvPicPr>
          <p:cNvPr id="18" name="Espace réservé du contenu 17" descr="Espace réservé au graphique">
            <a:extLst>
              <a:ext uri="{FF2B5EF4-FFF2-40B4-BE49-F238E27FC236}">
                <a16:creationId xmlns:a16="http://schemas.microsoft.com/office/drawing/2014/main" id="{BFEA8EC1-23A4-4843-A9C3-AE771D73392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rcRect/>
          <a:stretch/>
        </p:blipFill>
        <p:spPr>
          <a:xfrm>
            <a:off x="6201812" y="2571845"/>
            <a:ext cx="5395426" cy="294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 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pic>
        <p:nvPicPr>
          <p:cNvPr id="8" name="Espace réservé du contenu 4" descr="Valeurs numériques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fr-FR" dirty="0"/>
              <a:t>Communications numériques</a:t>
            </a:r>
          </a:p>
        </p:txBody>
      </p:sp>
      <p:graphicFrame>
        <p:nvGraphicFramePr>
          <p:cNvPr id="6" name="Espace réservé du contenu 5" descr="Graphique 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969185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2" name="Rectangle 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 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9CB511D-EA45-4336-847C-125266714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6275" y="3505095"/>
            <a:ext cx="3081576" cy="2629006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chemeClr val="bg2"/>
                </a:solidFill>
              </a:rPr>
              <a:t>someone@example.com</a:t>
            </a:r>
          </a:p>
          <a:p>
            <a:pPr rtl="0"/>
            <a:endParaRPr lang="fr-FR">
              <a:solidFill>
                <a:schemeClr val="bg2"/>
              </a:solidFill>
            </a:endParaRPr>
          </a:p>
          <a:p>
            <a:pPr rtl="0"/>
            <a:endParaRPr lang="fr-FR">
              <a:solidFill>
                <a:schemeClr val="bg2"/>
              </a:solidFill>
            </a:endParaRPr>
          </a:p>
        </p:txBody>
      </p:sp>
      <p:pic>
        <p:nvPicPr>
          <p:cNvPr id="5" name="Image 4" descr="Valeurs numériqu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Conception technique</Template>
  <TotalTime>304</TotalTime>
  <Words>267</Words>
  <Application>Microsoft Office PowerPoint</Application>
  <PresentationFormat>Grand écran</PresentationFormat>
  <Paragraphs>54</Paragraphs>
  <Slides>13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Consolas</vt:lpstr>
      <vt:lpstr>Gill Sans MT</vt:lpstr>
      <vt:lpstr>Wingdings 2</vt:lpstr>
      <vt:lpstr>Personnalisé</vt:lpstr>
      <vt:lpstr>TechNova </vt:lpstr>
      <vt:lpstr>Formation Développeur IA</vt:lpstr>
      <vt:lpstr>Analyse des données</vt:lpstr>
      <vt:lpstr>Nettoyage des données</vt:lpstr>
      <vt:lpstr>Nettoyage des données</vt:lpstr>
      <vt:lpstr>Nettoyage des données</vt:lpstr>
      <vt:lpstr>Nettoyage des données</vt:lpstr>
      <vt:lpstr>Présentation PowerPoint</vt:lpstr>
      <vt:lpstr>Présentation PowerPoint</vt:lpstr>
      <vt:lpstr>Ce qu’il faut changer pour réduire les démissions</vt:lpstr>
      <vt:lpstr>Contexte concurrentiel</vt:lpstr>
      <vt:lpstr>Communications numériques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23</cp:revision>
  <dcterms:created xsi:type="dcterms:W3CDTF">2026-06-01T07:45:08Z</dcterms:created>
  <dcterms:modified xsi:type="dcterms:W3CDTF">2026-06-02T14:26:52Z</dcterms:modified>
</cp:coreProperties>
</file>